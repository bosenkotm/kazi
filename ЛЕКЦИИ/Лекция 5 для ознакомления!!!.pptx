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4"/>
  </p:notesMasterIdLst>
  <p:sldIdLst>
    <p:sldId id="256" r:id="rId2"/>
    <p:sldId id="314" r:id="rId3"/>
    <p:sldId id="327" r:id="rId4"/>
    <p:sldId id="332" r:id="rId5"/>
    <p:sldId id="297" r:id="rId6"/>
    <p:sldId id="334" r:id="rId7"/>
    <p:sldId id="287" r:id="rId8"/>
    <p:sldId id="335" r:id="rId9"/>
    <p:sldId id="336" r:id="rId10"/>
    <p:sldId id="329" r:id="rId11"/>
    <p:sldId id="328" r:id="rId12"/>
    <p:sldId id="337" r:id="rId13"/>
    <p:sldId id="338" r:id="rId14"/>
    <p:sldId id="339" r:id="rId15"/>
    <p:sldId id="340" r:id="rId16"/>
    <p:sldId id="331" r:id="rId17"/>
    <p:sldId id="330" r:id="rId18"/>
    <p:sldId id="341" r:id="rId19"/>
    <p:sldId id="342" r:id="rId20"/>
    <p:sldId id="343" r:id="rId21"/>
    <p:sldId id="344" r:id="rId22"/>
    <p:sldId id="275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Ubuntu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9CF3CA-9ADA-48EB-A27D-F1E7388D53D2}">
  <a:tblStyle styleId="{7C9CF3CA-9ADA-48EB-A27D-F1E7388D53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3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90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 userDrawn="1"/>
        </p:nvSpPr>
        <p:spPr>
          <a:xfrm>
            <a:off x="995819" y="14912"/>
            <a:ext cx="8148182" cy="122516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509700"/>
            <a:ext cx="8520600" cy="12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Ubuntu"/>
              <a:buNone/>
              <a:defRPr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812175"/>
            <a:ext cx="9152700" cy="3312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МГПУ, 2021</a:t>
            </a:r>
            <a:endParaRPr lang="ru-RU" sz="1000" dirty="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20230" y="14912"/>
            <a:ext cx="1486883" cy="1380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893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7250" y="863550"/>
            <a:ext cx="8895300" cy="39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90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78050" y="0"/>
            <a:ext cx="801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/>
            </a:lvl1pPr>
            <a:lvl2pPr lvl="1" algn="r" rtl="0">
              <a:buNone/>
              <a:defRPr/>
            </a:lvl2pPr>
            <a:lvl3pPr lvl="2" algn="r" rtl="0">
              <a:buNone/>
              <a:defRPr/>
            </a:lvl3pPr>
            <a:lvl4pPr lvl="3" algn="r" rtl="0">
              <a:buNone/>
              <a:defRPr/>
            </a:lvl4pPr>
            <a:lvl5pPr lvl="4" algn="r" rtl="0">
              <a:buNone/>
              <a:defRPr/>
            </a:lvl5pPr>
            <a:lvl6pPr lvl="5" algn="r" rtl="0">
              <a:buNone/>
              <a:defRPr/>
            </a:lvl6pPr>
            <a:lvl7pPr lvl="6" algn="r" rtl="0">
              <a:buNone/>
              <a:defRPr/>
            </a:lvl7pPr>
            <a:lvl8pPr lvl="7" algn="r" rtl="0">
              <a:buNone/>
              <a:defRPr/>
            </a:lvl8pPr>
            <a:lvl9pPr lvl="8" algn="r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" name="Рисунок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6950" cy="669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ctrTitle"/>
          </p:nvPr>
        </p:nvSpPr>
        <p:spPr>
          <a:xfrm>
            <a:off x="311700" y="1371600"/>
            <a:ext cx="8520600" cy="1966026"/>
          </a:xfrm>
        </p:spPr>
        <p:txBody>
          <a:bodyPr/>
          <a:lstStyle/>
          <a:p>
            <a:pPr lvl="0"/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Криптографические методы защиты информации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/>
              <a:t>Лекция 5</a:t>
            </a:r>
            <a:endParaRPr lang="ru-RU" sz="2000" dirty="0"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311700" y="3575341"/>
            <a:ext cx="8520600" cy="792600"/>
          </a:xfrm>
        </p:spPr>
        <p:txBody>
          <a:bodyPr/>
          <a:lstStyle/>
          <a:p>
            <a:pPr lvl="0"/>
            <a:r>
              <a:rPr lang="ru-RU" sz="2000" dirty="0" smtClean="0">
                <a:solidFill>
                  <a:schemeClr val="tx1"/>
                </a:solidFill>
              </a:rPr>
              <a:t>Босенко Тимур Муртазович</a:t>
            </a:r>
            <a:endParaRPr lang="ru-RU" sz="2000" dirty="0">
              <a:solidFill>
                <a:schemeClr val="tx1"/>
              </a:solidFill>
            </a:endParaRPr>
          </a:p>
          <a:p>
            <a:pPr lvl="0"/>
            <a:r>
              <a:rPr lang="ru-RU" sz="2000" dirty="0">
                <a:solidFill>
                  <a:schemeClr val="tx1"/>
                </a:solidFill>
              </a:rPr>
              <a:t>доцент, канд. </a:t>
            </a:r>
            <a:r>
              <a:rPr lang="ru-RU" sz="2000" dirty="0" err="1">
                <a:solidFill>
                  <a:schemeClr val="tx1"/>
                </a:solidFill>
              </a:rPr>
              <a:t>техн</a:t>
            </a:r>
            <a:r>
              <a:rPr lang="ru-RU" sz="2000" dirty="0">
                <a:solidFill>
                  <a:schemeClr val="tx1"/>
                </a:solidFill>
              </a:rPr>
              <a:t>. наук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Исторические шифры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3981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363B2-05F6-47F2-A7AC-C7A191C8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Краткая история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55FA1C-8D83-4AB3-9A3A-8FD0CB95D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sz="1600" u="sng" dirty="0"/>
              <a:t>Историческая криптография</a:t>
            </a:r>
            <a:r>
              <a:rPr lang="ru-RU" sz="1600" dirty="0"/>
              <a:t> являлась наукой о </a:t>
            </a:r>
            <a:r>
              <a:rPr lang="ru-RU" sz="1600" u="sng" dirty="0"/>
              <a:t>шифрах</a:t>
            </a:r>
            <a:r>
              <a:rPr lang="ru-RU" sz="1600" dirty="0"/>
              <a:t>.</a:t>
            </a:r>
          </a:p>
          <a:p>
            <a:pPr algn="just">
              <a:spcBef>
                <a:spcPts val="600"/>
              </a:spcBef>
            </a:pPr>
            <a:r>
              <a:rPr lang="ru-RU" sz="1600" dirty="0"/>
              <a:t>Этапы развития:</a:t>
            </a:r>
          </a:p>
          <a:p>
            <a:pPr lvl="1" algn="just">
              <a:spcBef>
                <a:spcPts val="600"/>
              </a:spcBef>
            </a:pPr>
            <a:r>
              <a:rPr lang="en-US" sz="1600" b="1" dirty="0"/>
              <a:t>XL </a:t>
            </a:r>
            <a:r>
              <a:rPr lang="ru-RU" sz="1600" b="1" dirty="0"/>
              <a:t>в. до н.э. — </a:t>
            </a:r>
            <a:r>
              <a:rPr lang="en-US" sz="1600" b="1" dirty="0"/>
              <a:t>XIX </a:t>
            </a:r>
            <a:r>
              <a:rPr lang="ru-RU" sz="1600" b="1" dirty="0"/>
              <a:t>в. н.э.</a:t>
            </a:r>
            <a:r>
              <a:rPr lang="ru-RU" sz="1600" dirty="0"/>
              <a:t>: элементарная (наивная) криптография, </a:t>
            </a:r>
            <a:r>
              <a:rPr lang="ru-RU" sz="1600" dirty="0" err="1"/>
              <a:t>моноалфавитные</a:t>
            </a:r>
            <a:r>
              <a:rPr lang="ru-RU" sz="1600" dirty="0"/>
              <a:t> и </a:t>
            </a:r>
            <a:r>
              <a:rPr lang="ru-RU" sz="1600" dirty="0" err="1"/>
              <a:t>полиалфавитные</a:t>
            </a:r>
            <a:r>
              <a:rPr lang="ru-RU" sz="1600" dirty="0"/>
              <a:t> шифры.</a:t>
            </a:r>
          </a:p>
          <a:p>
            <a:pPr lvl="1" algn="just">
              <a:spcBef>
                <a:spcPts val="600"/>
              </a:spcBef>
            </a:pPr>
            <a:r>
              <a:rPr lang="en-US" sz="1600" b="1" dirty="0"/>
              <a:t>XIX </a:t>
            </a:r>
            <a:r>
              <a:rPr lang="ru-RU" sz="1600" b="1" dirty="0"/>
              <a:t>в. — начало </a:t>
            </a:r>
            <a:r>
              <a:rPr lang="en-US" sz="1600" b="1" dirty="0"/>
              <a:t>XX </a:t>
            </a:r>
            <a:r>
              <a:rPr lang="ru-RU" sz="1600" b="1" dirty="0"/>
              <a:t>в.</a:t>
            </a:r>
            <a:r>
              <a:rPr lang="ru-RU" sz="1600" dirty="0"/>
              <a:t>:  появление математической криптографии, формирование требований к надежным шифрам, создание шифровальных машин.</a:t>
            </a:r>
          </a:p>
          <a:p>
            <a:pPr lvl="1" algn="just">
              <a:spcBef>
                <a:spcPts val="600"/>
              </a:spcBef>
            </a:pPr>
            <a:r>
              <a:rPr lang="ru-RU" sz="1600" b="1" dirty="0"/>
              <a:t>1930-е гг. — 1970-е гг.</a:t>
            </a:r>
            <a:r>
              <a:rPr lang="ru-RU" sz="1600" dirty="0"/>
              <a:t>: формирование современной криптографии с секретным ключом.</a:t>
            </a:r>
          </a:p>
          <a:p>
            <a:pPr lvl="1" algn="just">
              <a:spcBef>
                <a:spcPts val="600"/>
              </a:spcBef>
            </a:pPr>
            <a:r>
              <a:rPr lang="ru-RU" sz="1600" b="1" dirty="0"/>
              <a:t>1970-е гг. — 1990-е гг.</a:t>
            </a:r>
            <a:r>
              <a:rPr lang="ru-RU" sz="1600" dirty="0"/>
              <a:t>: формирование всех направлений современной криптографии, появление идей квантовой и </a:t>
            </a:r>
            <a:r>
              <a:rPr lang="ru-RU" sz="1600" dirty="0" err="1"/>
              <a:t>постквантовой</a:t>
            </a:r>
            <a:r>
              <a:rPr lang="ru-RU" sz="1600" dirty="0"/>
              <a:t> криптографии.</a:t>
            </a:r>
          </a:p>
          <a:p>
            <a:pPr lvl="1" algn="just">
              <a:spcBef>
                <a:spcPts val="600"/>
              </a:spcBef>
            </a:pPr>
            <a:r>
              <a:rPr lang="ru-RU" sz="1600" b="1" dirty="0"/>
              <a:t>наше время</a:t>
            </a:r>
            <a:r>
              <a:rPr lang="ru-RU" sz="1600" dirty="0"/>
              <a:t>: разработки в области квантовой и </a:t>
            </a:r>
            <a:r>
              <a:rPr lang="ru-RU" sz="1600" dirty="0" err="1"/>
              <a:t>постквантовой</a:t>
            </a:r>
            <a:r>
              <a:rPr lang="ru-RU" sz="1600" dirty="0"/>
              <a:t> криптографии.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C49186-D9A4-4E7A-8A5B-7619E3CE7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50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FBA43-512D-4A9A-A226-DE68C875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исторических шифров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CDC644-2C92-4610-B34D-46F91A03F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u="sng" dirty="0"/>
              <a:t>Подстановочные шифры </a:t>
            </a:r>
            <a:r>
              <a:rPr lang="ru-RU" dirty="0"/>
              <a:t>(</a:t>
            </a:r>
            <a:r>
              <a:rPr lang="ru-RU" dirty="0" err="1"/>
              <a:t>моноалфавитные</a:t>
            </a:r>
            <a:r>
              <a:rPr lang="ru-RU" dirty="0"/>
              <a:t> и </a:t>
            </a:r>
            <a:r>
              <a:rPr lang="ru-RU" dirty="0" err="1"/>
              <a:t>полиалфавитные</a:t>
            </a:r>
            <a:r>
              <a:rPr lang="ru-RU" dirty="0"/>
              <a:t>): криптографическое преобразование заключается в замене символов открытого текста на другие (того же алфавита) по некоторому правилу.</a:t>
            </a:r>
          </a:p>
          <a:p>
            <a:pPr algn="just"/>
            <a:r>
              <a:rPr lang="ru-RU" u="sng" dirty="0"/>
              <a:t>Перестановочные шифры</a:t>
            </a:r>
            <a:r>
              <a:rPr lang="ru-RU" dirty="0"/>
              <a:t>: криптографическое преобразование заключается в перестановке местами символов открытого текста по некоторому правилу.</a:t>
            </a:r>
          </a:p>
          <a:p>
            <a:pPr algn="just"/>
            <a:r>
              <a:rPr lang="ru-RU" u="sng" dirty="0"/>
              <a:t>Блочные шифры</a:t>
            </a:r>
            <a:r>
              <a:rPr lang="ru-RU" i="1" dirty="0"/>
              <a:t>: </a:t>
            </a:r>
            <a:r>
              <a:rPr lang="ru-RU" dirty="0"/>
              <a:t>открытый текст разбивается на блоки равной длины, одно и то же криптографическое преобразование применяется к каждому блоку.</a:t>
            </a:r>
          </a:p>
          <a:p>
            <a:pPr algn="just"/>
            <a:r>
              <a:rPr lang="ru-RU" u="sng" dirty="0"/>
              <a:t>Шифры гаммирования</a:t>
            </a:r>
            <a:r>
              <a:rPr lang="ru-RU" dirty="0"/>
              <a:t>:</a:t>
            </a:r>
            <a:r>
              <a:rPr lang="ru-RU" i="1" dirty="0"/>
              <a:t> </a:t>
            </a:r>
            <a:r>
              <a:rPr lang="ru-RU" dirty="0"/>
              <a:t>криптографическое преобразование заключается в наложении на открытый текст последовательности символов той же длины (гаммы), генерируемой на основе ключа шифрования.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00CC8F-C9F2-4FA4-BB2F-C8168C6D2C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2692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2B808-0349-4999-972E-0D4F7504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Подстановочные шифры: шифр простой замены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374842-CAAB-4E29-B1A4-C99CB3F62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B8FF6EDE-74FD-4C9C-8B05-B1451CFF14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6525" y="863600"/>
                <a:ext cx="8896350" cy="3983038"/>
              </a:xfrm>
            </p:spPr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Шифр простой замены: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i="1" dirty="0"/>
                  <a:t>открытый текст:		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i="1" dirty="0"/>
                  <a:t>;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i="1" dirty="0" err="1"/>
                  <a:t>шифртекст</a:t>
                </a:r>
                <a:r>
                  <a:rPr lang="ru-RU" i="1" dirty="0"/>
                  <a:t>:		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</a:t>
                </a:r>
                <a:r>
                  <a:rPr lang="ru-RU" i="1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i="1" dirty="0"/>
                  <a:t>;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i="1" dirty="0"/>
                  <a:t>ключ</a:t>
                </a:r>
                <a:r>
                  <a:rPr lang="ru-RU" dirty="0"/>
                  <a:t>:			подстановка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i="1" dirty="0"/>
                  <a:t>зашифрование</a:t>
                </a:r>
                <a:r>
                  <a:rPr lang="ru-RU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i="1" dirty="0"/>
                  <a:t>расшифрование</a:t>
                </a:r>
                <a:r>
                  <a:rPr lang="ru-RU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ru-RU" sz="1600" dirty="0"/>
                  <a:t>Пример:</a:t>
                </a: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b="1" dirty="0">
                    <a:latin typeface="Cambria Math" panose="02040503050406030204" pitchFamily="18" charset="0"/>
                  </a:rPr>
                  <a:t>Ключ:</a:t>
                </a: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ru-RU" b="1" dirty="0">
                  <a:latin typeface="Cambria Math" panose="02040503050406030204" pitchFamily="18" charset="0"/>
                </a:endParaRP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ru-RU" b="1" dirty="0">
                  <a:latin typeface="Cambria Math" panose="02040503050406030204" pitchFamily="18" charset="0"/>
                </a:endParaRP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ru-RU" b="1" dirty="0">
                  <a:latin typeface="Cambria Math" panose="02040503050406030204" pitchFamily="18" charset="0"/>
                </a:endParaRP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4751388" algn="l"/>
                  </a:tabLst>
                </a:pPr>
                <a:r>
                  <a:rPr lang="ru-RU" b="1" dirty="0">
                    <a:latin typeface="Cambria Math" panose="02040503050406030204" pitchFamily="18" charset="0"/>
                  </a:rPr>
                  <a:t>Открытый текст:	</a:t>
                </a:r>
                <a:r>
                  <a:rPr lang="ru-RU" b="1" dirty="0" err="1">
                    <a:latin typeface="Cambria Math" panose="02040503050406030204" pitchFamily="18" charset="0"/>
                  </a:rPr>
                  <a:t>Шифртекст</a:t>
                </a:r>
                <a:r>
                  <a:rPr lang="ru-RU" b="1" dirty="0">
                    <a:latin typeface="Cambria Math" panose="02040503050406030204" pitchFamily="18" charset="0"/>
                  </a:rPr>
                  <a:t>:</a:t>
                </a:r>
              </a:p>
              <a:p>
                <a:pPr marL="596900" lvl="1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ru-RU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B8FF6EDE-74FD-4C9C-8B05-B1451CFF1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6525" y="863600"/>
                <a:ext cx="8896350" cy="39830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Таблица 7">
            <a:extLst>
              <a:ext uri="{FF2B5EF4-FFF2-40B4-BE49-F238E27FC236}">
                <a16:creationId xmlns:a16="http://schemas.microsoft.com/office/drawing/2014/main" id="{E63BC51F-A010-4FCB-A4C0-0ADB474F3FF2}"/>
              </a:ext>
            </a:extLst>
          </p:cNvPr>
          <p:cNvGraphicFramePr>
            <a:graphicFrameLocks noGrp="1"/>
          </p:cNvGraphicFramePr>
          <p:nvPr/>
        </p:nvGraphicFramePr>
        <p:xfrm>
          <a:off x="872638" y="3697956"/>
          <a:ext cx="7643194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969">
                  <a:extLst>
                    <a:ext uri="{9D8B030D-6E8A-4147-A177-3AD203B41FA5}">
                      <a16:colId xmlns:a16="http://schemas.microsoft.com/office/drawing/2014/main" val="2042757979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350771386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889044075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1879065304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369325305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126314568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625086925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4272881894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1725880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559972021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547288044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365153434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22290676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84047460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931231406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380917561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851542789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4237715852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81412597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140537501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4035119413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767160609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361958205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1906766791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810302458"/>
                    </a:ext>
                  </a:extLst>
                </a:gridCol>
                <a:gridCol w="293969">
                  <a:extLst>
                    <a:ext uri="{9D8B030D-6E8A-4147-A177-3AD203B41FA5}">
                      <a16:colId xmlns:a16="http://schemas.microsoft.com/office/drawing/2014/main" val="2118497676"/>
                    </a:ext>
                  </a:extLst>
                </a:gridCol>
              </a:tblGrid>
              <a:tr h="222969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6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7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8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9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10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16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17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18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19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20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26</a:t>
                      </a:r>
                    </a:p>
                  </a:txBody>
                  <a:tcPr marL="18000" marR="18000"/>
                </a:tc>
                <a:extLst>
                  <a:ext uri="{0D108BD9-81ED-4DB2-BD59-A6C34878D82A}">
                    <a16:rowId xmlns:a16="http://schemas.microsoft.com/office/drawing/2014/main" val="1092173571"/>
                  </a:ext>
                </a:extLst>
              </a:tr>
              <a:tr h="222969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6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10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19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8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16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20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11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12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24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3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26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7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17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25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18</a:t>
                      </a:r>
                    </a:p>
                  </a:txBody>
                  <a:tcPr marL="18000" marR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9</a:t>
                      </a:r>
                    </a:p>
                  </a:txBody>
                  <a:tcPr marL="18000" marR="18000"/>
                </a:tc>
                <a:extLst>
                  <a:ext uri="{0D108BD9-81ED-4DB2-BD59-A6C34878D82A}">
                    <a16:rowId xmlns:a16="http://schemas.microsoft.com/office/drawing/2014/main" val="17649648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8">
                <a:extLst>
                  <a:ext uri="{FF2B5EF4-FFF2-40B4-BE49-F238E27FC236}">
                    <a16:creationId xmlns:a16="http://schemas.microsoft.com/office/drawing/2014/main" id="{D922EE70-07E7-4087-96C2-367711FB0E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4436" y="4328488"/>
              <a:ext cx="2521527" cy="5180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1527">
                      <a:extLst>
                        <a:ext uri="{9D8B030D-6E8A-4147-A177-3AD203B41FA5}">
                          <a16:colId xmlns:a16="http://schemas.microsoft.com/office/drawing/2014/main" val="948916339"/>
                        </a:ext>
                      </a:extLst>
                    </a:gridCol>
                  </a:tblGrid>
                  <a:tr h="5180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CRYPTO</a:t>
                          </a:r>
                          <a:endParaRPr lang="ru-RU" sz="12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b="0" i="1" smtClean="0">
                                        <a:latin typeface="Cambria Math" panose="02040503050406030204" pitchFamily="18" charset="0"/>
                                      </a:rPr>
                                      <m:t>3, 18, 25, 16, 20, 15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92995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8">
                <a:extLst>
                  <a:ext uri="{FF2B5EF4-FFF2-40B4-BE49-F238E27FC236}">
                    <a16:creationId xmlns:a16="http://schemas.microsoft.com/office/drawing/2014/main" id="{D922EE70-07E7-4087-96C2-367711FB0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1314607"/>
                  </p:ext>
                </p:extLst>
              </p:nvPr>
            </p:nvGraphicFramePr>
            <p:xfrm>
              <a:off x="2244436" y="4328488"/>
              <a:ext cx="2521527" cy="5180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1527">
                      <a:extLst>
                        <a:ext uri="{9D8B030D-6E8A-4147-A177-3AD203B41FA5}">
                          <a16:colId xmlns:a16="http://schemas.microsoft.com/office/drawing/2014/main" val="948916339"/>
                        </a:ext>
                      </a:extLst>
                    </a:gridCol>
                  </a:tblGrid>
                  <a:tr h="51801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2" t="-1163" r="-483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29952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0CE62B89-A387-4C2F-BF19-5665BA9125CB}"/>
              </a:ext>
            </a:extLst>
          </p:cNvPr>
          <p:cNvGraphicFramePr>
            <a:graphicFrameLocks noGrp="1"/>
          </p:cNvGraphicFramePr>
          <p:nvPr/>
        </p:nvGraphicFramePr>
        <p:xfrm>
          <a:off x="6027123" y="4320363"/>
          <a:ext cx="2521527" cy="51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1527">
                  <a:extLst>
                    <a:ext uri="{9D8B030D-6E8A-4147-A177-3AD203B41FA5}">
                      <a16:colId xmlns:a16="http://schemas.microsoft.com/office/drawing/2014/main" val="948916339"/>
                    </a:ext>
                  </a:extLst>
                </a:gridCol>
              </a:tblGrid>
              <a:tr h="518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9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908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4C8F-FA1D-4051-9CAA-BA33461A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Подстановочные шифры: аффинный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A906170-A55F-4867-8AE7-85F39877E9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Аффинный шифр: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открытый текст:	</a:t>
                </a:r>
                <a:r>
                  <a:rPr lang="en-US" sz="1600" i="1" dirty="0"/>
                  <a:t>	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i="1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 err="1"/>
                  <a:t>шифртекст</a:t>
                </a:r>
                <a:r>
                  <a:rPr lang="ru-RU" sz="1600" i="1" dirty="0"/>
                  <a:t>:</a:t>
                </a:r>
                <a:r>
                  <a:rPr lang="en-US" sz="1600" i="1" dirty="0"/>
                  <a:t>	</a:t>
                </a:r>
                <a:r>
                  <a:rPr lang="ru-RU" sz="1600" i="1" dirty="0"/>
                  <a:t>	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</a:t>
                </a:r>
                <a:r>
                  <a:rPr lang="ru-RU" sz="1600" i="1" dirty="0"/>
                  <a:t> </a:t>
                </a:r>
                <a:r>
                  <a:rPr lang="ru-RU" sz="16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i="1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ключ</a:t>
                </a:r>
                <a:r>
                  <a:rPr lang="ru-RU" sz="1600" dirty="0"/>
                  <a:t>:</a:t>
                </a:r>
                <a:r>
                  <a:rPr lang="en-US" sz="1600" dirty="0"/>
                  <a:t>		</a:t>
                </a:r>
                <a:r>
                  <a:rPr lang="ru-RU" sz="1600" dirty="0"/>
                  <a:t>	пара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𝛧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зашифрование</a:t>
                </a:r>
                <a:r>
                  <a:rPr lang="ru-RU" sz="1600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расшифрование</a:t>
                </a:r>
                <a:r>
                  <a:rPr lang="ru-RU" sz="1600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Аффинный рекуррентный шифр: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, 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𝛧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, 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𝛧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, 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bar>
                  </m:oMath>
                </a14:m>
                <a:r>
                  <a:rPr lang="ru-RU" sz="1600" dirty="0"/>
                  <a:t>.</a:t>
                </a:r>
              </a:p>
              <a:p>
                <a:pPr lvl="1" algn="just"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A906170-A55F-4867-8AE7-85F39877E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7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784B93-FEDF-4B64-A530-D36C94FBD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74668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40EE7-6ED6-4053-A889-8C01D786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100" dirty="0"/>
              <a:t>Перестановочные шифры: блочный перестановочный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B4F7D7D-583A-4533-AF9B-CD7DA85CC9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Блочный перестановочный шифр: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i="1" dirty="0"/>
                  <a:t>блок открытого текста:	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i="1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i="1" dirty="0"/>
                  <a:t>блок </a:t>
                </a:r>
                <a:r>
                  <a:rPr lang="ru-RU" i="1" dirty="0" err="1"/>
                  <a:t>шифртекста</a:t>
                </a:r>
                <a:r>
                  <a:rPr lang="ru-RU" i="1" dirty="0"/>
                  <a:t>:		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</a:t>
                </a:r>
                <a:r>
                  <a:rPr lang="ru-RU" i="1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i="1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i="1" dirty="0"/>
                  <a:t>ключ</a:t>
                </a:r>
                <a:r>
                  <a:rPr lang="ru-RU" dirty="0"/>
                  <a:t>:			подстановка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i="1" dirty="0"/>
                  <a:t>зашифрование</a:t>
                </a:r>
                <a:r>
                  <a:rPr lang="ru-RU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i="1" dirty="0"/>
                  <a:t>расшифрование</a:t>
                </a:r>
                <a:r>
                  <a:rPr lang="ru-RU" dirty="0"/>
                  <a:t>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Пример:</a:t>
                </a:r>
              </a:p>
              <a:p>
                <a:pPr marL="596900" lvl="1" indent="0" algn="just">
                  <a:spcBef>
                    <a:spcPts val="600"/>
                  </a:spcBef>
                  <a:buNone/>
                  <a:tabLst>
                    <a:tab pos="2778125" algn="l"/>
                    <a:tab pos="5472113" algn="l"/>
                  </a:tabLst>
                </a:pPr>
                <a:r>
                  <a:rPr lang="ru-RU" b="1" dirty="0">
                    <a:latin typeface="Cambria Math" panose="02040503050406030204" pitchFamily="18" charset="0"/>
                  </a:rPr>
                  <a:t>Ключ</a:t>
                </a:r>
                <a:r>
                  <a:rPr lang="ru-RU" b="1" dirty="0"/>
                  <a:t>:</a:t>
                </a:r>
                <a:r>
                  <a:rPr lang="ru-RU" dirty="0"/>
                  <a:t>	</a:t>
                </a:r>
                <a:r>
                  <a:rPr lang="ru-RU" b="1" dirty="0">
                    <a:latin typeface="Cambria Math" panose="02040503050406030204" pitchFamily="18" charset="0"/>
                  </a:rPr>
                  <a:t>Открытый текст:	</a:t>
                </a:r>
                <a:r>
                  <a:rPr lang="ru-RU" b="1" dirty="0" err="1">
                    <a:latin typeface="Cambria Math" panose="02040503050406030204" pitchFamily="18" charset="0"/>
                  </a:rPr>
                  <a:t>Шифртекст</a:t>
                </a:r>
                <a:r>
                  <a:rPr lang="ru-RU" b="1" dirty="0">
                    <a:latin typeface="Cambria Math" panose="02040503050406030204" pitchFamily="18" charset="0"/>
                  </a:rPr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endParaRPr lang="ru-RU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B4F7D7D-583A-4533-AF9B-CD7DA85CC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D89335-77A1-490F-AD01-CB84C3DAD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  <p:graphicFrame>
        <p:nvGraphicFramePr>
          <p:cNvPr id="5" name="Таблица 10">
            <a:extLst>
              <a:ext uri="{FF2B5EF4-FFF2-40B4-BE49-F238E27FC236}">
                <a16:creationId xmlns:a16="http://schemas.microsoft.com/office/drawing/2014/main" id="{37F93C0A-30B5-48DE-B982-18A8ED12DD6E}"/>
              </a:ext>
            </a:extLst>
          </p:cNvPr>
          <p:cNvGraphicFramePr>
            <a:graphicFrameLocks noGrp="1"/>
          </p:cNvGraphicFramePr>
          <p:nvPr/>
        </p:nvGraphicFramePr>
        <p:xfrm>
          <a:off x="839804" y="4014510"/>
          <a:ext cx="1889544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924">
                  <a:extLst>
                    <a:ext uri="{9D8B030D-6E8A-4147-A177-3AD203B41FA5}">
                      <a16:colId xmlns:a16="http://schemas.microsoft.com/office/drawing/2014/main" val="2340072852"/>
                    </a:ext>
                  </a:extLst>
                </a:gridCol>
                <a:gridCol w="314924">
                  <a:extLst>
                    <a:ext uri="{9D8B030D-6E8A-4147-A177-3AD203B41FA5}">
                      <a16:colId xmlns:a16="http://schemas.microsoft.com/office/drawing/2014/main" val="2733696380"/>
                    </a:ext>
                  </a:extLst>
                </a:gridCol>
                <a:gridCol w="314924">
                  <a:extLst>
                    <a:ext uri="{9D8B030D-6E8A-4147-A177-3AD203B41FA5}">
                      <a16:colId xmlns:a16="http://schemas.microsoft.com/office/drawing/2014/main" val="1464823450"/>
                    </a:ext>
                  </a:extLst>
                </a:gridCol>
                <a:gridCol w="314924">
                  <a:extLst>
                    <a:ext uri="{9D8B030D-6E8A-4147-A177-3AD203B41FA5}">
                      <a16:colId xmlns:a16="http://schemas.microsoft.com/office/drawing/2014/main" val="3295405976"/>
                    </a:ext>
                  </a:extLst>
                </a:gridCol>
                <a:gridCol w="314924">
                  <a:extLst>
                    <a:ext uri="{9D8B030D-6E8A-4147-A177-3AD203B41FA5}">
                      <a16:colId xmlns:a16="http://schemas.microsoft.com/office/drawing/2014/main" val="226485777"/>
                    </a:ext>
                  </a:extLst>
                </a:gridCol>
                <a:gridCol w="314924">
                  <a:extLst>
                    <a:ext uri="{9D8B030D-6E8A-4147-A177-3AD203B41FA5}">
                      <a16:colId xmlns:a16="http://schemas.microsoft.com/office/drawing/2014/main" val="1458697455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 marL="18000" marR="18000" marT="10800" marB="10800"/>
                </a:tc>
                <a:extLst>
                  <a:ext uri="{0D108BD9-81ED-4DB2-BD59-A6C34878D82A}">
                    <a16:rowId xmlns:a16="http://schemas.microsoft.com/office/drawing/2014/main" val="34050578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 marL="18000" marR="18000" marT="10800" marB="10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 marL="18000" marR="18000" marT="10800" marB="10800"/>
                </a:tc>
                <a:extLst>
                  <a:ext uri="{0D108BD9-81ED-4DB2-BD59-A6C34878D82A}">
                    <a16:rowId xmlns:a16="http://schemas.microsoft.com/office/drawing/2014/main" val="2998103070"/>
                  </a:ext>
                </a:extLst>
              </a:tr>
            </a:tbl>
          </a:graphicData>
        </a:graphic>
      </p:graphicFrame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1C3F1A6A-5E1F-462B-9DFD-93E05C2511DF}"/>
              </a:ext>
            </a:extLst>
          </p:cNvPr>
          <p:cNvGraphicFramePr>
            <a:graphicFrameLocks noGrp="1"/>
          </p:cNvGraphicFramePr>
          <p:nvPr/>
        </p:nvGraphicFramePr>
        <p:xfrm>
          <a:off x="2999509" y="4014510"/>
          <a:ext cx="2521527" cy="51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1527">
                  <a:extLst>
                    <a:ext uri="{9D8B030D-6E8A-4147-A177-3AD203B41FA5}">
                      <a16:colId xmlns:a16="http://schemas.microsoft.com/office/drawing/2014/main" val="948916339"/>
                    </a:ext>
                  </a:extLst>
                </a:gridCol>
              </a:tblGrid>
              <a:tr h="518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/>
                        <a:t>CRYPTOGRAPHY</a:t>
                      </a:r>
                      <a:endParaRPr lang="ru-RU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99525"/>
                  </a:ext>
                </a:extLst>
              </a:tr>
            </a:tbl>
          </a:graphicData>
        </a:graphic>
      </p:graphicFrame>
      <p:graphicFrame>
        <p:nvGraphicFramePr>
          <p:cNvPr id="10" name="Таблица 8">
            <a:extLst>
              <a:ext uri="{FF2B5EF4-FFF2-40B4-BE49-F238E27FC236}">
                <a16:creationId xmlns:a16="http://schemas.microsoft.com/office/drawing/2014/main" id="{27E08A32-E732-4BE8-8F0C-0AEEEA11783E}"/>
              </a:ext>
            </a:extLst>
          </p:cNvPr>
          <p:cNvGraphicFramePr>
            <a:graphicFrameLocks noGrp="1"/>
          </p:cNvGraphicFramePr>
          <p:nvPr/>
        </p:nvGraphicFramePr>
        <p:xfrm>
          <a:off x="5708073" y="4004125"/>
          <a:ext cx="2521527" cy="51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1527">
                  <a:extLst>
                    <a:ext uri="{9D8B030D-6E8A-4147-A177-3AD203B41FA5}">
                      <a16:colId xmlns:a16="http://schemas.microsoft.com/office/drawing/2014/main" val="948916339"/>
                    </a:ext>
                  </a:extLst>
                </a:gridCol>
              </a:tblGrid>
              <a:tr h="518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9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33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F94A6-B675-43A0-9F6E-86C57239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100" dirty="0"/>
              <a:t>Блочные шифры: шифр Хилла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6C70812-EBF7-4D5C-A1ED-F109E8E662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Шифр Хилла: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блок открытого текста:</a:t>
                </a:r>
                <a:r>
                  <a:rPr lang="en-US" sz="1600" i="1" dirty="0"/>
                  <a:t>	</a:t>
                </a:r>
                <a:r>
                  <a:rPr lang="ru-RU" sz="1600" i="1" dirty="0"/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 … </m:t>
                            </m:r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ru-RU" sz="16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i="1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блок </a:t>
                </a:r>
                <a:r>
                  <a:rPr lang="ru-RU" sz="1600" i="1" dirty="0" err="1"/>
                  <a:t>шифртекста</a:t>
                </a:r>
                <a:r>
                  <a:rPr lang="ru-RU" sz="1600" i="1" dirty="0"/>
                  <a:t>:</a:t>
                </a:r>
                <a:r>
                  <a:rPr lang="en-US" sz="1600" i="1" dirty="0"/>
                  <a:t>	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 … </m:t>
                            </m:r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ru-RU" sz="1600" i="1" dirty="0"/>
                  <a:t>, </a:t>
                </a:r>
                <a:r>
                  <a:rPr lang="ru-RU" sz="16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i="1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ключ</a:t>
                </a:r>
                <a:r>
                  <a:rPr lang="ru-RU" sz="1600" dirty="0"/>
                  <a:t>:</a:t>
                </a:r>
                <a:r>
                  <a:rPr lang="en-US" sz="1600" dirty="0"/>
                  <a:t>			</a:t>
                </a:r>
                <a:r>
                  <a:rPr lang="ru-RU" sz="1600" dirty="0"/>
                  <a:t>	матрица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зашифрование</a:t>
                </a:r>
                <a:r>
                  <a:rPr lang="ru-RU" sz="1600" dirty="0"/>
                  <a:t>:	</a:t>
                </a:r>
                <a:r>
                  <a:rPr lang="en-US" sz="1600" dirty="0"/>
                  <a:t>	</a:t>
                </a:r>
                <a:r>
                  <a:rPr lang="ru-RU" sz="1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:r>
                  <a:rPr lang="ru-RU" sz="1600" i="1" dirty="0"/>
                  <a:t>расшифрование</a:t>
                </a:r>
                <a:r>
                  <a:rPr lang="ru-RU" sz="1600" dirty="0"/>
                  <a:t>:	</a:t>
                </a:r>
                <a:r>
                  <a:rPr lang="en-US" sz="1600" dirty="0"/>
                  <a:t>	</a:t>
                </a:r>
                <a:r>
                  <a:rPr lang="ru-RU" sz="1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Рекуррентный шифр Хилла: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ru-RU" sz="16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6C70812-EBF7-4D5C-A1ED-F109E8E66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826D21-F49D-4FE7-B86B-C797EDC0A8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4493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0B8AC-FB91-49C9-AD41-1A88A6B9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Шифры гаммирования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AB07E98-9938-44BD-935D-29217393465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Шифр </a:t>
                </a:r>
                <a:r>
                  <a:rPr lang="ru-RU" sz="2000" dirty="0" err="1"/>
                  <a:t>Виженера</a:t>
                </a:r>
                <a:r>
                  <a:rPr lang="ru-RU" sz="2000" dirty="0"/>
                  <a:t>: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/>
                  <a:t>открытый текст:</a:t>
                </a:r>
                <a:r>
                  <a:rPr lang="en-US" sz="1500" i="1" dirty="0"/>
                  <a:t>	</a:t>
                </a:r>
                <a:r>
                  <a:rPr lang="ru-RU" sz="1500" i="1" dirty="0"/>
                  <a:t>		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5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500" i="1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 err="1"/>
                  <a:t>шифртекст</a:t>
                </a:r>
                <a:r>
                  <a:rPr lang="ru-RU" sz="1500" i="1" dirty="0"/>
                  <a:t>:</a:t>
                </a:r>
                <a:r>
                  <a:rPr lang="en-US" sz="1500" i="1" dirty="0"/>
                  <a:t>	</a:t>
                </a:r>
                <a:r>
                  <a:rPr lang="ru-RU" sz="1500" i="1" dirty="0"/>
                  <a:t>		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500" dirty="0"/>
                  <a:t>,</a:t>
                </a:r>
                <a:r>
                  <a:rPr lang="ru-RU" sz="1500" i="1" dirty="0"/>
                  <a:t> </a:t>
                </a:r>
                <a:r>
                  <a:rPr lang="ru-RU" sz="15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500" i="1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/>
                  <a:t>ключ</a:t>
                </a:r>
                <a:r>
                  <a:rPr lang="ru-RU" sz="1500" dirty="0"/>
                  <a:t>:</a:t>
                </a:r>
                <a:r>
                  <a:rPr lang="en-US" sz="1500" dirty="0"/>
                  <a:t>		</a:t>
                </a:r>
                <a:r>
                  <a:rPr lang="ru-RU" sz="1500" dirty="0"/>
                  <a:t>		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5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500" dirty="0"/>
                  <a:t>,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15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/>
                  <a:t>гамма</a:t>
                </a:r>
                <a:r>
                  <a:rPr lang="ru-RU" sz="1500" dirty="0"/>
                  <a:t>:</a:t>
                </a:r>
                <a:r>
                  <a:rPr lang="en-US" sz="1500" dirty="0"/>
                  <a:t>		</a:t>
                </a:r>
                <a:r>
                  <a:rPr lang="ru-RU" sz="1500" dirty="0"/>
                  <a:t>		</a:t>
                </a:r>
                <a14:m>
                  <m:oMath xmlns:m="http://schemas.openxmlformats.org/officeDocument/2006/math">
                    <m:r>
                      <a:rPr lang="ru-RU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5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5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/>
                  <a:t>зашифрование</a:t>
                </a:r>
                <a:r>
                  <a:rPr lang="ru-RU" sz="1500" dirty="0"/>
                  <a:t>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5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5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i="1" dirty="0"/>
                  <a:t>расшифрование</a:t>
                </a:r>
                <a:r>
                  <a:rPr lang="ru-RU" sz="1500" dirty="0"/>
                  <a:t>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15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5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500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Выработка гаммы: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dirty="0"/>
                  <a:t>повторение ключа:</a:t>
                </a:r>
                <a:r>
                  <a:rPr lang="en-US" sz="1500" dirty="0"/>
                  <a:t>		</a:t>
                </a:r>
                <a:r>
                  <a:rPr lang="ru-RU" sz="1500" dirty="0"/>
                  <a:t>	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sz="1500" dirty="0"/>
                  <a:t>;</a:t>
                </a:r>
                <a:endParaRPr lang="ru-RU" sz="1500" dirty="0"/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dirty="0" err="1"/>
                  <a:t>самоключ</a:t>
                </a:r>
                <a:r>
                  <a:rPr lang="ru-RU" sz="1500" dirty="0"/>
                  <a:t> по открытому тексту:</a:t>
                </a:r>
                <a:r>
                  <a:rPr lang="en-US" sz="1500" dirty="0"/>
                  <a:t>	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ru-RU" sz="1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500" dirty="0"/>
                  <a:t>;</a:t>
                </a:r>
                <a:endParaRPr lang="ru-RU" sz="1500" dirty="0"/>
              </a:p>
              <a:p>
                <a:pPr lvl="1" algn="just">
                  <a:spcBef>
                    <a:spcPts val="300"/>
                  </a:spcBef>
                </a:pPr>
                <a:r>
                  <a:rPr lang="ru-RU" sz="1500" dirty="0" err="1"/>
                  <a:t>самоключ</a:t>
                </a:r>
                <a:r>
                  <a:rPr lang="ru-RU" sz="1500" dirty="0"/>
                  <a:t> по </a:t>
                </a:r>
                <a:r>
                  <a:rPr lang="ru-RU" sz="1500" dirty="0" err="1"/>
                  <a:t>шифртексту</a:t>
                </a:r>
                <a:r>
                  <a:rPr lang="ru-RU" sz="1500" dirty="0"/>
                  <a:t>: 	</a:t>
                </a:r>
                <a:r>
                  <a:rPr lang="en-US" sz="1500" dirty="0"/>
                  <a:t>	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ru-RU" sz="1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500" i="1">
                            <a:latin typeface="Cambria Math" panose="02040503050406030204" pitchFamily="18" charset="0"/>
                          </a:rPr>
                          <m:t>, …, </m:t>
                        </m:r>
                        <m:sSub>
                          <m:sSubPr>
                            <m:ctrlPr>
                              <a:rPr lang="ru-RU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5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500" dirty="0"/>
                  <a:t>.</a:t>
                </a:r>
                <a:endParaRPr lang="ru-RU" sz="1500" dirty="0"/>
              </a:p>
              <a:p>
                <a:pPr algn="just">
                  <a:spcBef>
                    <a:spcPts val="300"/>
                  </a:spcBef>
                </a:pPr>
                <a:r>
                  <a:rPr lang="ru-RU" dirty="0" err="1"/>
                  <a:t>Ширф</a:t>
                </a:r>
                <a:r>
                  <a:rPr lang="ru-RU" dirty="0"/>
                  <a:t> </a:t>
                </a:r>
                <a:r>
                  <a:rPr lang="ru-RU" dirty="0" err="1"/>
                  <a:t>Вернама</a:t>
                </a:r>
                <a:r>
                  <a:rPr lang="ru-RU" dirty="0"/>
                  <a:t> (одноразовый </a:t>
                </a:r>
                <a:r>
                  <a:rPr lang="ru-RU" dirty="0" err="1"/>
                  <a:t>шифрблокнот</a:t>
                </a:r>
                <a:r>
                  <a:rPr lang="ru-RU" dirty="0"/>
                  <a:t>) — </a:t>
                </a:r>
                <a:r>
                  <a:rPr lang="ru-RU" u="sng" dirty="0"/>
                  <a:t>абсолютно стойкий шифр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AB07E98-9938-44BD-935D-292173934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3228A5-78E8-41D5-BA5D-C48DC53C3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740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B707BF8-AC3B-4F2E-8D5A-22CBC1FD0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Современные симметричные шифры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27FB298E-3E1F-4C84-8A55-0A08FB17D4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86E14F-23F1-4E2E-963E-27AA7D1C944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3791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9E961-74A1-40BE-B465-CA440743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Современное симметричное шифрование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FED3D3-4259-45F9-AA10-3FD1C5382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sz="2000" dirty="0"/>
              <a:t>Исторические шифры преимущественно могли работать только с текстами, записанными на естественных языках.</a:t>
            </a:r>
          </a:p>
          <a:p>
            <a:pPr algn="just">
              <a:spcBef>
                <a:spcPts val="600"/>
              </a:spcBef>
            </a:pPr>
            <a:r>
              <a:rPr lang="ru-RU" sz="2000" dirty="0"/>
              <a:t>Современные симметричные шифры оперируют двоичными последовательностями независимо от их происхождения.</a:t>
            </a:r>
          </a:p>
          <a:p>
            <a:pPr algn="just">
              <a:spcBef>
                <a:spcPts val="600"/>
              </a:spcBef>
            </a:pPr>
            <a:r>
              <a:rPr lang="ru-RU" sz="2000" dirty="0"/>
              <a:t>Способы достижения надежного шифрования:</a:t>
            </a:r>
          </a:p>
          <a:p>
            <a:pPr lvl="1" algn="just">
              <a:spcBef>
                <a:spcPts val="600"/>
              </a:spcBef>
            </a:pPr>
            <a:r>
              <a:rPr lang="ru-RU" sz="1800" i="1" dirty="0"/>
              <a:t>перемешивание</a:t>
            </a:r>
            <a:r>
              <a:rPr lang="ru-RU" sz="1800" dirty="0"/>
              <a:t> устраняет зависимость между открытым текстом и </a:t>
            </a:r>
            <a:r>
              <a:rPr lang="ru-RU" sz="1800" dirty="0" err="1"/>
              <a:t>шифртекстом</a:t>
            </a:r>
            <a:r>
              <a:rPr lang="ru-RU" sz="1800" dirty="0"/>
              <a:t>, затрудняет попытки найти в </a:t>
            </a:r>
            <a:r>
              <a:rPr lang="ru-RU" sz="1800" dirty="0" err="1"/>
              <a:t>шифртексте</a:t>
            </a:r>
            <a:r>
              <a:rPr lang="ru-RU" sz="1800" dirty="0"/>
              <a:t> избыточность и статистические закономерности;</a:t>
            </a:r>
          </a:p>
          <a:p>
            <a:pPr lvl="1" algn="just">
              <a:spcBef>
                <a:spcPts val="600"/>
              </a:spcBef>
            </a:pPr>
            <a:r>
              <a:rPr lang="ru-RU" sz="1800" i="1" dirty="0"/>
              <a:t>рассеивание</a:t>
            </a:r>
            <a:r>
              <a:rPr lang="ru-RU" sz="1800" dirty="0"/>
              <a:t> перераспределяет избыточность открытого текста, распространяя ее на весь </a:t>
            </a:r>
            <a:r>
              <a:rPr lang="ru-RU" sz="1800" dirty="0" err="1"/>
              <a:t>шифрекст</a:t>
            </a:r>
            <a:r>
              <a:rPr lang="ru-RU" sz="18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06B2E2-81A9-449E-8534-0B9F319C39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5488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0613F-2F8A-4ED8-9458-F711A357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симметричных шифров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F29883-F7CC-4171-A349-F1B8CC62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300"/>
              </a:spcBef>
            </a:pPr>
            <a:r>
              <a:rPr lang="ru-RU" sz="1600" u="sng" dirty="0"/>
              <a:t>Блочные</a:t>
            </a:r>
            <a:r>
              <a:rPr lang="ru-RU" sz="1600" dirty="0"/>
              <a:t> (блоковые) шифры.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тест обрабатывается блоками одинакового размера;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криптографическое преобразование является итерационным;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основные характеристики:</a:t>
            </a:r>
          </a:p>
          <a:p>
            <a:pPr lvl="2" algn="just">
              <a:spcBef>
                <a:spcPts val="300"/>
              </a:spcBef>
            </a:pPr>
            <a:r>
              <a:rPr lang="ru-RU" dirty="0"/>
              <a:t>длина ключа;</a:t>
            </a:r>
          </a:p>
          <a:p>
            <a:pPr lvl="2" algn="just">
              <a:spcBef>
                <a:spcPts val="300"/>
              </a:spcBef>
            </a:pPr>
            <a:r>
              <a:rPr lang="ru-RU" dirty="0"/>
              <a:t>длина блока данных;</a:t>
            </a:r>
          </a:p>
          <a:p>
            <a:pPr lvl="2" algn="just">
              <a:spcBef>
                <a:spcPts val="300"/>
              </a:spcBef>
            </a:pPr>
            <a:r>
              <a:rPr lang="ru-RU" sz="1200" dirty="0"/>
              <a:t>число раундов основного преобразования;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предусмотрены специальные режимы для устранения межблочных зависимостей.</a:t>
            </a:r>
          </a:p>
          <a:p>
            <a:pPr algn="just">
              <a:spcBef>
                <a:spcPts val="300"/>
              </a:spcBef>
            </a:pPr>
            <a:r>
              <a:rPr lang="ru-RU" sz="1600" u="sng" dirty="0"/>
              <a:t>Поточные</a:t>
            </a:r>
            <a:r>
              <a:rPr lang="ru-RU" sz="1600" dirty="0"/>
              <a:t> (потоковые) шифры.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аналогичны шифрам гаммирования для двоичного алфавита;</a:t>
            </a:r>
          </a:p>
          <a:p>
            <a:pPr lvl="1" algn="just">
              <a:spcBef>
                <a:spcPts val="300"/>
              </a:spcBef>
            </a:pPr>
            <a:r>
              <a:rPr lang="ru-RU" sz="1600" dirty="0"/>
              <a:t>могут строиться на основе блочных шифров с помощью специальных режимов работы.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9549E-46C8-4F97-933B-5554B726E1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4040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58C3E-C2AC-4E7E-A595-A3960CF7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Российские стандарты симметричного шифрования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2336F6-1AB0-4D18-82FD-DD6AEED66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300"/>
              </a:spcBef>
            </a:pPr>
            <a:r>
              <a:rPr lang="ru-RU" dirty="0"/>
              <a:t>ГОСТ 28147-89. Системы обработки информации. Защита криптографическая. Алгоритм криптографического преобразования</a:t>
            </a:r>
            <a:r>
              <a:rPr lang="en-US" dirty="0"/>
              <a:t> (</a:t>
            </a:r>
            <a:r>
              <a:rPr lang="ru-RU" b="1" i="1" dirty="0">
                <a:solidFill>
                  <a:srgbClr val="FF0000"/>
                </a:solidFill>
              </a:rPr>
              <a:t>устаревший стандарт</a:t>
            </a:r>
            <a:r>
              <a:rPr lang="ru-RU" dirty="0"/>
              <a:t>).</a:t>
            </a:r>
          </a:p>
          <a:p>
            <a:pPr lvl="1" algn="just">
              <a:spcBef>
                <a:spcPts val="300"/>
              </a:spcBef>
            </a:pPr>
            <a:r>
              <a:rPr lang="ru-RU" dirty="0"/>
              <a:t>шифр с длиной блока 64 бита и ключом 256 бит;</a:t>
            </a:r>
          </a:p>
          <a:p>
            <a:pPr lvl="1" algn="just">
              <a:spcBef>
                <a:spcPts val="300"/>
              </a:spcBef>
            </a:pPr>
            <a:r>
              <a:rPr lang="ru-RU" dirty="0"/>
              <a:t>4 режима работы шифра.</a:t>
            </a:r>
            <a:endParaRPr lang="en-US" dirty="0"/>
          </a:p>
          <a:p>
            <a:pPr algn="just">
              <a:spcBef>
                <a:spcPts val="300"/>
              </a:spcBef>
            </a:pPr>
            <a:r>
              <a:rPr lang="ru-RU" dirty="0"/>
              <a:t>ГОСТ Р 34.12-2015. Информационная технология. Криптографическая защита информации. Блочные шифры:</a:t>
            </a:r>
          </a:p>
          <a:p>
            <a:pPr lvl="1" algn="just">
              <a:spcBef>
                <a:spcPts val="300"/>
              </a:spcBef>
            </a:pPr>
            <a:r>
              <a:rPr lang="ru-RU" dirty="0"/>
              <a:t>шифр «Магма» с длиной блока 64 бита и ключом 256 бит;</a:t>
            </a:r>
          </a:p>
          <a:p>
            <a:pPr lvl="1" algn="just">
              <a:spcBef>
                <a:spcPts val="300"/>
              </a:spcBef>
            </a:pPr>
            <a:r>
              <a:rPr lang="ru-RU" dirty="0"/>
              <a:t>шифр «Кузнечик» с длиной блока 128 бит и ключом 256 бит.</a:t>
            </a:r>
          </a:p>
          <a:p>
            <a:pPr algn="just">
              <a:spcBef>
                <a:spcPts val="300"/>
              </a:spcBef>
            </a:pPr>
            <a:r>
              <a:rPr lang="ru-RU" dirty="0"/>
              <a:t>ГОСТ Р 34.13-2015. Информационная технология. Криптографическая защита информации. Режимы работы блочных шифров:</a:t>
            </a:r>
          </a:p>
          <a:p>
            <a:pPr lvl="1" algn="just">
              <a:spcBef>
                <a:spcPts val="300"/>
              </a:spcBef>
            </a:pPr>
            <a:r>
              <a:rPr lang="ru-RU" dirty="0"/>
              <a:t>6 режимов работы базовых блочных шифров.</a:t>
            </a:r>
          </a:p>
          <a:p>
            <a:pPr marL="114300" indent="0">
              <a:spcBef>
                <a:spcPts val="300"/>
              </a:spcBef>
              <a:buNone/>
            </a:pPr>
            <a:endParaRPr lang="ru-RU" sz="1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C9BEBF-DF60-459C-B8D8-0868F702A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336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58C3E-C2AC-4E7E-A595-A3960CF7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/>
              <a:t>Межгосударственные стандарты симметричного шифрования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2336F6-1AB0-4D18-82FD-DD6AEED66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dirty="0"/>
              <a:t>ГОСТ 34.12-2018. Информационная технология. Криптографическая защита информации. Блочные шифры.</a:t>
            </a:r>
          </a:p>
          <a:p>
            <a:pPr algn="just">
              <a:spcBef>
                <a:spcPts val="600"/>
              </a:spcBef>
            </a:pPr>
            <a:r>
              <a:rPr lang="ru-RU" dirty="0"/>
              <a:t>ГОСТ 34.13-2018. Информационная технология. Криптографическая защита информации. Режимы работы блочных шифров.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C9BEBF-DF60-459C-B8D8-0868F702A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77082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AF324-68AB-4B05-A766-74FC692E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Зарубежные стандарты симметричного шифрования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910E11-60FF-4886-B0A9-E529D6F64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en-US" sz="2000" dirty="0"/>
              <a:t>Data Encryption Standard (DES), </a:t>
            </a:r>
            <a:r>
              <a:rPr lang="ru-RU" sz="2000" dirty="0"/>
              <a:t>стандарт </a:t>
            </a:r>
            <a:r>
              <a:rPr lang="en-US" sz="2000" dirty="0"/>
              <a:t>FIPS PUB 46</a:t>
            </a:r>
            <a:r>
              <a:rPr lang="ru-RU" sz="2000" dirty="0"/>
              <a:t> (</a:t>
            </a:r>
            <a:r>
              <a:rPr lang="ru-RU" sz="2000" b="1" i="1" dirty="0">
                <a:solidFill>
                  <a:srgbClr val="FF0000"/>
                </a:solidFill>
              </a:rPr>
              <a:t>устаревший стандарт</a:t>
            </a:r>
            <a:r>
              <a:rPr lang="ru-RU" sz="2000" dirty="0"/>
              <a:t>)</a:t>
            </a:r>
            <a:r>
              <a:rPr lang="en-US" sz="2000" dirty="0"/>
              <a:t>: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шифр с длиной блока 64 бита и длиной ключа 64(56) бита.</a:t>
            </a:r>
          </a:p>
          <a:p>
            <a:pPr algn="just">
              <a:spcBef>
                <a:spcPts val="600"/>
              </a:spcBef>
            </a:pPr>
            <a:r>
              <a:rPr lang="en-US" sz="2000" dirty="0"/>
              <a:t>Advanced Encryption Standard</a:t>
            </a:r>
            <a:r>
              <a:rPr lang="ru-RU" sz="2000" dirty="0"/>
              <a:t> (</a:t>
            </a:r>
            <a:r>
              <a:rPr lang="en-US" sz="2000" dirty="0"/>
              <a:t>AES), </a:t>
            </a:r>
            <a:r>
              <a:rPr lang="ru-RU" sz="2000" dirty="0"/>
              <a:t>стандарт </a:t>
            </a:r>
            <a:r>
              <a:rPr lang="en-US" sz="2000" dirty="0"/>
              <a:t>FIPS PUB 197</a:t>
            </a:r>
            <a:r>
              <a:rPr lang="ru-RU" sz="2000" dirty="0"/>
              <a:t>: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шифр с длиной блока 128 бит и варьируемой длиной ключа в 128, 192 или 256 бит.</a:t>
            </a:r>
          </a:p>
          <a:p>
            <a:pPr algn="just">
              <a:spcBef>
                <a:spcPts val="600"/>
              </a:spcBef>
            </a:pPr>
            <a:r>
              <a:rPr lang="en-US" sz="2000" dirty="0"/>
              <a:t>DES Modes of Operation</a:t>
            </a:r>
            <a:r>
              <a:rPr lang="ru-RU" sz="2000" dirty="0"/>
              <a:t>, стандарт </a:t>
            </a:r>
            <a:r>
              <a:rPr lang="en-US" sz="2000" dirty="0"/>
              <a:t>FIPS PUB </a:t>
            </a:r>
            <a:r>
              <a:rPr lang="ru-RU" sz="2000" dirty="0"/>
              <a:t>81 (с дополнениями):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6 режимов.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CF718A-B906-47E4-8C15-00E9838C8C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879496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57E0E95-7C07-4BA1-AA5C-D1A465640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ГОСТ 28147-89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41409E0B-C982-42A9-BC56-0A1A7931C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DAEF76-168F-4F8C-954C-6BF72E84AD7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325119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91CCD-23BB-4E16-B9E6-C6D4FFD7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28147-89: общее описание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5D2099-8EC1-4612-B84D-37FB048F0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dirty="0"/>
              <a:t>ГОСТ 28147-89. Системы обработки информации. Защита криптографическая. Алгоритм криптографического преобразования: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>
                <a:solidFill>
                  <a:srgbClr val="FF0000"/>
                </a:solidFill>
              </a:rPr>
              <a:t>утратил силу 31 декабря 2015 г.;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включен в действующий ГОСТ Р 34.12-2015 под названием </a:t>
            </a:r>
            <a:r>
              <a:rPr lang="ru-RU" sz="1600" u="sng" dirty="0"/>
              <a:t>«Магма»</a:t>
            </a:r>
            <a:r>
              <a:rPr lang="ru-RU" sz="1600" dirty="0"/>
              <a:t>.</a:t>
            </a:r>
          </a:p>
          <a:p>
            <a:pPr algn="just">
              <a:spcBef>
                <a:spcPts val="600"/>
              </a:spcBef>
            </a:pPr>
            <a:r>
              <a:rPr lang="ru-RU" dirty="0"/>
              <a:t>Характеристики шифра: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длина блока:	64 бита;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длина ключа:	256 бит;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число раундов:	32;</a:t>
            </a:r>
          </a:p>
          <a:p>
            <a:pPr lvl="1" algn="just">
              <a:spcBef>
                <a:spcPts val="600"/>
              </a:spcBef>
            </a:pPr>
            <a:r>
              <a:rPr lang="ru-RU" sz="1600" dirty="0"/>
              <a:t>основа:		сеть </a:t>
            </a:r>
            <a:r>
              <a:rPr lang="ru-RU" sz="1600" dirty="0" err="1"/>
              <a:t>Фейстеля</a:t>
            </a:r>
            <a:r>
              <a:rPr lang="ru-RU" sz="1600" dirty="0"/>
              <a:t>.</a:t>
            </a: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EE1158-9E90-46A9-AF4C-358BE9976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16653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B2F29-6CC3-4A0C-8D6A-213C725F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28147-89: режимы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1266FE-6AE5-4724-A6A5-1CAA9035F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/>
              <a:t>режим простой замены;</a:t>
            </a:r>
          </a:p>
          <a:p>
            <a:r>
              <a:rPr lang="ru-RU" sz="1800" dirty="0"/>
              <a:t>режим гаммирования;</a:t>
            </a:r>
          </a:p>
          <a:p>
            <a:r>
              <a:rPr lang="ru-RU" sz="1800" dirty="0"/>
              <a:t>режим гаммирования с обратной связью;</a:t>
            </a:r>
          </a:p>
          <a:p>
            <a:r>
              <a:rPr lang="ru-RU" sz="1800" dirty="0"/>
              <a:t>режим выработки </a:t>
            </a:r>
            <a:r>
              <a:rPr lang="ru-RU" sz="1800" dirty="0" err="1"/>
              <a:t>имитовставки</a:t>
            </a:r>
            <a:r>
              <a:rPr lang="ru-RU" sz="1800" dirty="0"/>
              <a:t>.</a:t>
            </a:r>
          </a:p>
          <a:p>
            <a:pPr marL="114300" indent="0" algn="just">
              <a:buNone/>
            </a:pP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DD33FD-772B-466B-B824-6734F5B85C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3048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AE5DD-CAAD-45E0-BB17-478A5111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28147-89: основные обозначения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944C01-1BF8-48F8-B11B-E00B445E7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dirty="0"/>
              <a:t>КЗУ		ключевое запоминающее устройство;</a:t>
            </a:r>
          </a:p>
          <a:p>
            <a:r>
              <a:rPr lang="en-US" sz="1600" i="1" dirty="0"/>
              <a:t>X</a:t>
            </a:r>
            <a:r>
              <a:rPr lang="ru-RU" sz="1600" baseline="-25000" dirty="0"/>
              <a:t>0</a:t>
            </a:r>
            <a:r>
              <a:rPr lang="ru-RU" sz="1600" dirty="0"/>
              <a:t>, …,  </a:t>
            </a:r>
            <a:r>
              <a:rPr lang="en-US" sz="1600" i="1" dirty="0"/>
              <a:t>X</a:t>
            </a:r>
            <a:r>
              <a:rPr lang="ru-RU" sz="1600" baseline="-25000" dirty="0"/>
              <a:t>7</a:t>
            </a:r>
            <a:r>
              <a:rPr lang="ru-RU" sz="1600" dirty="0"/>
              <a:t>	32-разрядные накопители в составе КЗУ;</a:t>
            </a:r>
          </a:p>
          <a:p>
            <a:r>
              <a:rPr lang="ru-RU" sz="1600" dirty="0"/>
              <a:t>СМ</a:t>
            </a:r>
            <a:r>
              <a:rPr lang="ru-RU" sz="1600" baseline="-25000" dirty="0"/>
              <a:t>1</a:t>
            </a:r>
            <a:r>
              <a:rPr lang="ru-RU" sz="1600" dirty="0"/>
              <a:t>		сумматор, осуществляющий сложение по модулю 2</a:t>
            </a:r>
            <a:r>
              <a:rPr lang="ru-RU" sz="1600" baseline="30000" dirty="0"/>
              <a:t>32</a:t>
            </a:r>
            <a:r>
              <a:rPr lang="ru-RU" sz="1600" dirty="0"/>
              <a:t>;</a:t>
            </a:r>
          </a:p>
          <a:p>
            <a:r>
              <a:rPr lang="ru-RU" sz="1600" dirty="0"/>
              <a:t>СМ</a:t>
            </a:r>
            <a:r>
              <a:rPr lang="ru-RU" sz="1600" baseline="-25000" dirty="0"/>
              <a:t>2		</a:t>
            </a:r>
            <a:r>
              <a:rPr lang="ru-RU" sz="1600" dirty="0"/>
              <a:t>сумматор, осуществляющий сложение по модулю 2;</a:t>
            </a:r>
          </a:p>
          <a:p>
            <a:r>
              <a:rPr lang="en-US" sz="1600" i="1" dirty="0"/>
              <a:t>N</a:t>
            </a:r>
            <a:r>
              <a:rPr lang="ru-RU" sz="1600" baseline="-25000" dirty="0"/>
              <a:t>1</a:t>
            </a:r>
            <a:r>
              <a:rPr lang="ru-RU" sz="1600" dirty="0"/>
              <a:t>, </a:t>
            </a:r>
            <a:r>
              <a:rPr lang="en-US" sz="1600" i="1" dirty="0"/>
              <a:t>N</a:t>
            </a:r>
            <a:r>
              <a:rPr lang="ru-RU" sz="1600" baseline="-25000" dirty="0"/>
              <a:t>2</a:t>
            </a:r>
            <a:r>
              <a:rPr lang="ru-RU" sz="1600" dirty="0"/>
              <a:t>	32-разрядные накопители;</a:t>
            </a:r>
          </a:p>
          <a:p>
            <a:r>
              <a:rPr lang="en-US" sz="1600" i="1" dirty="0"/>
              <a:t>R</a:t>
            </a:r>
            <a:r>
              <a:rPr lang="ru-RU" sz="1600" dirty="0"/>
              <a:t>		блок циклического сдвига на 11 позиций влево;</a:t>
            </a:r>
          </a:p>
          <a:p>
            <a:r>
              <a:rPr lang="en-US" sz="1600" i="1" dirty="0"/>
              <a:t>K</a:t>
            </a:r>
            <a:r>
              <a:rPr lang="ru-RU" sz="1600" dirty="0"/>
              <a:t>		блок замен:</a:t>
            </a:r>
          </a:p>
          <a:p>
            <a:endParaRPr lang="ru-RU" sz="1600" dirty="0"/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60B3F2-4435-4299-A6DE-87AD172EE5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04C816E9-A5C6-44C4-91AD-10A7CC771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611782"/>
              </p:ext>
            </p:extLst>
          </p:nvPr>
        </p:nvGraphicFramePr>
        <p:xfrm>
          <a:off x="3314422" y="2731710"/>
          <a:ext cx="5169428" cy="211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084">
                  <a:extLst>
                    <a:ext uri="{9D8B030D-6E8A-4147-A177-3AD203B41FA5}">
                      <a16:colId xmlns:a16="http://schemas.microsoft.com/office/drawing/2014/main" val="790811319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2062783476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3382838728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573859875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3319824674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3282168439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1421621897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507382465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1426865992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961180099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3232647804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2898140229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3199878187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1445390224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1243898822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2527607811"/>
                    </a:ext>
                  </a:extLst>
                </a:gridCol>
                <a:gridCol w="304084">
                  <a:extLst>
                    <a:ext uri="{9D8B030D-6E8A-4147-A177-3AD203B41FA5}">
                      <a16:colId xmlns:a16="http://schemas.microsoft.com/office/drawing/2014/main" val="2230493528"/>
                    </a:ext>
                  </a:extLst>
                </a:gridCol>
              </a:tblGrid>
              <a:tr h="171334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7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9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2566850318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3926033547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1732645312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3142964378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3461565025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3512798338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575592329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7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692591321"/>
                  </a:ext>
                </a:extLst>
              </a:tr>
              <a:tr h="17133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</a:t>
                      </a:r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ru-RU" sz="1400" dirty="0"/>
                    </a:p>
                  </a:txBody>
                  <a:tcPr marL="18000" marR="18000" marT="10800" marB="10800" anchor="ctr"/>
                </a:tc>
                <a:extLst>
                  <a:ext uri="{0D108BD9-81ED-4DB2-BD59-A6C34878D82A}">
                    <a16:rowId xmlns:a16="http://schemas.microsoft.com/office/drawing/2014/main" val="4132208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762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D35FD-855D-4C98-A9A3-2EBA4251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28147-89: схема шифрования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9B2F3B-1969-46B3-B100-3996B30F2B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7250" y="863550"/>
                <a:ext cx="4095314" cy="3982800"/>
              </a:xfrm>
            </p:spPr>
            <p:txBody>
              <a:bodyPr/>
              <a:lstStyle/>
              <a:p>
                <a:pPr>
                  <a:spcBef>
                    <a:spcPts val="300"/>
                  </a:spcBef>
                </a:pPr>
                <a:r>
                  <a:rPr lang="ru-RU" dirty="0"/>
                  <a:t>Порядок выбора ключей при зашифровании: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1 – 8: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9 – 16: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17 – 24: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25 – 32: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Порядок выбора ключей при расшифровании: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1 – 8: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9 – 16: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17 – 24: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Раунды 25 – 32: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9B2F3B-1969-46B3-B100-3996B30F2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250" y="863550"/>
                <a:ext cx="4095314" cy="3982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84417E-9DEC-4494-A0E5-AD52BEEE2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0B3DAFF-823A-4EB5-9721-EA762648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327" y="863402"/>
            <a:ext cx="4538673" cy="357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246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B2F29-6CC3-4A0C-8D6A-213C725F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28147-89: обратимость схемы шифрования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F1266FE-6AE5-4724-A6A5-1CAA9035F4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7250" y="801207"/>
                <a:ext cx="8895300" cy="2988014"/>
              </a:xfrm>
            </p:spPr>
            <p:txBody>
              <a:bodyPr/>
              <a:lstStyle/>
              <a:p>
                <a:pPr>
                  <a:spcBef>
                    <a:spcPts val="300"/>
                  </a:spcBef>
                </a:pPr>
                <a:r>
                  <a:rPr lang="ru-RU" dirty="0"/>
                  <a:t>Нелинейная функция: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⊞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Зашифрование:</a:t>
                </a: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ru-RU" dirty="0"/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Расшифрование:</a:t>
                </a:r>
              </a:p>
              <a:p>
                <a:pPr marL="114300" indent="0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l-G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l-GR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m:rPr>
                          <m:sty m:val="p"/>
                        </m:rPr>
                        <a:rPr lang="el-GR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l-GR" sz="16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6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l-GR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m:rPr>
                          <m:sty m:val="p"/>
                        </m:rPr>
                        <a:rPr lang="el-GR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  <m:oMath xmlns:m="http://schemas.openxmlformats.org/officeDocument/2006/math">
                      <m:r>
                        <a:rPr lang="ru-R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l-GR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r>
                  <a:rPr lang="ru-RU" sz="1600" dirty="0">
                    <a:ea typeface="Cambria Math" panose="02040503050406030204" pitchFamily="18" charset="0"/>
                  </a:rPr>
                  <a:t/>
                </a:r>
                <a:br>
                  <a:rPr lang="ru-RU" sz="1600" dirty="0">
                    <a:ea typeface="Cambria Math" panose="02040503050406030204" pitchFamily="18" charset="0"/>
                  </a:rPr>
                </a:br>
                <a:endParaRPr lang="ru-RU" sz="1600" b="0" dirty="0">
                  <a:ea typeface="Cambria Math" panose="02040503050406030204" pitchFamily="18" charset="0"/>
                </a:endParaRPr>
              </a:p>
              <a:p>
                <a:pPr marL="114300" indent="0">
                  <a:spcBef>
                    <a:spcPts val="300"/>
                  </a:spcBef>
                  <a:buNone/>
                </a:pPr>
                <a:endParaRPr lang="ru-RU" sz="1600" dirty="0"/>
              </a:p>
              <a:p>
                <a:pPr>
                  <a:spcBef>
                    <a:spcPts val="300"/>
                  </a:spcBef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F1266FE-6AE5-4724-A6A5-1CAA9035F4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250" y="801207"/>
                <a:ext cx="8895300" cy="2988014"/>
              </a:xfrm>
              <a:blipFill>
                <a:blip r:embed="rId2"/>
                <a:stretch>
                  <a:fillRect b="-27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DD33FD-772B-466B-B824-6734F5B85C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5">
                <a:extLst>
                  <a:ext uri="{FF2B5EF4-FFF2-40B4-BE49-F238E27FC236}">
                    <a16:creationId xmlns:a16="http://schemas.microsoft.com/office/drawing/2014/main" id="{40971066-156D-42C7-BF18-39DB51A4B9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706613"/>
                  </p:ext>
                </p:extLst>
              </p:nvPr>
            </p:nvGraphicFramePr>
            <p:xfrm>
              <a:off x="663573" y="1743377"/>
              <a:ext cx="8294686" cy="1447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95346">
                      <a:extLst>
                        <a:ext uri="{9D8B030D-6E8A-4147-A177-3AD203B41FA5}">
                          <a16:colId xmlns:a16="http://schemas.microsoft.com/office/drawing/2014/main" val="2206740224"/>
                        </a:ext>
                      </a:extLst>
                    </a:gridCol>
                    <a:gridCol w="3288103">
                      <a:extLst>
                        <a:ext uri="{9D8B030D-6E8A-4147-A177-3AD203B41FA5}">
                          <a16:colId xmlns:a16="http://schemas.microsoft.com/office/drawing/2014/main" val="2830068348"/>
                        </a:ext>
                      </a:extLst>
                    </a:gridCol>
                    <a:gridCol w="3311237">
                      <a:extLst>
                        <a:ext uri="{9D8B030D-6E8A-4147-A177-3AD203B41FA5}">
                          <a16:colId xmlns:a16="http://schemas.microsoft.com/office/drawing/2014/main" val="1810231809"/>
                        </a:ext>
                      </a:extLst>
                    </a:gridCol>
                  </a:tblGrid>
                  <a:tr h="233795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Блок </a:t>
                          </a:r>
                          <a:r>
                            <a:rPr lang="ru-RU" sz="1300" dirty="0" err="1"/>
                            <a:t>откр</a:t>
                          </a:r>
                          <a:r>
                            <a:rPr lang="en-US" sz="1300" dirty="0"/>
                            <a:t>.</a:t>
                          </a:r>
                          <a:r>
                            <a:rPr lang="ru-RU" sz="1300" dirty="0"/>
                            <a:t> текста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8598546"/>
                      </a:ext>
                    </a:extLst>
                  </a:tr>
                  <a:tr h="233795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8813458"/>
                      </a:ext>
                    </a:extLst>
                  </a:tr>
                  <a:tr h="233795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Ψ</m:t>
                                    </m:r>
                                    <m:d>
                                      <m:dPr>
                                        <m:ctrl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3395432"/>
                      </a:ext>
                    </a:extLst>
                  </a:tr>
                  <a:tr h="233795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Ψ</m:t>
                                    </m:r>
                                    <m:d>
                                      <m:dPr>
                                        <m:ctrl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Ψ</m:t>
                                    </m:r>
                                    <m:d>
                                      <m:dPr>
                                        <m:ctrl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Ψ</m:t>
                                        </m:r>
                                        <m:d>
                                          <m:dPr>
                                            <m:ctrlPr>
                                              <a:rPr lang="el-GR" sz="130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1991965"/>
                      </a:ext>
                    </a:extLst>
                  </a:tr>
                  <a:tr h="233795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Блок </a:t>
                          </a:r>
                          <a:r>
                            <a:rPr lang="ru-RU" sz="1300" dirty="0" err="1"/>
                            <a:t>шифртекста</a:t>
                          </a:r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Ψ</m:t>
                                    </m:r>
                                    <m:d>
                                      <m:dPr>
                                        <m:ctrl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Ψ</m:t>
                                        </m:r>
                                        <m:d>
                                          <m:dPr>
                                            <m:ctrlPr>
                                              <a:rPr lang="el-GR" sz="130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3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3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Ψ</m:t>
                                    </m:r>
                                    <m:d>
                                      <m:dPr>
                                        <m:ctrlPr>
                                          <a:rPr lang="el-GR" sz="130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13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3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13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ru-RU" sz="13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44789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5">
                <a:extLst>
                  <a:ext uri="{FF2B5EF4-FFF2-40B4-BE49-F238E27FC236}">
                    <a16:creationId xmlns:a16="http://schemas.microsoft.com/office/drawing/2014/main" id="{40971066-156D-42C7-BF18-39DB51A4B9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706613"/>
                  </p:ext>
                </p:extLst>
              </p:nvPr>
            </p:nvGraphicFramePr>
            <p:xfrm>
              <a:off x="663573" y="1743377"/>
              <a:ext cx="8294686" cy="1447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95346">
                      <a:extLst>
                        <a:ext uri="{9D8B030D-6E8A-4147-A177-3AD203B41FA5}">
                          <a16:colId xmlns:a16="http://schemas.microsoft.com/office/drawing/2014/main" val="2206740224"/>
                        </a:ext>
                      </a:extLst>
                    </a:gridCol>
                    <a:gridCol w="3288103">
                      <a:extLst>
                        <a:ext uri="{9D8B030D-6E8A-4147-A177-3AD203B41FA5}">
                          <a16:colId xmlns:a16="http://schemas.microsoft.com/office/drawing/2014/main" val="2830068348"/>
                        </a:ext>
                      </a:extLst>
                    </a:gridCol>
                    <a:gridCol w="3311237">
                      <a:extLst>
                        <a:ext uri="{9D8B030D-6E8A-4147-A177-3AD203B41FA5}">
                          <a16:colId xmlns:a16="http://schemas.microsoft.com/office/drawing/2014/main" val="1810231809"/>
                        </a:ext>
                      </a:extLst>
                    </a:gridCol>
                  </a:tblGrid>
                  <a:tr h="289560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Блок </a:t>
                          </a:r>
                          <a:r>
                            <a:rPr lang="ru-RU" sz="1300" dirty="0" err="1"/>
                            <a:t>откр</a:t>
                          </a:r>
                          <a:r>
                            <a:rPr lang="en-US" sz="1300" dirty="0"/>
                            <a:t>.</a:t>
                          </a:r>
                          <a:r>
                            <a:rPr lang="ru-RU" sz="1300" dirty="0"/>
                            <a:t> текста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1667" t="-2083" r="-101111" b="-41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50551" t="-2083" r="-368" b="-414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859854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1667" t="-102083" r="-101111" b="-31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50551" t="-102083" r="-368" b="-314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8813458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1667" t="-206383" r="-101111" b="-221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50551" t="-206383" r="-368" b="-221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3395432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Раунд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1667" t="-300000" r="-101111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50551" t="-300000" r="-368" b="-1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199196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ru-RU" sz="1300" dirty="0"/>
                            <a:t>Блок </a:t>
                          </a:r>
                          <a:r>
                            <a:rPr lang="ru-RU" sz="1300" dirty="0" err="1"/>
                            <a:t>шифртекста</a:t>
                          </a:r>
                          <a:endParaRPr lang="ru-RU" sz="13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1667" t="-400000" r="-10111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50551" t="-400000" r="-368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44789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5655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внимание.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45448051"/>
      </p:ext>
    </p:extLst>
  </p:cSld>
  <p:clrMapOvr>
    <a:masterClrMapping/>
  </p:clrMapOvr>
</p:sld>
</file>

<file path=ppt/theme/theme1.xml><?xml version="1.0" encoding="utf-8"?>
<a:theme xmlns:a="http://schemas.openxmlformats.org/drawingml/2006/main" name="HS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877</Words>
  <Application>Microsoft Office PowerPoint</Application>
  <PresentationFormat>Экран (16:9)</PresentationFormat>
  <Paragraphs>316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Cambria Math</vt:lpstr>
      <vt:lpstr>Ubuntu</vt:lpstr>
      <vt:lpstr>HSE Template</vt:lpstr>
      <vt:lpstr>  Криптографические методы защиты информации  Лекция 5</vt:lpstr>
      <vt:lpstr>Исторические шифры</vt:lpstr>
      <vt:lpstr>Краткая история</vt:lpstr>
      <vt:lpstr>Классификация исторических шифров</vt:lpstr>
      <vt:lpstr>Подстановочные шифры: шифр простой замены</vt:lpstr>
      <vt:lpstr>Подстановочные шифры: аффинный шифр</vt:lpstr>
      <vt:lpstr>Перестановочные шифры: блочный перестановочный шифр</vt:lpstr>
      <vt:lpstr>Блочные шифры: шифр Хилла</vt:lpstr>
      <vt:lpstr>Шифры гаммирования</vt:lpstr>
      <vt:lpstr>Современные симметричные шифры</vt:lpstr>
      <vt:lpstr>Современное симметричное шифрование</vt:lpstr>
      <vt:lpstr>Классификация симметричных шифров</vt:lpstr>
      <vt:lpstr>Российские стандарты симметричного шифрования</vt:lpstr>
      <vt:lpstr>Межгосударственные стандарты симметричного шифрования</vt:lpstr>
      <vt:lpstr>Зарубежные стандарты симметричного шифрования</vt:lpstr>
      <vt:lpstr>ГОСТ 28147-89</vt:lpstr>
      <vt:lpstr>ГОСТ 28147-89: общее описание </vt:lpstr>
      <vt:lpstr>ГОСТ 28147-89: режимы работы</vt:lpstr>
      <vt:lpstr>ГОСТ 28147-89: основные обозначения</vt:lpstr>
      <vt:lpstr>ГОСТ 28147-89: схема шифрования</vt:lpstr>
      <vt:lpstr>ГОСТ 28147-89: обратимость схемы шифрования</vt:lpstr>
      <vt:lpstr>Спасибо за внимание.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проектной работы</dc:title>
  <dc:creator>Олег</dc:creator>
  <cp:lastModifiedBy>bossua</cp:lastModifiedBy>
  <cp:revision>145</cp:revision>
  <cp:lastPrinted>2020-01-14T10:27:06Z</cp:lastPrinted>
  <dcterms:modified xsi:type="dcterms:W3CDTF">2021-08-11T14:58:54Z</dcterms:modified>
</cp:coreProperties>
</file>