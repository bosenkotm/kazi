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34"/>
  </p:notesMasterIdLst>
  <p:sldIdLst>
    <p:sldId id="256" r:id="rId2"/>
    <p:sldId id="314" r:id="rId3"/>
    <p:sldId id="327" r:id="rId4"/>
    <p:sldId id="310" r:id="rId5"/>
    <p:sldId id="323" r:id="rId6"/>
    <p:sldId id="324" r:id="rId7"/>
    <p:sldId id="325" r:id="rId8"/>
    <p:sldId id="326" r:id="rId9"/>
    <p:sldId id="315" r:id="rId10"/>
    <p:sldId id="316" r:id="rId11"/>
    <p:sldId id="328" r:id="rId12"/>
    <p:sldId id="329" r:id="rId13"/>
    <p:sldId id="330" r:id="rId14"/>
    <p:sldId id="331" r:id="rId15"/>
    <p:sldId id="317" r:id="rId16"/>
    <p:sldId id="318" r:id="rId17"/>
    <p:sldId id="332" r:id="rId18"/>
    <p:sldId id="333" r:id="rId19"/>
    <p:sldId id="334" r:id="rId20"/>
    <p:sldId id="319" r:id="rId21"/>
    <p:sldId id="320" r:id="rId22"/>
    <p:sldId id="335" r:id="rId23"/>
    <p:sldId id="336" r:id="rId24"/>
    <p:sldId id="337" r:id="rId25"/>
    <p:sldId id="339" r:id="rId26"/>
    <p:sldId id="338" r:id="rId27"/>
    <p:sldId id="321" r:id="rId28"/>
    <p:sldId id="322" r:id="rId29"/>
    <p:sldId id="340" r:id="rId30"/>
    <p:sldId id="341" r:id="rId31"/>
    <p:sldId id="342" r:id="rId32"/>
    <p:sldId id="275" r:id="rId33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5"/>
    </p:embeddedFont>
    <p:embeddedFont>
      <p:font typeface="Calibri" panose="020F0502020204030204" pitchFamily="34" charset="0"/>
      <p:regular r:id="rId36"/>
      <p:bold r:id="rId37"/>
      <p:italic r:id="rId38"/>
      <p:boldItalic r:id="rId39"/>
    </p:embeddedFont>
    <p:embeddedFont>
      <p:font typeface="Ubuntu" panose="020B060402020202020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9CF3CA-9ADA-48EB-A27D-F1E7388D53D2}">
  <a:tblStyle styleId="{7C9CF3CA-9ADA-48EB-A27D-F1E7388D53D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53" autoAdjust="0"/>
    <p:restoredTop sz="94660"/>
  </p:normalViewPr>
  <p:slideViewPr>
    <p:cSldViewPr snapToGrid="0">
      <p:cViewPr varScale="1">
        <p:scale>
          <a:sx n="92" d="100"/>
          <a:sy n="92" d="100"/>
        </p:scale>
        <p:origin x="93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1509700"/>
            <a:ext cx="8520600" cy="12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Ubuntu"/>
              <a:buNone/>
              <a:defRPr sz="30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Ubuntu"/>
              <a:buNone/>
              <a:defRPr sz="5200">
                <a:latin typeface="Ubuntu"/>
                <a:ea typeface="Ubuntu"/>
                <a:cs typeface="Ubuntu"/>
                <a:sym typeface="Ubuntu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Ubuntu"/>
              <a:buNone/>
              <a:defRPr sz="5200">
                <a:latin typeface="Ubuntu"/>
                <a:ea typeface="Ubuntu"/>
                <a:cs typeface="Ubuntu"/>
                <a:sym typeface="Ubuntu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Ubuntu"/>
              <a:buNone/>
              <a:defRPr sz="5200">
                <a:latin typeface="Ubuntu"/>
                <a:ea typeface="Ubuntu"/>
                <a:cs typeface="Ubuntu"/>
                <a:sym typeface="Ubuntu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Ubuntu"/>
              <a:buNone/>
              <a:defRPr sz="5200">
                <a:latin typeface="Ubuntu"/>
                <a:ea typeface="Ubuntu"/>
                <a:cs typeface="Ubuntu"/>
                <a:sym typeface="Ubuntu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Ubuntu"/>
              <a:buNone/>
              <a:defRPr sz="5200">
                <a:latin typeface="Ubuntu"/>
                <a:ea typeface="Ubuntu"/>
                <a:cs typeface="Ubuntu"/>
                <a:sym typeface="Ubuntu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Ubuntu"/>
              <a:buNone/>
              <a:defRPr sz="5200">
                <a:latin typeface="Ubuntu"/>
                <a:ea typeface="Ubuntu"/>
                <a:cs typeface="Ubuntu"/>
                <a:sym typeface="Ubuntu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Ubuntu"/>
              <a:buNone/>
              <a:defRPr sz="5200">
                <a:latin typeface="Ubuntu"/>
                <a:ea typeface="Ubuntu"/>
                <a:cs typeface="Ubuntu"/>
                <a:sym typeface="Ubuntu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Ubuntu"/>
              <a:buNone/>
              <a:defRPr sz="5200"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215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4812175"/>
            <a:ext cx="9152700" cy="331200"/>
          </a:xfrm>
          <a:prstGeom prst="rect">
            <a:avLst/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 smtClean="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МГПУ, </a:t>
            </a:r>
            <a:r>
              <a:rPr lang="ru-RU" sz="1000" dirty="0" smtClean="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2021</a:t>
            </a:r>
            <a:endParaRPr lang="ru-RU" sz="1000" dirty="0">
              <a:solidFill>
                <a:srgbClr val="FFFFFF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5" name="Скругленный прямоугольник 4"/>
          <p:cNvSpPr/>
          <p:nvPr userDrawn="1"/>
        </p:nvSpPr>
        <p:spPr>
          <a:xfrm>
            <a:off x="-152400" y="0"/>
            <a:ext cx="9442450" cy="127189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36886" y="46199"/>
            <a:ext cx="1270227" cy="11794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●"/>
              <a:defRPr sz="1400">
                <a:latin typeface="Ubuntu"/>
                <a:ea typeface="Ubuntu"/>
                <a:cs typeface="Ubuntu"/>
                <a:sym typeface="Ubuntu"/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○"/>
              <a:defRPr sz="1200">
                <a:latin typeface="Ubuntu"/>
                <a:ea typeface="Ubuntu"/>
                <a:cs typeface="Ubuntu"/>
                <a:sym typeface="Ubuntu"/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■"/>
              <a:defRPr sz="1200">
                <a:latin typeface="Ubuntu"/>
                <a:ea typeface="Ubuntu"/>
                <a:cs typeface="Ubuntu"/>
                <a:sym typeface="Ubuntu"/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●"/>
              <a:defRPr sz="1200">
                <a:latin typeface="Ubuntu"/>
                <a:ea typeface="Ubuntu"/>
                <a:cs typeface="Ubuntu"/>
                <a:sym typeface="Ubuntu"/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○"/>
              <a:defRPr sz="1200">
                <a:latin typeface="Ubuntu"/>
                <a:ea typeface="Ubuntu"/>
                <a:cs typeface="Ubuntu"/>
                <a:sym typeface="Ubuntu"/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■"/>
              <a:defRPr sz="1200">
                <a:latin typeface="Ubuntu"/>
                <a:ea typeface="Ubuntu"/>
                <a:cs typeface="Ubuntu"/>
                <a:sym typeface="Ubuntu"/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●"/>
              <a:defRPr sz="1200">
                <a:latin typeface="Ubuntu"/>
                <a:ea typeface="Ubuntu"/>
                <a:cs typeface="Ubuntu"/>
                <a:sym typeface="Ubuntu"/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○"/>
              <a:defRPr sz="1200">
                <a:latin typeface="Ubuntu"/>
                <a:ea typeface="Ubuntu"/>
                <a:cs typeface="Ubuntu"/>
                <a:sym typeface="Ubuntu"/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Font typeface="Ubuntu"/>
              <a:buChar char="■"/>
              <a:defRPr sz="1200"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●"/>
              <a:defRPr sz="1400">
                <a:latin typeface="Ubuntu"/>
                <a:ea typeface="Ubuntu"/>
                <a:cs typeface="Ubuntu"/>
                <a:sym typeface="Ubuntu"/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○"/>
              <a:defRPr sz="1200">
                <a:latin typeface="Ubuntu"/>
                <a:ea typeface="Ubuntu"/>
                <a:cs typeface="Ubuntu"/>
                <a:sym typeface="Ubuntu"/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■"/>
              <a:defRPr sz="1200">
                <a:latin typeface="Ubuntu"/>
                <a:ea typeface="Ubuntu"/>
                <a:cs typeface="Ubuntu"/>
                <a:sym typeface="Ubuntu"/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●"/>
              <a:defRPr sz="1200">
                <a:latin typeface="Ubuntu"/>
                <a:ea typeface="Ubuntu"/>
                <a:cs typeface="Ubuntu"/>
                <a:sym typeface="Ubuntu"/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○"/>
              <a:defRPr sz="1200">
                <a:latin typeface="Ubuntu"/>
                <a:ea typeface="Ubuntu"/>
                <a:cs typeface="Ubuntu"/>
                <a:sym typeface="Ubuntu"/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■"/>
              <a:defRPr sz="1200">
                <a:latin typeface="Ubuntu"/>
                <a:ea typeface="Ubuntu"/>
                <a:cs typeface="Ubuntu"/>
                <a:sym typeface="Ubuntu"/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●"/>
              <a:defRPr sz="1200">
                <a:latin typeface="Ubuntu"/>
                <a:ea typeface="Ubuntu"/>
                <a:cs typeface="Ubuntu"/>
                <a:sym typeface="Ubuntu"/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○"/>
              <a:defRPr sz="1200">
                <a:latin typeface="Ubuntu"/>
                <a:ea typeface="Ubuntu"/>
                <a:cs typeface="Ubuntu"/>
                <a:sym typeface="Ubuntu"/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Font typeface="Ubuntu"/>
              <a:buChar char="■"/>
              <a:defRPr sz="1200"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1089400" y="0"/>
            <a:ext cx="8054700" cy="6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548650" y="4846498"/>
            <a:ext cx="548700" cy="28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1089400" y="0"/>
            <a:ext cx="8054700" cy="6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548650" y="4846498"/>
            <a:ext cx="548700" cy="28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1089400" y="0"/>
            <a:ext cx="8054700" cy="6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37250" y="863550"/>
            <a:ext cx="8895300" cy="398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Ubuntu"/>
              <a:buChar char="●"/>
              <a:defRPr>
                <a:latin typeface="Ubuntu"/>
                <a:ea typeface="Ubuntu"/>
                <a:cs typeface="Ubuntu"/>
                <a:sym typeface="Ubuntu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Font typeface="Ubuntu"/>
              <a:buChar char="○"/>
              <a:defRPr>
                <a:latin typeface="Ubuntu"/>
                <a:ea typeface="Ubuntu"/>
                <a:cs typeface="Ubuntu"/>
                <a:sym typeface="Ubuntu"/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Font typeface="Ubuntu"/>
              <a:buChar char="■"/>
              <a:defRPr>
                <a:latin typeface="Ubuntu"/>
                <a:ea typeface="Ubuntu"/>
                <a:cs typeface="Ubuntu"/>
                <a:sym typeface="Ubuntu"/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Font typeface="Ubuntu"/>
              <a:buChar char="●"/>
              <a:defRPr>
                <a:latin typeface="Ubuntu"/>
                <a:ea typeface="Ubuntu"/>
                <a:cs typeface="Ubuntu"/>
                <a:sym typeface="Ubuntu"/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Font typeface="Ubuntu"/>
              <a:buChar char="○"/>
              <a:defRPr>
                <a:latin typeface="Ubuntu"/>
                <a:ea typeface="Ubuntu"/>
                <a:cs typeface="Ubuntu"/>
                <a:sym typeface="Ubuntu"/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Font typeface="Ubuntu"/>
              <a:buChar char="■"/>
              <a:defRPr>
                <a:latin typeface="Ubuntu"/>
                <a:ea typeface="Ubuntu"/>
                <a:cs typeface="Ubuntu"/>
                <a:sym typeface="Ubuntu"/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Font typeface="Ubuntu"/>
              <a:buChar char="●"/>
              <a:defRPr>
                <a:latin typeface="Ubuntu"/>
                <a:ea typeface="Ubuntu"/>
                <a:cs typeface="Ubuntu"/>
                <a:sym typeface="Ubuntu"/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Font typeface="Ubuntu"/>
              <a:buChar char="○"/>
              <a:defRPr>
                <a:latin typeface="Ubuntu"/>
                <a:ea typeface="Ubuntu"/>
                <a:cs typeface="Ubuntu"/>
                <a:sym typeface="Ubuntu"/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Font typeface="Ubuntu"/>
              <a:buChar char="■"/>
              <a:defRPr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548650" y="4846498"/>
            <a:ext cx="548700" cy="28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59087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78050" y="0"/>
            <a:ext cx="8019300" cy="6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Ubuntu"/>
              <a:buChar char="●"/>
              <a:defRPr sz="1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○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■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●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○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■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●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○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Ubuntu"/>
              <a:buChar char="■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8650" y="4846498"/>
            <a:ext cx="548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/>
            </a:lvl1pPr>
            <a:lvl2pPr lvl="1" algn="r" rtl="0">
              <a:buNone/>
              <a:defRPr/>
            </a:lvl2pPr>
            <a:lvl3pPr lvl="2" algn="r" rtl="0">
              <a:buNone/>
              <a:defRPr/>
            </a:lvl3pPr>
            <a:lvl4pPr lvl="3" algn="r" rtl="0">
              <a:buNone/>
              <a:defRPr/>
            </a:lvl4pPr>
            <a:lvl5pPr lvl="4" algn="r" rtl="0">
              <a:buNone/>
              <a:defRPr/>
            </a:lvl5pPr>
            <a:lvl6pPr lvl="5" algn="r" rtl="0">
              <a:buNone/>
              <a:defRPr/>
            </a:lvl6pPr>
            <a:lvl7pPr lvl="6" algn="r" rtl="0">
              <a:buNone/>
              <a:defRPr/>
            </a:lvl7pPr>
            <a:lvl8pPr lvl="7" algn="r" rtl="0">
              <a:buNone/>
              <a:defRPr/>
            </a:lvl8pPr>
            <a:lvl9pPr lvl="8" algn="r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5" name="Рисунок 6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90600" cy="665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4" r:id="rId4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ctrTitle"/>
          </p:nvPr>
        </p:nvSpPr>
        <p:spPr>
          <a:xfrm>
            <a:off x="311700" y="1371600"/>
            <a:ext cx="8520600" cy="1966026"/>
          </a:xfrm>
        </p:spPr>
        <p:txBody>
          <a:bodyPr/>
          <a:lstStyle/>
          <a:p>
            <a:pPr lvl="0"/>
            <a:r>
              <a:rPr lang="ru-RU" sz="2000" b="1" dirty="0"/>
              <a:t>Московский городской педагогический университет</a:t>
            </a:r>
            <a:br>
              <a:rPr lang="ru-RU" sz="2000" b="1" dirty="0"/>
            </a:br>
            <a:r>
              <a:rPr lang="ru-RU" sz="2000" b="1" dirty="0"/>
              <a:t>Департамент информатики, управления и технологий</a:t>
            </a:r>
            <a:br>
              <a:rPr lang="ru-RU" sz="2000" b="1" dirty="0"/>
            </a:br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/>
              <a:t>Криптографические методы защиты информации</a:t>
            </a:r>
            <a:br>
              <a:rPr lang="ru-RU" sz="2000" dirty="0"/>
            </a:br>
            <a:r>
              <a:rPr lang="ru-RU" sz="2000" dirty="0"/>
              <a:t/>
            </a:r>
            <a:br>
              <a:rPr lang="ru-RU" sz="2000" dirty="0"/>
            </a:br>
            <a:endParaRPr lang="ru-RU" sz="2000" dirty="0"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1"/>
          </p:nvPr>
        </p:nvSpPr>
        <p:spPr>
          <a:xfrm>
            <a:off x="311700" y="3575341"/>
            <a:ext cx="8520600" cy="792600"/>
          </a:xfrm>
        </p:spPr>
        <p:txBody>
          <a:bodyPr/>
          <a:lstStyle/>
          <a:p>
            <a:pPr lvl="0"/>
            <a:r>
              <a:rPr lang="ru-RU" sz="2000" dirty="0" smtClean="0">
                <a:solidFill>
                  <a:schemeClr val="tx1"/>
                </a:solidFill>
              </a:rPr>
              <a:t>Босенко Тимур Муртазович</a:t>
            </a:r>
            <a:endParaRPr lang="ru-RU" sz="2000" dirty="0">
              <a:solidFill>
                <a:schemeClr val="tx1"/>
              </a:solidFill>
            </a:endParaRPr>
          </a:p>
          <a:p>
            <a:pPr lvl="0"/>
            <a:r>
              <a:rPr lang="ru-RU" sz="2000" dirty="0">
                <a:solidFill>
                  <a:schemeClr val="tx1"/>
                </a:solidFill>
              </a:rPr>
              <a:t>доцент, канд. </a:t>
            </a:r>
            <a:r>
              <a:rPr lang="ru-RU" sz="2000" dirty="0" err="1">
                <a:solidFill>
                  <a:schemeClr val="tx1"/>
                </a:solidFill>
              </a:rPr>
              <a:t>техн</a:t>
            </a:r>
            <a:r>
              <a:rPr lang="ru-RU" sz="2000" dirty="0">
                <a:solidFill>
                  <a:schemeClr val="tx1"/>
                </a:solidFill>
              </a:rPr>
              <a:t>. наук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A431B8A2-B061-4A0E-9010-6DA4E704B1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Сравнения и системы сравнений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C7AF5FA7-3D2B-45FF-9C2B-853B101A12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9E9583-CD45-4692-B3D7-8781F38CA70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94725" y="4846638"/>
            <a:ext cx="549275" cy="28575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63981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68A363B2-05F6-47F2-A7AC-C7A191C8345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ru-RU" dirty="0"/>
                  <a:t>Свойства сравнений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ru-RU" sz="2400" b="0" i="0" u="none" strike="noStrike" baseline="0" dirty="0">
                    <a:latin typeface="Ubuntu" panose="020B0604020202020204" charset="0"/>
                  </a:rPr>
                  <a:t> </a:t>
                </a:r>
                <a:endParaRPr lang="ru-RU" dirty="0"/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68A363B2-05F6-47F2-A7AC-C7A191C834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211" t="-17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1055FA1C-8D83-4AB3-9A3A-8FD0CB95DF2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l"/>
                <a14:m>
                  <m:oMath xmlns:m="http://schemas.openxmlformats.org/officeDocument/2006/math"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ru-RU" sz="1700" b="0" i="0" u="none" strike="noStrike" baseline="0" dirty="0">
                    <a:latin typeface="Ubuntu" panose="020B0604020202020204" charset="0"/>
                  </a:rPr>
                  <a:t> тогда и только тогда, когда </a:t>
                </a:r>
                <a14:m>
                  <m:oMath xmlns:m="http://schemas.openxmlformats.org/officeDocument/2006/math">
                    <m:r>
                      <a:rPr lang="ru-RU" sz="1700" b="0" i="1" u="none" strike="noStrike" baseline="0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sz="1700" b="0" i="1" u="none" strike="noStrike" baseline="0" dirty="0">
                    <a:latin typeface="Ubuntu" panose="020B0604020202020204" charset="0"/>
                  </a:rPr>
                  <a:t> </a:t>
                </a:r>
                <a:r>
                  <a:rPr lang="ru-RU" sz="1700" b="0" i="0" u="none" strike="noStrike" baseline="0" dirty="0">
                    <a:latin typeface="Ubuntu" panose="020B0604020202020204" charset="0"/>
                  </a:rPr>
                  <a:t>и </a:t>
                </a:r>
                <a14:m>
                  <m:oMath xmlns:m="http://schemas.openxmlformats.org/officeDocument/2006/math">
                    <m:r>
                      <a:rPr lang="ru-RU" sz="1700" b="0" i="1" u="none" strike="noStrike" baseline="0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sz="1700" b="0" i="1" u="none" strike="noStrike" baseline="0" dirty="0">
                    <a:latin typeface="Ubuntu" panose="020B0604020202020204" charset="0"/>
                  </a:rPr>
                  <a:t> </a:t>
                </a:r>
                <a:r>
                  <a:rPr lang="ru-RU" sz="1700" b="0" i="0" u="none" strike="noStrike" baseline="0" dirty="0">
                    <a:latin typeface="Ubuntu" panose="020B0604020202020204" charset="0"/>
                  </a:rPr>
                  <a:t>имеют одинаковые остатки от деления на </a:t>
                </a:r>
                <a14:m>
                  <m:oMath xmlns:m="http://schemas.openxmlformats.org/officeDocument/2006/math">
                    <m:r>
                      <a:rPr lang="ru-RU" sz="1700" b="0" i="1" u="none" strike="noStrike" baseline="0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700" dirty="0">
                    <a:latin typeface="Ubuntu" panose="020B0604020202020204" charset="0"/>
                  </a:rPr>
                  <a:t>.</a:t>
                </a:r>
                <a:endParaRPr lang="ru-RU" sz="1700" b="0" i="0" u="none" strike="noStrike" baseline="0" dirty="0">
                  <a:latin typeface="Ubuntu" panose="020B0604020202020204" charset="0"/>
                </a:endParaRPr>
              </a:p>
              <a:p>
                <a:r>
                  <a:rPr lang="ru-RU" sz="1700" dirty="0">
                    <a:latin typeface="Ubuntu" panose="020B0604020202020204" charset="0"/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ru-RU" sz="1700" b="0" i="0" u="none" strike="noStrike" baseline="0" dirty="0">
                    <a:latin typeface="Ubuntu" panose="020B0604020202020204" charset="0"/>
                  </a:rPr>
                  <a:t>, то для </a:t>
                </a:r>
                <a14:m>
                  <m:oMath xmlns:m="http://schemas.openxmlformats.org/officeDocument/2006/math">
                    <m:r>
                      <a:rPr lang="ru-RU" sz="1700" b="0" i="1" u="none" strike="noStrike" baseline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ru-RU" sz="1700" b="0" i="1" u="none" strike="noStrike" baseline="0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1700" b="0" i="1" u="none" strike="noStrike" baseline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ru-RU" sz="1700" b="0" i="1" u="none" strike="noStrike" baseline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da-DK" sz="1700" b="0" i="1" u="none" strike="noStrike" baseline="0" dirty="0">
                    <a:latin typeface="Ubuntu" panose="020B0604020202020204" charset="0"/>
                  </a:rPr>
                  <a:t> </a:t>
                </a:r>
                <a:r>
                  <a:rPr lang="ru-RU" sz="1700" b="0" u="none" strike="noStrike" baseline="0" dirty="0">
                    <a:latin typeface="Ubuntu" panose="020B0604020202020204" charset="0"/>
                  </a:rPr>
                  <a:t>имеем </a:t>
                </a:r>
                <a14:m>
                  <m:oMath xmlns:m="http://schemas.openxmlformats.org/officeDocument/2006/math"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ru-RU" sz="1700" b="0" i="0" u="none" strike="noStrike" baseline="0" dirty="0">
                    <a:latin typeface="Ubuntu" panose="020B0604020202020204" charset="0"/>
                  </a:rPr>
                  <a:t>.</a:t>
                </a:r>
                <a:endParaRPr lang="da-DK" sz="1700" b="0" i="0" u="none" strike="noStrike" baseline="0" dirty="0">
                  <a:latin typeface="Ubuntu" panose="020B0604020202020204" charset="0"/>
                </a:endParaRPr>
              </a:p>
              <a:p>
                <a:r>
                  <a:rPr lang="ru-RU" sz="1700" b="0" u="none" strike="noStrike" baseline="0" dirty="0">
                    <a:latin typeface="Ubuntu" panose="020B0604020202020204" charset="0"/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1700" b="0" i="0" u="none" strike="noStrike" baseline="0" dirty="0">
                    <a:latin typeface="Ubuntu" panose="020B0604020202020204" charset="0"/>
                  </a:rPr>
                  <a:t> </a:t>
                </a:r>
                <a:r>
                  <a:rPr lang="ru-RU" sz="1700" b="0" i="0" u="none" strike="noStrike" baseline="0" dirty="0">
                    <a:latin typeface="Ubuntu" panose="020B0604020202020204" charset="0"/>
                  </a:rPr>
                  <a:t>и </a:t>
                </a:r>
                <a14:m>
                  <m:oMath xmlns:m="http://schemas.openxmlformats.org/officeDocument/2006/math">
                    <m:r>
                      <a:rPr lang="ru-RU" sz="1700" b="0" i="1" u="none" strike="noStrike" baseline="0" dirty="0" smtClean="0">
                        <a:latin typeface="Cambria Math" panose="02040503050406030204" pitchFamily="18" charset="0"/>
                      </a:rPr>
                      <m:t>НОД(</m:t>
                    </m:r>
                    <m:r>
                      <a:rPr lang="en-US" sz="1700" b="0" i="1" u="none" strike="noStrike" baseline="0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700" b="0" i="1" u="none" strike="noStrike" baseline="0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700" b="0" i="1" u="none" strike="noStrike" baseline="0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700" b="0" i="1" u="none" strike="noStrike" baseline="0" dirty="0" smtClean="0">
                        <a:latin typeface="Cambria Math" panose="02040503050406030204" pitchFamily="18" charset="0"/>
                      </a:rPr>
                      <m:t>) =1</m:t>
                    </m:r>
                  </m:oMath>
                </a14:m>
                <a:r>
                  <a:rPr lang="en-US" sz="1700" b="0" i="0" u="none" strike="noStrike" baseline="0" dirty="0">
                    <a:latin typeface="Ubuntu" panose="020B0604020202020204" charset="0"/>
                  </a:rPr>
                  <a:t>, </a:t>
                </a:r>
                <a:r>
                  <a:rPr lang="ru-RU" sz="1700" b="0" i="0" u="none" strike="noStrike" baseline="0" dirty="0">
                    <a:latin typeface="Ubuntu" panose="020B0604020202020204" charset="0"/>
                  </a:rPr>
                  <a:t>то 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ru-RU" sz="1700" b="0" i="0" u="none" strike="noStrike" baseline="0" dirty="0">
                    <a:latin typeface="Ubuntu" panose="020B0604020202020204" charset="0"/>
                  </a:rPr>
                  <a:t>.</a:t>
                </a:r>
                <a:endParaRPr lang="en-US" sz="1700" b="0" i="0" u="none" strike="noStrike" baseline="0" dirty="0">
                  <a:latin typeface="Ubuntu" panose="020B0604020202020204" charset="0"/>
                </a:endParaRPr>
              </a:p>
              <a:p>
                <a:r>
                  <a:rPr lang="ru-RU" sz="1700" dirty="0">
                    <a:latin typeface="Ubuntu" panose="020B0604020202020204" charset="0"/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ru-RU" sz="1700" b="0" i="0" u="none" strike="noStrike" baseline="0" dirty="0">
                    <a:latin typeface="Ubuntu" panose="020B0604020202020204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sz="17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17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ru-RU" sz="17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ru-RU" sz="1700" b="0" i="0" u="none" strike="noStrike" baseline="0" dirty="0">
                    <a:latin typeface="Ubuntu" panose="020B0604020202020204" charset="0"/>
                  </a:rPr>
                  <a:t>, </a:t>
                </a:r>
                <a:r>
                  <a:rPr lang="da-DK" sz="1700" b="0" i="0" u="none" strike="noStrike" baseline="0" dirty="0">
                    <a:latin typeface="Ubuntu" panose="020B0604020202020204" charset="0"/>
                  </a:rPr>
                  <a:t>то 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𝑘𝑎</m:t>
                    </m:r>
                    <m: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𝑘𝑏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ru-RU" sz="1700" b="0" i="0" u="none" strike="noStrike" baseline="0" dirty="0">
                    <a:latin typeface="Ubuntu" panose="020B0604020202020204" charset="0"/>
                  </a:rPr>
                  <a:t>.</a:t>
                </a:r>
                <a:endParaRPr lang="da-DK" sz="1700" b="0" i="0" u="none" strike="noStrike" baseline="0" dirty="0">
                  <a:latin typeface="Ubuntu" panose="020B0604020202020204" charset="0"/>
                </a:endParaRPr>
              </a:p>
              <a:p>
                <a:r>
                  <a:rPr lang="ru-RU" sz="1700" dirty="0">
                    <a:latin typeface="Ubuntu" panose="020B0604020202020204" charset="0"/>
                  </a:rPr>
                  <a:t>Е</a:t>
                </a:r>
                <a:r>
                  <a:rPr lang="ru-RU" sz="1700" b="0" i="0" u="none" strike="noStrike" baseline="0" dirty="0">
                    <a:latin typeface="Ubuntu" panose="020B0604020202020204" charset="0"/>
                  </a:rPr>
                  <a:t>сли </a:t>
                </a:r>
                <a14:m>
                  <m:oMath xmlns:m="http://schemas.openxmlformats.org/officeDocument/2006/math">
                    <m:r>
                      <a:rPr lang="en-US" sz="1700" i="1" smtClean="0">
                        <a:latin typeface="Cambria Math" panose="02040503050406030204" pitchFamily="18" charset="0"/>
                      </a:rPr>
                      <m:t>𝑘𝑎</m:t>
                    </m:r>
                    <m: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𝑘𝑏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ru-RU" sz="1700" b="0" i="0" u="none" strike="noStrike" baseline="0" dirty="0">
                    <a:latin typeface="Ubuntu" panose="020B0604020202020204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sz="17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17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7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ru-RU" sz="17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ru-RU" sz="17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ru-RU" sz="1700" b="0" i="0" u="none" strike="noStrike" baseline="0" dirty="0">
                    <a:latin typeface="Ubuntu" panose="020B0604020202020204" charset="0"/>
                  </a:rPr>
                  <a:t>, то 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17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sz="1700" b="0" i="0" u="none" strike="noStrike" baseline="0" dirty="0">
                  <a:latin typeface="Ubuntu" panose="020B0604020202020204" charset="0"/>
                </a:endParaRPr>
              </a:p>
              <a:p>
                <a:r>
                  <a:rPr lang="ru-RU" sz="1700" dirty="0">
                    <a:latin typeface="Ubuntu" panose="020B0604020202020204" charset="0"/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ru-RU" sz="1700" b="0" i="0" u="none" strike="noStrike" baseline="0" dirty="0">
                    <a:latin typeface="Ubuntu" panose="020B0604020202020204" charset="0"/>
                  </a:rPr>
                  <a:t> и</a:t>
                </a:r>
                <a:r>
                  <a:rPr lang="en-US" sz="1700" b="0" i="0" u="none" strike="noStrike" baseline="0" dirty="0">
                    <a:latin typeface="Ubuntu" panose="020B060402020202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da-DK" sz="1700" b="0" i="0" u="none" strike="noStrike" baseline="0" dirty="0">
                    <a:latin typeface="Ubuntu" panose="020B0604020202020204" charset="0"/>
                  </a:rPr>
                  <a:t>, то 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17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a-DK" sz="1700" b="0" i="0" u="none" strike="noStrike" baseline="0" dirty="0">
                    <a:latin typeface="Ubuntu" panose="020B0604020202020204" charset="0"/>
                  </a:rPr>
                  <a:t>и</a:t>
                </a:r>
                <a:br>
                  <a:rPr lang="da-DK" sz="1700" b="0" i="0" u="none" strike="noStrike" baseline="0" dirty="0">
                    <a:latin typeface="Ubuntu" panose="020B0604020202020204" charset="0"/>
                  </a:rPr>
                </a:b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da-DK" sz="1700" b="0" i="0" u="none" strike="noStrike" baseline="0" dirty="0">
                    <a:latin typeface="Ubuntu" panose="020B0604020202020204" charset="0"/>
                  </a:rPr>
                  <a:t>.</a:t>
                </a:r>
              </a:p>
              <a:p>
                <a:pPr algn="l"/>
                <a:r>
                  <a:rPr lang="ru-RU" sz="1700" dirty="0">
                    <a:latin typeface="Ubuntu" panose="020B0604020202020204" charset="0"/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ru-RU" sz="1700" b="0" i="0" u="none" strike="noStrike" baseline="0" dirty="0">
                    <a:latin typeface="Ubuntu" panose="020B0604020202020204" charset="0"/>
                  </a:rPr>
                  <a:t> и</a:t>
                </a:r>
                <a:r>
                  <a:rPr lang="en-US" sz="1700" b="0" i="0" u="none" strike="noStrike" baseline="0" dirty="0">
                    <a:latin typeface="Ubuntu" panose="020B060402020202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da-DK" sz="1700" b="0" i="0" u="none" strike="noStrike" baseline="0" dirty="0">
                    <a:latin typeface="Ubuntu" panose="020B0604020202020204" charset="0"/>
                  </a:rPr>
                  <a:t>, то 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ru-RU" sz="1700" b="0" i="0" u="none" strike="noStrike" baseline="0" dirty="0">
                    <a:latin typeface="Ubuntu" panose="020B0604020202020204" charset="0"/>
                  </a:rPr>
                  <a:t>.</a:t>
                </a:r>
                <a:endParaRPr lang="en-US" sz="1700" b="0" i="0" u="none" strike="noStrike" baseline="0" dirty="0">
                  <a:latin typeface="Ubuntu" panose="020B0604020202020204" charset="0"/>
                </a:endParaRPr>
              </a:p>
              <a:p>
                <a:r>
                  <a:rPr lang="ru-RU" sz="1700" dirty="0">
                    <a:latin typeface="Ubuntu" panose="020B0604020202020204" charset="0"/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ru-RU" sz="1700" b="0" i="0" u="none" strike="noStrike" baseline="0" dirty="0">
                    <a:latin typeface="Ubuntu" panose="020B0604020202020204" charset="0"/>
                  </a:rPr>
                  <a:t>, то для любого целого </a:t>
                </a:r>
                <a14:m>
                  <m:oMath xmlns:m="http://schemas.openxmlformats.org/officeDocument/2006/math">
                    <m:r>
                      <a:rPr lang="ru-RU" sz="1700" b="0" i="1" u="none" strike="noStrike" baseline="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1700" b="0" i="1" u="none" strike="noStrike" baseline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ru-RU" sz="1700" b="0" i="1" u="none" strike="noStrike" baseline="0" dirty="0" smtClean="0">
                        <a:latin typeface="Cambria Math" panose="02040503050406030204" pitchFamily="18" charset="0"/>
                      </a:rPr>
                      <m:t>0 </m:t>
                    </m:r>
                  </m:oMath>
                </a14:m>
                <a:r>
                  <a:rPr lang="ru-RU" sz="1700" b="0" i="1" u="none" strike="noStrike" baseline="0" dirty="0">
                    <a:latin typeface="Ubuntu" panose="020B0604020202020204" charset="0"/>
                  </a:rPr>
                  <a:t>имеем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sz="1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7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ru-RU" sz="1700" b="0" i="0" u="none" strike="noStrike" baseline="0" dirty="0">
                    <a:latin typeface="Ubuntu" panose="020B0604020202020204" charset="0"/>
                  </a:rPr>
                  <a:t>.</a:t>
                </a:r>
              </a:p>
              <a:p>
                <a:r>
                  <a:rPr lang="ru-RU" sz="1700" dirty="0">
                    <a:latin typeface="Ubuntu" panose="020B0604020202020204" charset="0"/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1700" b="0" i="0" u="none" strike="noStrike" baseline="0" dirty="0">
                    <a:latin typeface="Ubuntu" panose="020B0604020202020204" charset="0"/>
                  </a:rPr>
                  <a:t> </a:t>
                </a:r>
                <a:r>
                  <a:rPr lang="ru-RU" sz="1700" b="0" i="0" u="none" strike="noStrike" baseline="0" dirty="0">
                    <a:latin typeface="Ubuntu" panose="020B0604020202020204" charset="0"/>
                  </a:rPr>
                  <a:t>и </a:t>
                </a:r>
                <a14:m>
                  <m:oMath xmlns:m="http://schemas.openxmlformats.org/officeDocument/2006/math">
                    <m:r>
                      <a:rPr lang="ru-RU" sz="1700" b="0" i="1" u="none" strike="noStrike" baseline="0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700" b="0" i="1" u="none" strike="noStrike" baseline="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ru-RU" sz="1700" b="0" i="1" u="none" strike="noStrike" baseline="0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sz="1700" b="0" i="0" u="none" strike="noStrike" baseline="0" dirty="0">
                    <a:latin typeface="Ubuntu" panose="020B0604020202020204" charset="0"/>
                  </a:rPr>
                  <a:t>, то 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700" dirty="0">
                    <a:latin typeface="Ubuntu" panose="020B0604020202020204" charset="0"/>
                  </a:rPr>
                  <a:t>.</a:t>
                </a:r>
                <a:endParaRPr lang="ru-RU" sz="1700" b="0" i="0" u="none" strike="noStrike" baseline="0" dirty="0">
                  <a:latin typeface="Ubuntu" panose="020B0604020202020204" charset="0"/>
                </a:endParaRPr>
              </a:p>
              <a:p>
                <a:pPr algn="l"/>
                <a:r>
                  <a:rPr lang="ru-RU" sz="1700" dirty="0">
                    <a:latin typeface="Ubuntu" panose="020B0604020202020204" charset="0"/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ru-RU" sz="1700" b="0" i="0" u="none" strike="noStrike" baseline="0" dirty="0">
                    <a:latin typeface="Ubuntu" panose="020B0604020202020204" charset="0"/>
                  </a:rPr>
                  <a:t>, то множество общих делителей чисел</a:t>
                </a:r>
                <a:r>
                  <a:rPr lang="en-US" sz="1700" b="0" i="0" u="none" strike="noStrike" baseline="0" dirty="0">
                    <a:latin typeface="Ubuntu" panose="020B060402020202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700" b="0" i="1" u="none" strike="noStrike" baseline="0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sz="1700" b="0" i="1" u="none" strike="noStrike" baseline="0" dirty="0">
                    <a:latin typeface="Ubuntu" panose="020B0604020202020204" charset="0"/>
                  </a:rPr>
                  <a:t> </a:t>
                </a:r>
                <a:r>
                  <a:rPr lang="ru-RU" sz="1700" b="0" i="0" u="none" strike="noStrike" baseline="0" dirty="0">
                    <a:latin typeface="Ubuntu" panose="020B0604020202020204" charset="0"/>
                  </a:rPr>
                  <a:t>и </a:t>
                </a:r>
                <a14:m>
                  <m:oMath xmlns:m="http://schemas.openxmlformats.org/officeDocument/2006/math">
                    <m:r>
                      <a:rPr lang="ru-RU" sz="1700" b="0" i="1" u="none" strike="noStrike" baseline="0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sz="1700" b="0" i="1" u="none" strike="noStrike" baseline="0" dirty="0">
                    <a:latin typeface="Ubuntu" panose="020B0604020202020204" charset="0"/>
                  </a:rPr>
                  <a:t> </a:t>
                </a:r>
                <a:r>
                  <a:rPr lang="ru-RU" sz="1700" b="0" i="0" u="none" strike="noStrike" baseline="0" dirty="0">
                    <a:latin typeface="Ubuntu" panose="020B0604020202020204" charset="0"/>
                  </a:rPr>
                  <a:t>совпадает с множеством общих делителей </a:t>
                </a:r>
                <a14:m>
                  <m:oMath xmlns:m="http://schemas.openxmlformats.org/officeDocument/2006/math">
                    <m:r>
                      <a:rPr lang="ru-RU" sz="1700" b="0" i="1" u="none" strike="noStrike" baseline="0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sz="1700" b="0" i="1" u="none" strike="noStrike" baseline="0" dirty="0">
                    <a:latin typeface="Ubuntu" panose="020B0604020202020204" charset="0"/>
                  </a:rPr>
                  <a:t> </a:t>
                </a:r>
                <a:r>
                  <a:rPr lang="ru-RU" sz="1700" b="0" i="0" u="none" strike="noStrike" baseline="0" dirty="0">
                    <a:latin typeface="Ubuntu" panose="020B0604020202020204" charset="0"/>
                  </a:rPr>
                  <a:t>и </a:t>
                </a:r>
                <a14:m>
                  <m:oMath xmlns:m="http://schemas.openxmlformats.org/officeDocument/2006/math">
                    <m:r>
                      <a:rPr lang="ru-RU" sz="1700" b="0" i="1" u="none" strike="noStrike" baseline="0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sz="1700" b="0" i="0" u="none" strike="noStrike" baseline="0" dirty="0">
                    <a:latin typeface="Ubuntu" panose="020B0604020202020204" charset="0"/>
                  </a:rPr>
                  <a:t>, в частности </a:t>
                </a:r>
                <a14:m>
                  <m:oMath xmlns:m="http://schemas.openxmlformats.org/officeDocument/2006/math">
                    <m:r>
                      <a:rPr lang="ru-RU" sz="1700" b="0" i="1" u="none" strike="noStrike" baseline="0" dirty="0" smtClean="0">
                        <a:latin typeface="Cambria Math" panose="02040503050406030204" pitchFamily="18" charset="0"/>
                      </a:rPr>
                      <m:t>НОД(</m:t>
                    </m:r>
                    <m:r>
                      <a:rPr lang="ru-RU" sz="1700" b="0" i="1" u="none" strike="noStrike" baseline="0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sz="1700" b="0" i="1" u="none" strike="noStrike" baseline="0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1700" b="0" i="1" u="none" strike="noStrike" baseline="0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ru-RU" sz="1700" b="0" i="1" u="none" strike="noStrike" baseline="0" dirty="0" smtClean="0">
                        <a:latin typeface="Cambria Math" panose="02040503050406030204" pitchFamily="18" charset="0"/>
                      </a:rPr>
                      <m:t>) = НОД(</m:t>
                    </m:r>
                    <m:r>
                      <a:rPr lang="ru-RU" sz="1700" b="0" i="1" u="none" strike="noStrike" baseline="0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ru-RU" sz="1700" b="0" i="1" u="none" strike="noStrike" baseline="0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1700" b="0" i="1" u="none" strike="noStrike" baseline="0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ru-RU" sz="1700" b="0" i="1" u="none" strike="noStrike" baseline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700" dirty="0">
                    <a:latin typeface="Ubuntu" panose="020B0604020202020204" charset="0"/>
                  </a:rPr>
                  <a:t>.</a:t>
                </a:r>
                <a:endParaRPr lang="ru-RU" sz="1700" dirty="0">
                  <a:latin typeface="Ubuntu" panose="020B0604020202020204" charset="0"/>
                </a:endParaRPr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1055FA1C-8D83-4AB3-9A3A-8FD0CB95DF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b="-19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C49186-D9A4-4E7A-8A5B-7619E3CE71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3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4508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404F44-140D-4FF3-98D4-7857ED109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первой степени с одним неизвестным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7BFE8E81-F3CE-4735-A70F-BA92301DE68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ru-RU" sz="1600" u="sng" dirty="0"/>
                  <a:t>Сравнение первой степени с одним неизвестным</a:t>
                </a:r>
                <a:r>
                  <a:rPr lang="ru-RU" sz="1600" dirty="0"/>
                  <a:t>:</a:t>
                </a:r>
                <a:endParaRPr lang="en-US" sz="1600" dirty="0"/>
              </a:p>
              <a:p>
                <a:pPr marL="803275" lvl="1" indent="-206375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1600" dirty="0"/>
                  <a:t>.</a:t>
                </a:r>
                <a:endParaRPr lang="ru-RU" sz="1600" dirty="0"/>
              </a:p>
              <a:p>
                <a:pPr algn="just">
                  <a:spcBef>
                    <a:spcPts val="600"/>
                  </a:spcBef>
                </a:pPr>
                <a:r>
                  <a:rPr lang="ru-RU" sz="1600" dirty="0"/>
                  <a:t>Решение:</a:t>
                </a:r>
              </a:p>
              <a:p>
                <a:pPr marL="803275" lvl="1" indent="-206375" algn="just">
                  <a:spcBef>
                    <a:spcPts val="600"/>
                  </a:spcBef>
                </a:pPr>
                <a:r>
                  <a:rPr lang="ru-RU" sz="1600" dirty="0"/>
                  <a:t>если </a:t>
                </a:r>
                <a14:m>
                  <m:oMath xmlns:m="http://schemas.openxmlformats.org/officeDocument/2006/math">
                    <m:r>
                      <a:rPr lang="ru-RU" sz="1600" b="0" i="1" smtClean="0">
                        <a:latin typeface="Cambria Math" panose="02040503050406030204" pitchFamily="18" charset="0"/>
                      </a:rPr>
                      <m:t>НОД</m:t>
                    </m:r>
                    <m:d>
                      <m:dPr>
                        <m:ctrlPr>
                          <a:rPr lang="ru-RU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ru-RU" sz="1600" dirty="0"/>
                  <a:t>, то множеством решений является класс вычетов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1600" dirty="0"/>
                  <a:t>;</a:t>
                </a:r>
              </a:p>
              <a:p>
                <a:pPr marL="803275" lvl="1" indent="-206375" algn="just">
                  <a:spcBef>
                    <a:spcPts val="600"/>
                  </a:spcBef>
                </a:pPr>
                <a:r>
                  <a:rPr lang="ru-RU" sz="1600" dirty="0"/>
                  <a:t>если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НОД</m:t>
                    </m:r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16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и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ru-RU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600" dirty="0"/>
                  <a:t>,</a:t>
                </a:r>
                <a:r>
                  <a:rPr lang="ru-RU" sz="1600" dirty="0"/>
                  <a:t> то</a:t>
                </a:r>
                <a:r>
                  <a:rPr lang="en-US" sz="1600" dirty="0"/>
                  <a:t> </a:t>
                </a:r>
                <a:r>
                  <a:rPr lang="ru-RU" sz="1600" dirty="0"/>
                  <a:t>решений не существует;</a:t>
                </a:r>
              </a:p>
              <a:p>
                <a:pPr marL="803275" lvl="1" indent="-206375" algn="just">
                  <a:spcBef>
                    <a:spcPts val="600"/>
                  </a:spcBef>
                </a:pPr>
                <a:r>
                  <a:rPr lang="ru-RU" sz="1600" dirty="0"/>
                  <a:t>если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НОД</m:t>
                    </m:r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16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и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600" dirty="0"/>
                  <a:t>, </a:t>
                </a:r>
                <a:r>
                  <a:rPr lang="ru-RU" sz="1600" dirty="0"/>
                  <a:t>то множеством решений являются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ru-RU" sz="1600" dirty="0"/>
                  <a:t> классов вычетов по модулю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600" dirty="0"/>
                  <a:t>, </a:t>
                </a:r>
                <a:r>
                  <a:rPr lang="ru-RU" sz="1600" dirty="0"/>
                  <a:t>образующих один класс вычетов по модулю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1600" b="0" dirty="0">
                  <a:ea typeface="Cambria Math" panose="02040503050406030204" pitchFamily="18" charset="0"/>
                </a:endParaRPr>
              </a:p>
              <a:p>
                <a:pPr lvl="2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̃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acc>
                          <m:accPr>
                            <m:chr m:val="̃"/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sub>
                    </m:sSub>
                  </m:oMath>
                </a14:m>
                <a:r>
                  <a:rPr lang="en-US" dirty="0"/>
                  <a:t>;</a:t>
                </a:r>
              </a:p>
              <a:p>
                <a:pPr lvl="2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sub>
                    </m:sSub>
                  </m:oMath>
                </a14:m>
                <a:r>
                  <a:rPr lang="en-US" dirty="0"/>
                  <a:t>;</a:t>
                </a:r>
              </a:p>
              <a:p>
                <a:pPr lvl="2" algn="just">
                  <a:spcBef>
                    <a:spcPts val="300"/>
                  </a:spcBef>
                </a:pPr>
                <a:r>
                  <a:rPr lang="en-US" dirty="0"/>
                  <a:t>…</a:t>
                </a:r>
              </a:p>
              <a:p>
                <a:pPr lvl="2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algn="just">
                  <a:spcBef>
                    <a:spcPts val="600"/>
                  </a:spcBef>
                </a:pPr>
                <a:endParaRPr lang="en-US" sz="140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7BFE8E81-F3CE-4735-A70F-BA92301DE6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3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D2F1F4-5D5C-40D0-AEE6-56CA54682E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4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440691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8A7E26-7119-407C-8DDB-E2EA8D0D7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решения сравнения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1E47B038-DF6C-46A8-89CE-A2D9520EF2E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300"/>
                  </a:spcBef>
                </a:pPr>
                <a:r>
                  <a:rPr lang="ru-RU" sz="2000" dirty="0"/>
                  <a:t>Решить </a:t>
                </a:r>
                <a14:m>
                  <m:oMath xmlns:m="http://schemas.openxmlformats.org/officeDocument/2006/math"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15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20 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85</m:t>
                        </m:r>
                      </m:e>
                    </m:d>
                  </m:oMath>
                </a14:m>
                <a:r>
                  <a:rPr lang="ru-RU" sz="2000" dirty="0"/>
                  <a:t>.</a:t>
                </a:r>
              </a:p>
              <a:p>
                <a:pPr lvl="1" algn="just">
                  <a:spcBef>
                    <a:spcPts val="300"/>
                  </a:spcBef>
                </a:pPr>
                <a:r>
                  <a:rPr lang="ru-RU" sz="1600" dirty="0"/>
                  <a:t>Нахождение </a:t>
                </a:r>
                <a14:m>
                  <m:oMath xmlns:m="http://schemas.openxmlformats.org/officeDocument/2006/math">
                    <m:r>
                      <a:rPr lang="ru-RU" sz="1600" b="0" i="0" smtClean="0">
                        <a:latin typeface="Cambria Math" panose="02040503050406030204" pitchFamily="18" charset="0"/>
                      </a:rPr>
                      <m:t>НОД</m:t>
                    </m:r>
                    <m:d>
                      <m:dPr>
                        <m:ctrlPr>
                          <a:rPr lang="ru-RU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ru-RU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ru-RU" sz="1600" dirty="0"/>
                  <a:t>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1600">
                        <a:latin typeface="Cambria Math" panose="02040503050406030204" pitchFamily="18" charset="0"/>
                      </a:rPr>
                      <m:t>НОД</m:t>
                    </m:r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85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pPr lvl="1" algn="just">
                  <a:spcBef>
                    <a:spcPts val="300"/>
                  </a:spcBef>
                </a:pPr>
                <a:r>
                  <a:rPr lang="ru-RU" sz="1600" dirty="0"/>
                  <a:t>Проверка делимости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на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1600" dirty="0"/>
                  <a:t>: 5 </a:t>
                </a:r>
                <a:r>
                  <a:rPr lang="ru-RU" sz="1600" dirty="0"/>
                  <a:t>делит 20.</a:t>
                </a:r>
              </a:p>
              <a:p>
                <a:pPr lvl="1" algn="just">
                  <a:spcBef>
                    <a:spcPts val="300"/>
                  </a:spcBef>
                </a:pPr>
                <a:r>
                  <a:rPr lang="ru-RU" sz="1600" dirty="0"/>
                  <a:t>Преобразование сравнения: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15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20 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 85</m:t>
                        </m:r>
                      </m:e>
                    </m:d>
                    <m:r>
                      <a:rPr lang="ru-RU" sz="16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⇒3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4 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 17</m:t>
                        </m:r>
                      </m:e>
                    </m:d>
                  </m:oMath>
                </a14:m>
                <a:r>
                  <a:rPr lang="ru-RU" sz="1600" dirty="0"/>
                  <a:t>.</a:t>
                </a:r>
              </a:p>
              <a:p>
                <a:pPr lvl="1" algn="just">
                  <a:spcBef>
                    <a:spcPts val="300"/>
                  </a:spcBef>
                </a:pPr>
                <a:r>
                  <a:rPr lang="ru-RU" sz="1600" dirty="0"/>
                  <a:t>Решение нового сравнения:</a:t>
                </a:r>
              </a:p>
              <a:p>
                <a:pPr lvl="2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ru-RU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2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en-US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≡6</m:t>
                    </m:r>
                  </m:oMath>
                </a14:m>
                <a:r>
                  <a:rPr lang="en-US" sz="1200" dirty="0"/>
                  <a:t>;</a:t>
                </a:r>
              </a:p>
              <a:p>
                <a:pPr lvl="2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ru-RU" sz="1200" i="1">
                        <a:latin typeface="Cambria Math" panose="02040503050406030204" pitchFamily="18" charset="0"/>
                      </a:rPr>
                      <m:t>6</m:t>
                    </m:r>
                    <m:r>
                      <a:rPr lang="ru-RU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∙4 </m:t>
                    </m:r>
                    <m:d>
                      <m:dPr>
                        <m:ctrlPr>
                          <a:rPr lang="ru-RU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17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≡7</m:t>
                    </m:r>
                  </m:oMath>
                </a14:m>
                <a:r>
                  <a:rPr lang="en-US" sz="1200" dirty="0"/>
                  <a:t>;</a:t>
                </a:r>
              </a:p>
              <a:p>
                <a:pPr lvl="2" algn="just">
                  <a:spcBef>
                    <a:spcPts val="300"/>
                  </a:spcBef>
                </a:pPr>
                <a:endParaRPr lang="en-US" sz="1200" dirty="0"/>
              </a:p>
              <a:p>
                <a:pPr lvl="2" algn="just">
                  <a:spcBef>
                    <a:spcPts val="300"/>
                  </a:spcBef>
                </a:pPr>
                <a:endParaRPr lang="en-US" sz="1200" dirty="0"/>
              </a:p>
              <a:p>
                <a:pPr lvl="2" algn="just">
                  <a:spcBef>
                    <a:spcPts val="300"/>
                  </a:spcBef>
                </a:pPr>
                <a:endParaRPr lang="en-US" sz="1200" dirty="0"/>
              </a:p>
              <a:p>
                <a:pPr lvl="1" algn="just">
                  <a:spcBef>
                    <a:spcPts val="300"/>
                  </a:spcBef>
                </a:pPr>
                <a:r>
                  <a:rPr lang="ru-RU" sz="1600" dirty="0"/>
                  <a:t>Множество решений исходного сравнения:</a:t>
                </a:r>
              </a:p>
              <a:p>
                <a:pPr lvl="2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85</m:t>
                        </m:r>
                      </m:e>
                    </m:d>
                  </m:oMath>
                </a14:m>
                <a:r>
                  <a:rPr lang="en-US" dirty="0"/>
                  <a:t>;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+34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85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;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+68 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85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lvl="2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+17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85</m:t>
                        </m:r>
                      </m:e>
                    </m:d>
                  </m:oMath>
                </a14:m>
                <a:r>
                  <a:rPr lang="en-US" dirty="0"/>
                  <a:t>;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+51 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85</m:t>
                        </m:r>
                      </m:e>
                    </m:d>
                  </m:oMath>
                </a14:m>
                <a:r>
                  <a:rPr lang="en-US" dirty="0"/>
                  <a:t>;</a:t>
                </a:r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1E47B038-DF6C-46A8-89CE-A2D9520EF2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A9D245-7F26-48EE-91A3-6714508D23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5</a:t>
            </a:fld>
            <a:endParaRPr lang="ru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Объект 3">
                <a:extLst>
                  <a:ext uri="{FF2B5EF4-FFF2-40B4-BE49-F238E27FC236}">
                    <a16:creationId xmlns:a16="http://schemas.microsoft.com/office/drawing/2014/main" id="{DA758A18-08E4-462C-B49F-4697C1978D9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102717086"/>
                  </p:ext>
                </p:extLst>
              </p:nvPr>
            </p:nvGraphicFramePr>
            <p:xfrm>
              <a:off x="3340314" y="2627168"/>
              <a:ext cx="3816424" cy="1187958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{5940675A-B579-460E-94D1-54222C63F5DA}</a:tableStyleId>
                  </a:tblPr>
                  <a:tblGrid>
                    <a:gridCol w="502802">
                      <a:extLst>
                        <a:ext uri="{9D8B030D-6E8A-4147-A177-3AD203B41FA5}">
                          <a16:colId xmlns:a16="http://schemas.microsoft.com/office/drawing/2014/main" val="3007874786"/>
                        </a:ext>
                      </a:extLst>
                    </a:gridCol>
                    <a:gridCol w="494495">
                      <a:extLst>
                        <a:ext uri="{9D8B030D-6E8A-4147-A177-3AD203B41FA5}">
                          <a16:colId xmlns:a16="http://schemas.microsoft.com/office/drawing/2014/main" val="6151276"/>
                        </a:ext>
                      </a:extLst>
                    </a:gridCol>
                    <a:gridCol w="615243">
                      <a:extLst>
                        <a:ext uri="{9D8B030D-6E8A-4147-A177-3AD203B41FA5}">
                          <a16:colId xmlns:a16="http://schemas.microsoft.com/office/drawing/2014/main" val="2850697501"/>
                        </a:ext>
                      </a:extLst>
                    </a:gridCol>
                    <a:gridCol w="599679">
                      <a:extLst>
                        <a:ext uri="{9D8B030D-6E8A-4147-A177-3AD203B41FA5}">
                          <a16:colId xmlns:a16="http://schemas.microsoft.com/office/drawing/2014/main" val="1616808370"/>
                        </a:ext>
                      </a:extLst>
                    </a:gridCol>
                    <a:gridCol w="494495">
                      <a:extLst>
                        <a:ext uri="{9D8B030D-6E8A-4147-A177-3AD203B41FA5}">
                          <a16:colId xmlns:a16="http://schemas.microsoft.com/office/drawing/2014/main" val="2978430645"/>
                        </a:ext>
                      </a:extLst>
                    </a:gridCol>
                    <a:gridCol w="502249">
                      <a:extLst>
                        <a:ext uri="{9D8B030D-6E8A-4147-A177-3AD203B41FA5}">
                          <a16:colId xmlns:a16="http://schemas.microsoft.com/office/drawing/2014/main" val="1245729060"/>
                        </a:ext>
                      </a:extLst>
                    </a:gridCol>
                    <a:gridCol w="607461">
                      <a:extLst>
                        <a:ext uri="{9D8B030D-6E8A-4147-A177-3AD203B41FA5}">
                          <a16:colId xmlns:a16="http://schemas.microsoft.com/office/drawing/2014/main" val="3462043172"/>
                        </a:ext>
                      </a:extLst>
                    </a:gridCol>
                  </a:tblGrid>
                  <a:tr h="12398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i="1" dirty="0">
                              <a:effectLst/>
                              <a:latin typeface="Ubuntu" panose="020B0604020202020204" charset="0"/>
                            </a:rPr>
                            <a:t>q</a:t>
                          </a:r>
                          <a:endParaRPr lang="ru-RU" sz="1600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i="1" dirty="0">
                              <a:effectLst/>
                              <a:latin typeface="Ubuntu" panose="020B0604020202020204" charset="0"/>
                            </a:rPr>
                            <a:t>r</a:t>
                          </a:r>
                          <a:endParaRPr lang="ru-RU" sz="1600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i="1" dirty="0">
                              <a:effectLst/>
                              <a:latin typeface="Ubuntu" panose="020B0604020202020204" charset="0"/>
                            </a:rPr>
                            <a:t>y</a:t>
                          </a:r>
                          <a:endParaRPr lang="ru-RU" sz="1600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i="1" dirty="0">
                              <a:effectLst/>
                              <a:latin typeface="Ubuntu" panose="020B0604020202020204" charset="0"/>
                            </a:rPr>
                            <a:t>n</a:t>
                          </a:r>
                          <a:endParaRPr lang="ru-RU" sz="1600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i="1" dirty="0">
                              <a:effectLst/>
                              <a:latin typeface="Ubuntu" panose="020B0604020202020204" charset="0"/>
                            </a:rPr>
                            <a:t>a</a:t>
                          </a:r>
                          <a:endParaRPr lang="ru-RU" sz="1600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i="1" dirty="0">
                              <a:effectLst/>
                              <a:latin typeface="Ubuntu" panose="020B0604020202020204" charset="0"/>
                            </a:rPr>
                            <a:t>y</a:t>
                          </a:r>
                          <a:r>
                            <a:rPr lang="ru-RU" sz="1600" baseline="-25000" dirty="0">
                              <a:effectLst/>
                              <a:latin typeface="Ubuntu" panose="020B0604020202020204" charset="0"/>
                            </a:rPr>
                            <a:t>2</a:t>
                          </a:r>
                          <a:endParaRPr lang="ru-RU" sz="1600" baseline="-250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i="1" dirty="0">
                              <a:effectLst/>
                              <a:latin typeface="Ubuntu" panose="020B0604020202020204" charset="0"/>
                            </a:rPr>
                            <a:t>y</a:t>
                          </a:r>
                          <a:r>
                            <a:rPr lang="ru-RU" sz="1600" baseline="-25000" dirty="0">
                              <a:effectLst/>
                              <a:latin typeface="Ubuntu" panose="020B0604020202020204" charset="0"/>
                            </a:rPr>
                            <a:t>1</a:t>
                          </a:r>
                          <a:endParaRPr lang="ru-RU" sz="1600" baseline="-250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87797952"/>
                      </a:ext>
                    </a:extLst>
                  </a:tr>
                  <a:tr h="12098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17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</a:rPr>
                            <a:t>0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754354004"/>
                      </a:ext>
                    </a:extLst>
                  </a:tr>
                  <a:tr h="7425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04005942"/>
                      </a:ext>
                    </a:extLst>
                  </a:tr>
                  <a:tr h="1099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91108227"/>
                      </a:ext>
                    </a:extLst>
                  </a:tr>
                  <a:tr h="10845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128335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Объект 3">
                <a:extLst>
                  <a:ext uri="{FF2B5EF4-FFF2-40B4-BE49-F238E27FC236}">
                    <a16:creationId xmlns:a16="http://schemas.microsoft.com/office/drawing/2014/main" id="{DA758A18-08E4-462C-B49F-4697C1978D9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102717086"/>
                  </p:ext>
                </p:extLst>
              </p:nvPr>
            </p:nvGraphicFramePr>
            <p:xfrm>
              <a:off x="3340314" y="2627168"/>
              <a:ext cx="3816424" cy="1162558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{5940675A-B579-460E-94D1-54222C63F5DA}</a:tableStyleId>
                  </a:tblPr>
                  <a:tblGrid>
                    <a:gridCol w="502802">
                      <a:extLst>
                        <a:ext uri="{9D8B030D-6E8A-4147-A177-3AD203B41FA5}">
                          <a16:colId xmlns:a16="http://schemas.microsoft.com/office/drawing/2014/main" val="3007874786"/>
                        </a:ext>
                      </a:extLst>
                    </a:gridCol>
                    <a:gridCol w="494495">
                      <a:extLst>
                        <a:ext uri="{9D8B030D-6E8A-4147-A177-3AD203B41FA5}">
                          <a16:colId xmlns:a16="http://schemas.microsoft.com/office/drawing/2014/main" val="6151276"/>
                        </a:ext>
                      </a:extLst>
                    </a:gridCol>
                    <a:gridCol w="615243">
                      <a:extLst>
                        <a:ext uri="{9D8B030D-6E8A-4147-A177-3AD203B41FA5}">
                          <a16:colId xmlns:a16="http://schemas.microsoft.com/office/drawing/2014/main" val="2850697501"/>
                        </a:ext>
                      </a:extLst>
                    </a:gridCol>
                    <a:gridCol w="599679">
                      <a:extLst>
                        <a:ext uri="{9D8B030D-6E8A-4147-A177-3AD203B41FA5}">
                          <a16:colId xmlns:a16="http://schemas.microsoft.com/office/drawing/2014/main" val="1616808370"/>
                        </a:ext>
                      </a:extLst>
                    </a:gridCol>
                    <a:gridCol w="494495">
                      <a:extLst>
                        <a:ext uri="{9D8B030D-6E8A-4147-A177-3AD203B41FA5}">
                          <a16:colId xmlns:a16="http://schemas.microsoft.com/office/drawing/2014/main" val="2978430645"/>
                        </a:ext>
                      </a:extLst>
                    </a:gridCol>
                    <a:gridCol w="502249">
                      <a:extLst>
                        <a:ext uri="{9D8B030D-6E8A-4147-A177-3AD203B41FA5}">
                          <a16:colId xmlns:a16="http://schemas.microsoft.com/office/drawing/2014/main" val="1245729060"/>
                        </a:ext>
                      </a:extLst>
                    </a:gridCol>
                    <a:gridCol w="607461">
                      <a:extLst>
                        <a:ext uri="{9D8B030D-6E8A-4147-A177-3AD203B41FA5}">
                          <a16:colId xmlns:a16="http://schemas.microsoft.com/office/drawing/2014/main" val="3462043172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i="1" dirty="0">
                              <a:effectLst/>
                              <a:latin typeface="Ubuntu" panose="020B0604020202020204" charset="0"/>
                            </a:rPr>
                            <a:t>q</a:t>
                          </a:r>
                          <a:endParaRPr lang="ru-RU" sz="1600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i="1" dirty="0">
                              <a:effectLst/>
                              <a:latin typeface="Ubuntu" panose="020B0604020202020204" charset="0"/>
                            </a:rPr>
                            <a:t>r</a:t>
                          </a:r>
                          <a:endParaRPr lang="ru-RU" sz="1600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i="1" dirty="0">
                              <a:effectLst/>
                              <a:latin typeface="Ubuntu" panose="020B0604020202020204" charset="0"/>
                            </a:rPr>
                            <a:t>y</a:t>
                          </a:r>
                          <a:endParaRPr lang="ru-RU" sz="1600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i="1" dirty="0">
                              <a:effectLst/>
                              <a:latin typeface="Ubuntu" panose="020B0604020202020204" charset="0"/>
                            </a:rPr>
                            <a:t>n</a:t>
                          </a:r>
                          <a:endParaRPr lang="ru-RU" sz="1600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i="1" dirty="0">
                              <a:effectLst/>
                              <a:latin typeface="Ubuntu" panose="020B0604020202020204" charset="0"/>
                            </a:rPr>
                            <a:t>a</a:t>
                          </a:r>
                          <a:endParaRPr lang="ru-RU" sz="1600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i="1" dirty="0">
                              <a:effectLst/>
                              <a:latin typeface="Ubuntu" panose="020B0604020202020204" charset="0"/>
                            </a:rPr>
                            <a:t>y</a:t>
                          </a:r>
                          <a:r>
                            <a:rPr lang="ru-RU" sz="1600" baseline="-25000" dirty="0">
                              <a:effectLst/>
                              <a:latin typeface="Ubuntu" panose="020B0604020202020204" charset="0"/>
                            </a:rPr>
                            <a:t>2</a:t>
                          </a:r>
                          <a:endParaRPr lang="ru-RU" sz="1600" baseline="-250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i="1" dirty="0">
                              <a:effectLst/>
                              <a:latin typeface="Ubuntu" panose="020B0604020202020204" charset="0"/>
                            </a:rPr>
                            <a:t>y</a:t>
                          </a:r>
                          <a:r>
                            <a:rPr lang="ru-RU" sz="1600" baseline="-25000" dirty="0">
                              <a:effectLst/>
                              <a:latin typeface="Ubuntu" panose="020B0604020202020204" charset="0"/>
                            </a:rPr>
                            <a:t>1</a:t>
                          </a:r>
                          <a:endParaRPr lang="ru-RU" sz="1600" baseline="-250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87797952"/>
                      </a:ext>
                    </a:extLst>
                  </a:tr>
                  <a:tr h="24536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205" t="-127500" r="-659036" b="-31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3704" t="-127500" r="-575309" b="-31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63366" t="-127500" r="-361386" b="-31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17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</a:rPr>
                            <a:t>0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754354004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63366" t="-245946" r="-361386" b="-2432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29000" t="-245946" r="-2000" b="-2432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4005942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37349" t="-345946" r="-122892" b="-1432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91108227"/>
                      </a:ext>
                    </a:extLst>
                  </a:tr>
                  <a:tr h="21996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1283351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67328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8E373F-9DFE-4EEC-97BF-B60056070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Система сравнений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5636ACB6-6973-4B0A-8B51-697D800A490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ru-RU" sz="1600" dirty="0"/>
                  <a:t>Система сравнений:</a:t>
                </a: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≡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≡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≡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eqArr>
                      </m:e>
                    </m:d>
                  </m:oMath>
                </a14:m>
                <a:endParaRPr lang="en-US" sz="1600" dirty="0"/>
              </a:p>
              <a:p>
                <a:pPr algn="just">
                  <a:spcBef>
                    <a:spcPts val="600"/>
                  </a:spcBef>
                </a:pPr>
                <a:r>
                  <a:rPr lang="ru-RU" sz="1600" dirty="0"/>
                  <a:t>Решение системы сравнений представляет собой восстановление натурального числа по его остаткам для различных модулей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ru-RU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1600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600" dirty="0"/>
              </a:p>
              <a:p>
                <a:pPr algn="just">
                  <a:spcBef>
                    <a:spcPts val="600"/>
                  </a:spcBef>
                </a:pPr>
                <a:r>
                  <a:rPr lang="ru-RU" sz="1600" dirty="0"/>
                  <a:t>Алгоритмы решения систем сравнений основаны на </a:t>
                </a:r>
                <a:r>
                  <a:rPr lang="ru-RU" sz="1600" u="sng" dirty="0"/>
                  <a:t>китайской теореме об остатках</a:t>
                </a:r>
                <a:r>
                  <a:rPr lang="ru-RU" sz="1600" dirty="0"/>
                  <a:t>.</a:t>
                </a:r>
                <a:endParaRPr lang="en-US" sz="1600" dirty="0"/>
              </a:p>
              <a:p>
                <a:pPr>
                  <a:spcBef>
                    <a:spcPts val="600"/>
                  </a:spcBef>
                </a:pPr>
                <a:endParaRPr lang="ru-RU" sz="140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5636ACB6-6973-4B0A-8B51-697D800A49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3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2BA4B73-B7DC-4578-834D-C41A828DC2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6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184623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A2A16A-44AA-45E8-9911-F2495A067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Китайская теорема об остатках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E11ECE9F-5C8C-4808-92D3-B06B542FC61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/>
                <a:r>
                  <a:rPr lang="ru-RU" sz="1600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1600" i="1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/>
                  <a:t> — попарно взаимно простые натуральные числа,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1600" dirty="0"/>
                  <a:t>,</a:t>
                </a:r>
                <a:br>
                  <a:rPr lang="en-US" sz="16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и целые числа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удовлетворяют равенствам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 2, …,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/>
                  <a:t>. </a:t>
                </a:r>
                <a:r>
                  <a:rPr lang="ru-RU" sz="1600" dirty="0"/>
                  <a:t>Тогда единственным решением по модулю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sz="1600" dirty="0"/>
                  <a:t> системы сравнений</a:t>
                </a:r>
                <a:endParaRPr lang="ru-RU" sz="1600" b="0" i="0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ru-RU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1600" dirty="0"/>
              </a:p>
              <a:p>
                <a:pPr marL="358775" indent="0" algn="just">
                  <a:buNone/>
                </a:pPr>
                <a:r>
                  <a:rPr lang="ru-RU" sz="1600" dirty="0"/>
                  <a:t>является следующее число:</a:t>
                </a:r>
              </a:p>
              <a:p>
                <a:pPr marL="358775" indent="0" algn="ctr"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endParaRPr lang="ru-RU" sz="160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E11ECE9F-5C8C-4808-92D3-B06B542FC6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7351" r="-18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CDD2E1E-5AF5-4DD0-B19E-B58E59307E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7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622648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A99337-7655-4C8E-9E42-8446DC383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решения системы сравнений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182DC7B6-213E-4A13-8A2D-B18F810B2EF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37250" y="863550"/>
                <a:ext cx="3811295" cy="3982800"/>
              </a:xfrm>
            </p:spPr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ru-RU" dirty="0"/>
                  <a:t>Решить систему сравнений</a:t>
                </a:r>
              </a:p>
              <a:p>
                <a:pPr marL="457200" lvl="1" indent="0" algn="just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≡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2 </m:t>
                            </m:r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d>
                            <m:r>
                              <a:rPr lang="ru-RU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≡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3 </m:t>
                            </m:r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d>
                            <m:r>
                              <a:rPr lang="ru-RU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≡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2 </m:t>
                            </m:r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d>
                            <m:r>
                              <a:rPr lang="ru-RU" sz="16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eqArr>
                      </m:e>
                    </m:d>
                  </m:oMath>
                </a14:m>
                <a:r>
                  <a:rPr lang="ru-RU" dirty="0"/>
                  <a:t> </a:t>
                </a:r>
                <a:endParaRPr lang="en-US" dirty="0"/>
              </a:p>
              <a:p>
                <a:pPr>
                  <a:spcBef>
                    <a:spcPts val="600"/>
                  </a:spcBef>
                </a:pPr>
                <a:endParaRPr lang="ru-RU" sz="140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182DC7B6-213E-4A13-8A2D-B18F810B2E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250" y="863550"/>
                <a:ext cx="3811295" cy="39828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351C1E-2A1E-454B-BB12-594CBC6AF6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8</a:t>
            </a:fld>
            <a:endParaRPr lang="ru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28A5332F-3391-438F-A821-92148F43D4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1530786"/>
                  </p:ext>
                </p:extLst>
              </p:nvPr>
            </p:nvGraphicFramePr>
            <p:xfrm>
              <a:off x="267788" y="2792604"/>
              <a:ext cx="2775964" cy="134876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{5940675A-B579-460E-94D1-54222C63F5DA}</a:tableStyleId>
                  </a:tblPr>
                  <a:tblGrid>
                    <a:gridCol w="389579">
                      <a:extLst>
                        <a:ext uri="{9D8B030D-6E8A-4147-A177-3AD203B41FA5}">
                          <a16:colId xmlns:a16="http://schemas.microsoft.com/office/drawing/2014/main" val="264793904"/>
                        </a:ext>
                      </a:extLst>
                    </a:gridCol>
                    <a:gridCol w="383143">
                      <a:extLst>
                        <a:ext uri="{9D8B030D-6E8A-4147-A177-3AD203B41FA5}">
                          <a16:colId xmlns:a16="http://schemas.microsoft.com/office/drawing/2014/main" val="3885496532"/>
                        </a:ext>
                      </a:extLst>
                    </a:gridCol>
                    <a:gridCol w="383143">
                      <a:extLst>
                        <a:ext uri="{9D8B030D-6E8A-4147-A177-3AD203B41FA5}">
                          <a16:colId xmlns:a16="http://schemas.microsoft.com/office/drawing/2014/main" val="1632098987"/>
                        </a:ext>
                      </a:extLst>
                    </a:gridCol>
                    <a:gridCol w="470670">
                      <a:extLst>
                        <a:ext uri="{9D8B030D-6E8A-4147-A177-3AD203B41FA5}">
                          <a16:colId xmlns:a16="http://schemas.microsoft.com/office/drawing/2014/main" val="1180890576"/>
                        </a:ext>
                      </a:extLst>
                    </a:gridCol>
                    <a:gridCol w="383143">
                      <a:extLst>
                        <a:ext uri="{9D8B030D-6E8A-4147-A177-3AD203B41FA5}">
                          <a16:colId xmlns:a16="http://schemas.microsoft.com/office/drawing/2014/main" val="3278837120"/>
                        </a:ext>
                      </a:extLst>
                    </a:gridCol>
                    <a:gridCol w="383143">
                      <a:extLst>
                        <a:ext uri="{9D8B030D-6E8A-4147-A177-3AD203B41FA5}">
                          <a16:colId xmlns:a16="http://schemas.microsoft.com/office/drawing/2014/main" val="2312540590"/>
                        </a:ext>
                      </a:extLst>
                    </a:gridCol>
                    <a:gridCol w="383143">
                      <a:extLst>
                        <a:ext uri="{9D8B030D-6E8A-4147-A177-3AD203B41FA5}">
                          <a16:colId xmlns:a16="http://schemas.microsoft.com/office/drawing/2014/main" val="1717400905"/>
                        </a:ext>
                      </a:extLst>
                    </a:gridCol>
                  </a:tblGrid>
                  <a:tr h="28616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effectLst/>
                              <a:latin typeface="Ubuntu" panose="020B0604020202020204" charset="0"/>
                            </a:rPr>
                            <a:t>q</a:t>
                          </a:r>
                          <a:endParaRPr lang="ru-RU" sz="1400" b="1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effectLst/>
                              <a:latin typeface="Ubuntu" panose="020B0604020202020204" charset="0"/>
                            </a:rPr>
                            <a:t>r</a:t>
                          </a:r>
                          <a:endParaRPr lang="ru-RU" sz="1400" b="1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effectLst/>
                              <a:latin typeface="Ubuntu" panose="020B0604020202020204" charset="0"/>
                            </a:rPr>
                            <a:t>x</a:t>
                          </a:r>
                          <a:endParaRPr lang="ru-RU" sz="1400" b="1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400" b="1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400" b="1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effectLst/>
                              <a:latin typeface="Ubuntu" panose="020B0604020202020204" charset="0"/>
                            </a:rPr>
                            <a:t>x</a:t>
                          </a:r>
                          <a:r>
                            <a:rPr lang="ru-RU" sz="1400" b="1" baseline="-25000" dirty="0">
                              <a:effectLst/>
                              <a:latin typeface="Ubuntu" panose="020B0604020202020204" charset="0"/>
                            </a:rPr>
                            <a:t>2</a:t>
                          </a:r>
                          <a:endParaRPr lang="ru-RU" sz="1400" b="1" baseline="-250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effectLst/>
                              <a:latin typeface="Ubuntu" panose="020B0604020202020204" charset="0"/>
                            </a:rPr>
                            <a:t>x</a:t>
                          </a:r>
                          <a:r>
                            <a:rPr lang="ru-RU" sz="1400" b="1" baseline="-25000" dirty="0">
                              <a:effectLst/>
                              <a:latin typeface="Ubuntu" panose="020B0604020202020204" charset="0"/>
                            </a:rPr>
                            <a:t>1</a:t>
                          </a:r>
                          <a:endParaRPr lang="ru-RU" sz="1400" b="1" baseline="-250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241003347"/>
                      </a:ext>
                    </a:extLst>
                  </a:tr>
                  <a:tr h="28616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35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  <a:latin typeface="Ubuntu" panose="020B0604020202020204" charset="0"/>
                            </a:rPr>
                            <a:t>1</a:t>
                          </a:r>
                          <a:endParaRPr lang="ru-RU" sz="140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  <a:latin typeface="Ubuntu" panose="020B0604020202020204" charset="0"/>
                            </a:rPr>
                            <a:t>0</a:t>
                          </a:r>
                          <a:endParaRPr lang="ru-RU" sz="140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38544129"/>
                      </a:ext>
                    </a:extLst>
                  </a:tr>
                  <a:tr h="2565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99018203"/>
                      </a:ext>
                    </a:extLst>
                  </a:tr>
                  <a:tr h="25994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81117961"/>
                      </a:ext>
                    </a:extLst>
                  </a:tr>
                  <a:tr h="25994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366059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28A5332F-3391-438F-A821-92148F43D4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1530786"/>
                  </p:ext>
                </p:extLst>
              </p:nvPr>
            </p:nvGraphicFramePr>
            <p:xfrm>
              <a:off x="267788" y="2792604"/>
              <a:ext cx="2775964" cy="134876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{5940675A-B579-460E-94D1-54222C63F5DA}</a:tableStyleId>
                  </a:tblPr>
                  <a:tblGrid>
                    <a:gridCol w="389579">
                      <a:extLst>
                        <a:ext uri="{9D8B030D-6E8A-4147-A177-3AD203B41FA5}">
                          <a16:colId xmlns:a16="http://schemas.microsoft.com/office/drawing/2014/main" val="264793904"/>
                        </a:ext>
                      </a:extLst>
                    </a:gridCol>
                    <a:gridCol w="383143">
                      <a:extLst>
                        <a:ext uri="{9D8B030D-6E8A-4147-A177-3AD203B41FA5}">
                          <a16:colId xmlns:a16="http://schemas.microsoft.com/office/drawing/2014/main" val="3885496532"/>
                        </a:ext>
                      </a:extLst>
                    </a:gridCol>
                    <a:gridCol w="383143">
                      <a:extLst>
                        <a:ext uri="{9D8B030D-6E8A-4147-A177-3AD203B41FA5}">
                          <a16:colId xmlns:a16="http://schemas.microsoft.com/office/drawing/2014/main" val="1632098987"/>
                        </a:ext>
                      </a:extLst>
                    </a:gridCol>
                    <a:gridCol w="470670">
                      <a:extLst>
                        <a:ext uri="{9D8B030D-6E8A-4147-A177-3AD203B41FA5}">
                          <a16:colId xmlns:a16="http://schemas.microsoft.com/office/drawing/2014/main" val="1180890576"/>
                        </a:ext>
                      </a:extLst>
                    </a:gridCol>
                    <a:gridCol w="383143">
                      <a:extLst>
                        <a:ext uri="{9D8B030D-6E8A-4147-A177-3AD203B41FA5}">
                          <a16:colId xmlns:a16="http://schemas.microsoft.com/office/drawing/2014/main" val="3278837120"/>
                        </a:ext>
                      </a:extLst>
                    </a:gridCol>
                    <a:gridCol w="383143">
                      <a:extLst>
                        <a:ext uri="{9D8B030D-6E8A-4147-A177-3AD203B41FA5}">
                          <a16:colId xmlns:a16="http://schemas.microsoft.com/office/drawing/2014/main" val="2312540590"/>
                        </a:ext>
                      </a:extLst>
                    </a:gridCol>
                    <a:gridCol w="383143">
                      <a:extLst>
                        <a:ext uri="{9D8B030D-6E8A-4147-A177-3AD203B41FA5}">
                          <a16:colId xmlns:a16="http://schemas.microsoft.com/office/drawing/2014/main" val="1717400905"/>
                        </a:ext>
                      </a:extLst>
                    </a:gridCol>
                  </a:tblGrid>
                  <a:tr h="28616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effectLst/>
                              <a:latin typeface="Ubuntu" panose="020B0604020202020204" charset="0"/>
                            </a:rPr>
                            <a:t>q</a:t>
                          </a:r>
                          <a:endParaRPr lang="ru-RU" sz="1400" b="1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effectLst/>
                              <a:latin typeface="Ubuntu" panose="020B0604020202020204" charset="0"/>
                            </a:rPr>
                            <a:t>r</a:t>
                          </a:r>
                          <a:endParaRPr lang="ru-RU" sz="1400" b="1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effectLst/>
                              <a:latin typeface="Ubuntu" panose="020B0604020202020204" charset="0"/>
                            </a:rPr>
                            <a:t>x</a:t>
                          </a:r>
                          <a:endParaRPr lang="ru-RU" sz="1400" b="1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44872" t="-8511" r="-244872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26984" t="-8511" r="-203175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effectLst/>
                              <a:latin typeface="Ubuntu" panose="020B0604020202020204" charset="0"/>
                            </a:rPr>
                            <a:t>x</a:t>
                          </a:r>
                          <a:r>
                            <a:rPr lang="ru-RU" sz="1400" b="1" baseline="-25000" dirty="0">
                              <a:effectLst/>
                              <a:latin typeface="Ubuntu" panose="020B0604020202020204" charset="0"/>
                            </a:rPr>
                            <a:t>2</a:t>
                          </a:r>
                          <a:endParaRPr lang="ru-RU" sz="1400" b="1" baseline="-250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effectLst/>
                              <a:latin typeface="Ubuntu" panose="020B0604020202020204" charset="0"/>
                            </a:rPr>
                            <a:t>x</a:t>
                          </a:r>
                          <a:r>
                            <a:rPr lang="ru-RU" sz="1400" b="1" baseline="-25000" dirty="0">
                              <a:effectLst/>
                              <a:latin typeface="Ubuntu" panose="020B0604020202020204" charset="0"/>
                            </a:rPr>
                            <a:t>1</a:t>
                          </a:r>
                          <a:endParaRPr lang="ru-RU" sz="1400" b="1" baseline="-250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241003347"/>
                      </a:ext>
                    </a:extLst>
                  </a:tr>
                  <a:tr h="286163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563" t="-108511" r="-617188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3175" t="-108511" r="-526984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3175" t="-108511" r="-426984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35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  <a:latin typeface="Ubuntu" panose="020B0604020202020204" charset="0"/>
                            </a:rPr>
                            <a:t>1</a:t>
                          </a:r>
                          <a:endParaRPr lang="ru-RU" sz="140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  <a:latin typeface="Ubuntu" panose="020B0604020202020204" charset="0"/>
                            </a:rPr>
                            <a:t>0</a:t>
                          </a:r>
                          <a:endParaRPr lang="ru-RU" sz="140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38544129"/>
                      </a:ext>
                    </a:extLst>
                  </a:tr>
                  <a:tr h="2565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99018203"/>
                      </a:ext>
                    </a:extLst>
                  </a:tr>
                  <a:tr h="25994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3175" t="-325581" r="-426984" b="-1302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26984" t="-325581" r="-3175" b="-1302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1117961"/>
                      </a:ext>
                    </a:extLst>
                  </a:tr>
                  <a:tr h="25994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26984" t="-425581" r="-103175" b="-302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3660596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Таблица 5">
                <a:extLst>
                  <a:ext uri="{FF2B5EF4-FFF2-40B4-BE49-F238E27FC236}">
                    <a16:creationId xmlns:a16="http://schemas.microsoft.com/office/drawing/2014/main" id="{E53E767D-4A79-47F2-AF34-F31FF3311F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2674806"/>
                  </p:ext>
                </p:extLst>
              </p:nvPr>
            </p:nvGraphicFramePr>
            <p:xfrm>
              <a:off x="3149227" y="2793518"/>
              <a:ext cx="2845546" cy="160530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{5940675A-B579-460E-94D1-54222C63F5DA}</a:tableStyleId>
                  </a:tblPr>
                  <a:tblGrid>
                    <a:gridCol w="399344">
                      <a:extLst>
                        <a:ext uri="{9D8B030D-6E8A-4147-A177-3AD203B41FA5}">
                          <a16:colId xmlns:a16="http://schemas.microsoft.com/office/drawing/2014/main" val="264793904"/>
                        </a:ext>
                      </a:extLst>
                    </a:gridCol>
                    <a:gridCol w="392747">
                      <a:extLst>
                        <a:ext uri="{9D8B030D-6E8A-4147-A177-3AD203B41FA5}">
                          <a16:colId xmlns:a16="http://schemas.microsoft.com/office/drawing/2014/main" val="3885496532"/>
                        </a:ext>
                      </a:extLst>
                    </a:gridCol>
                    <a:gridCol w="392747">
                      <a:extLst>
                        <a:ext uri="{9D8B030D-6E8A-4147-A177-3AD203B41FA5}">
                          <a16:colId xmlns:a16="http://schemas.microsoft.com/office/drawing/2014/main" val="1632098987"/>
                        </a:ext>
                      </a:extLst>
                    </a:gridCol>
                    <a:gridCol w="482467">
                      <a:extLst>
                        <a:ext uri="{9D8B030D-6E8A-4147-A177-3AD203B41FA5}">
                          <a16:colId xmlns:a16="http://schemas.microsoft.com/office/drawing/2014/main" val="1180890576"/>
                        </a:ext>
                      </a:extLst>
                    </a:gridCol>
                    <a:gridCol w="392747">
                      <a:extLst>
                        <a:ext uri="{9D8B030D-6E8A-4147-A177-3AD203B41FA5}">
                          <a16:colId xmlns:a16="http://schemas.microsoft.com/office/drawing/2014/main" val="3278837120"/>
                        </a:ext>
                      </a:extLst>
                    </a:gridCol>
                    <a:gridCol w="392747">
                      <a:extLst>
                        <a:ext uri="{9D8B030D-6E8A-4147-A177-3AD203B41FA5}">
                          <a16:colId xmlns:a16="http://schemas.microsoft.com/office/drawing/2014/main" val="2312540590"/>
                        </a:ext>
                      </a:extLst>
                    </a:gridCol>
                    <a:gridCol w="392747">
                      <a:extLst>
                        <a:ext uri="{9D8B030D-6E8A-4147-A177-3AD203B41FA5}">
                          <a16:colId xmlns:a16="http://schemas.microsoft.com/office/drawing/2014/main" val="1717400905"/>
                        </a:ext>
                      </a:extLst>
                    </a:gridCol>
                  </a:tblGrid>
                  <a:tr h="28616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effectLst/>
                              <a:latin typeface="Ubuntu" panose="020B0604020202020204" charset="0"/>
                            </a:rPr>
                            <a:t>q</a:t>
                          </a:r>
                          <a:endParaRPr lang="ru-RU" sz="1400" b="1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effectLst/>
                              <a:latin typeface="Ubuntu" panose="020B0604020202020204" charset="0"/>
                            </a:rPr>
                            <a:t>r</a:t>
                          </a:r>
                          <a:endParaRPr lang="ru-RU" sz="1400" b="1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effectLst/>
                              <a:latin typeface="Ubuntu" panose="020B0604020202020204" charset="0"/>
                            </a:rPr>
                            <a:t>x</a:t>
                          </a:r>
                          <a:endParaRPr lang="ru-RU" sz="1400" b="1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400" b="1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400" b="1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effectLst/>
                              <a:latin typeface="Ubuntu" panose="020B0604020202020204" charset="0"/>
                            </a:rPr>
                            <a:t>x</a:t>
                          </a:r>
                          <a:r>
                            <a:rPr lang="ru-RU" sz="1400" b="1" baseline="-25000" dirty="0">
                              <a:effectLst/>
                              <a:latin typeface="Ubuntu" panose="020B0604020202020204" charset="0"/>
                            </a:rPr>
                            <a:t>2</a:t>
                          </a:r>
                          <a:endParaRPr lang="ru-RU" sz="1400" b="1" baseline="-250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effectLst/>
                              <a:latin typeface="Ubuntu" panose="020B0604020202020204" charset="0"/>
                            </a:rPr>
                            <a:t>x</a:t>
                          </a:r>
                          <a:r>
                            <a:rPr lang="ru-RU" sz="1400" b="1" baseline="-25000" dirty="0">
                              <a:effectLst/>
                              <a:latin typeface="Ubuntu" panose="020B0604020202020204" charset="0"/>
                            </a:rPr>
                            <a:t>1</a:t>
                          </a:r>
                          <a:endParaRPr lang="ru-RU" sz="1400" b="1" baseline="-250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241003347"/>
                      </a:ext>
                    </a:extLst>
                  </a:tr>
                  <a:tr h="28616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28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  <a:latin typeface="Ubuntu" panose="020B0604020202020204" charset="0"/>
                            </a:rPr>
                            <a:t>1</a:t>
                          </a:r>
                          <a:endParaRPr lang="ru-RU" sz="140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</a:rPr>
                            <a:t>0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38544129"/>
                      </a:ext>
                    </a:extLst>
                  </a:tr>
                  <a:tr h="2565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99018203"/>
                      </a:ext>
                    </a:extLst>
                  </a:tr>
                  <a:tr h="25994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81117961"/>
                      </a:ext>
                    </a:extLst>
                  </a:tr>
                  <a:tr h="25994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36605965"/>
                      </a:ext>
                    </a:extLst>
                  </a:tr>
                  <a:tr h="2565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9216711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Таблица 5">
                <a:extLst>
                  <a:ext uri="{FF2B5EF4-FFF2-40B4-BE49-F238E27FC236}">
                    <a16:creationId xmlns:a16="http://schemas.microsoft.com/office/drawing/2014/main" id="{E53E767D-4A79-47F2-AF34-F31FF3311F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2674806"/>
                  </p:ext>
                </p:extLst>
              </p:nvPr>
            </p:nvGraphicFramePr>
            <p:xfrm>
              <a:off x="3149227" y="2793518"/>
              <a:ext cx="2845546" cy="160530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{5940675A-B579-460E-94D1-54222C63F5DA}</a:tableStyleId>
                  </a:tblPr>
                  <a:tblGrid>
                    <a:gridCol w="399344">
                      <a:extLst>
                        <a:ext uri="{9D8B030D-6E8A-4147-A177-3AD203B41FA5}">
                          <a16:colId xmlns:a16="http://schemas.microsoft.com/office/drawing/2014/main" val="264793904"/>
                        </a:ext>
                      </a:extLst>
                    </a:gridCol>
                    <a:gridCol w="392747">
                      <a:extLst>
                        <a:ext uri="{9D8B030D-6E8A-4147-A177-3AD203B41FA5}">
                          <a16:colId xmlns:a16="http://schemas.microsoft.com/office/drawing/2014/main" val="3885496532"/>
                        </a:ext>
                      </a:extLst>
                    </a:gridCol>
                    <a:gridCol w="392747">
                      <a:extLst>
                        <a:ext uri="{9D8B030D-6E8A-4147-A177-3AD203B41FA5}">
                          <a16:colId xmlns:a16="http://schemas.microsoft.com/office/drawing/2014/main" val="1632098987"/>
                        </a:ext>
                      </a:extLst>
                    </a:gridCol>
                    <a:gridCol w="482467">
                      <a:extLst>
                        <a:ext uri="{9D8B030D-6E8A-4147-A177-3AD203B41FA5}">
                          <a16:colId xmlns:a16="http://schemas.microsoft.com/office/drawing/2014/main" val="1180890576"/>
                        </a:ext>
                      </a:extLst>
                    </a:gridCol>
                    <a:gridCol w="392747">
                      <a:extLst>
                        <a:ext uri="{9D8B030D-6E8A-4147-A177-3AD203B41FA5}">
                          <a16:colId xmlns:a16="http://schemas.microsoft.com/office/drawing/2014/main" val="3278837120"/>
                        </a:ext>
                      </a:extLst>
                    </a:gridCol>
                    <a:gridCol w="392747">
                      <a:extLst>
                        <a:ext uri="{9D8B030D-6E8A-4147-A177-3AD203B41FA5}">
                          <a16:colId xmlns:a16="http://schemas.microsoft.com/office/drawing/2014/main" val="2312540590"/>
                        </a:ext>
                      </a:extLst>
                    </a:gridCol>
                    <a:gridCol w="392747">
                      <a:extLst>
                        <a:ext uri="{9D8B030D-6E8A-4147-A177-3AD203B41FA5}">
                          <a16:colId xmlns:a16="http://schemas.microsoft.com/office/drawing/2014/main" val="1717400905"/>
                        </a:ext>
                      </a:extLst>
                    </a:gridCol>
                  </a:tblGrid>
                  <a:tr h="28616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effectLst/>
                              <a:latin typeface="Ubuntu" panose="020B0604020202020204" charset="0"/>
                            </a:rPr>
                            <a:t>q</a:t>
                          </a:r>
                          <a:endParaRPr lang="ru-RU" sz="1400" b="1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effectLst/>
                              <a:latin typeface="Ubuntu" panose="020B0604020202020204" charset="0"/>
                            </a:rPr>
                            <a:t>r</a:t>
                          </a:r>
                          <a:endParaRPr lang="ru-RU" sz="1400" b="1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effectLst/>
                              <a:latin typeface="Ubuntu" panose="020B0604020202020204" charset="0"/>
                            </a:rPr>
                            <a:t>x</a:t>
                          </a:r>
                          <a:endParaRPr lang="ru-RU" sz="1400" b="1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48101" t="-8511" r="-248101" b="-4914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423077" t="-8511" r="-201538" b="-4914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effectLst/>
                              <a:latin typeface="Ubuntu" panose="020B0604020202020204" charset="0"/>
                            </a:rPr>
                            <a:t>x</a:t>
                          </a:r>
                          <a:r>
                            <a:rPr lang="ru-RU" sz="1400" b="1" baseline="-25000" dirty="0">
                              <a:effectLst/>
                              <a:latin typeface="Ubuntu" panose="020B0604020202020204" charset="0"/>
                            </a:rPr>
                            <a:t>2</a:t>
                          </a:r>
                          <a:endParaRPr lang="ru-RU" sz="1400" b="1" baseline="-250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effectLst/>
                              <a:latin typeface="Ubuntu" panose="020B0604020202020204" charset="0"/>
                            </a:rPr>
                            <a:t>x</a:t>
                          </a:r>
                          <a:r>
                            <a:rPr lang="ru-RU" sz="1400" b="1" baseline="-25000" dirty="0">
                              <a:effectLst/>
                              <a:latin typeface="Ubuntu" panose="020B0604020202020204" charset="0"/>
                            </a:rPr>
                            <a:t>1</a:t>
                          </a:r>
                          <a:endParaRPr lang="ru-RU" sz="1400" b="1" baseline="-250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241003347"/>
                      </a:ext>
                    </a:extLst>
                  </a:tr>
                  <a:tr h="286163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515" t="-108511" r="-612121" b="-3914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04688" t="-108511" r="-531250" b="-3914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01538" t="-108511" r="-423077" b="-3914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28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  <a:latin typeface="Ubuntu" panose="020B0604020202020204" charset="0"/>
                            </a:rPr>
                            <a:t>1</a:t>
                          </a:r>
                          <a:endParaRPr lang="ru-RU" sz="140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  <a:latin typeface="Ubuntu" panose="020B0604020202020204" charset="0"/>
                            </a:rPr>
                            <a:t>0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38544129"/>
                      </a:ext>
                    </a:extLst>
                  </a:tr>
                  <a:tr h="2565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99018203"/>
                      </a:ext>
                    </a:extLst>
                  </a:tr>
                  <a:tr h="25994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01538" t="-325581" r="-423077" b="-2302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621538" t="-325581" r="-3077" b="-2302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1117961"/>
                      </a:ext>
                    </a:extLst>
                  </a:tr>
                  <a:tr h="25994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531250" t="-425581" r="-104688" b="-1302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36605965"/>
                      </a:ext>
                    </a:extLst>
                  </a:tr>
                  <a:tr h="2565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92167117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Таблица 6">
                <a:extLst>
                  <a:ext uri="{FF2B5EF4-FFF2-40B4-BE49-F238E27FC236}">
                    <a16:creationId xmlns:a16="http://schemas.microsoft.com/office/drawing/2014/main" id="{832F5B7E-96DD-44CC-BDE8-7C338319FC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2634149"/>
                  </p:ext>
                </p:extLst>
              </p:nvPr>
            </p:nvGraphicFramePr>
            <p:xfrm>
              <a:off x="6100248" y="2792604"/>
              <a:ext cx="2762725" cy="134876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{5940675A-B579-460E-94D1-54222C63F5DA}</a:tableStyleId>
                  </a:tblPr>
                  <a:tblGrid>
                    <a:gridCol w="387720">
                      <a:extLst>
                        <a:ext uri="{9D8B030D-6E8A-4147-A177-3AD203B41FA5}">
                          <a16:colId xmlns:a16="http://schemas.microsoft.com/office/drawing/2014/main" val="264793904"/>
                        </a:ext>
                      </a:extLst>
                    </a:gridCol>
                    <a:gridCol w="381316">
                      <a:extLst>
                        <a:ext uri="{9D8B030D-6E8A-4147-A177-3AD203B41FA5}">
                          <a16:colId xmlns:a16="http://schemas.microsoft.com/office/drawing/2014/main" val="3885496532"/>
                        </a:ext>
                      </a:extLst>
                    </a:gridCol>
                    <a:gridCol w="381316">
                      <a:extLst>
                        <a:ext uri="{9D8B030D-6E8A-4147-A177-3AD203B41FA5}">
                          <a16:colId xmlns:a16="http://schemas.microsoft.com/office/drawing/2014/main" val="1632098987"/>
                        </a:ext>
                      </a:extLst>
                    </a:gridCol>
                    <a:gridCol w="468425">
                      <a:extLst>
                        <a:ext uri="{9D8B030D-6E8A-4147-A177-3AD203B41FA5}">
                          <a16:colId xmlns:a16="http://schemas.microsoft.com/office/drawing/2014/main" val="1180890576"/>
                        </a:ext>
                      </a:extLst>
                    </a:gridCol>
                    <a:gridCol w="381316">
                      <a:extLst>
                        <a:ext uri="{9D8B030D-6E8A-4147-A177-3AD203B41FA5}">
                          <a16:colId xmlns:a16="http://schemas.microsoft.com/office/drawing/2014/main" val="3278837120"/>
                        </a:ext>
                      </a:extLst>
                    </a:gridCol>
                    <a:gridCol w="381316">
                      <a:extLst>
                        <a:ext uri="{9D8B030D-6E8A-4147-A177-3AD203B41FA5}">
                          <a16:colId xmlns:a16="http://schemas.microsoft.com/office/drawing/2014/main" val="2312540590"/>
                        </a:ext>
                      </a:extLst>
                    </a:gridCol>
                    <a:gridCol w="381316">
                      <a:extLst>
                        <a:ext uri="{9D8B030D-6E8A-4147-A177-3AD203B41FA5}">
                          <a16:colId xmlns:a16="http://schemas.microsoft.com/office/drawing/2014/main" val="1717400905"/>
                        </a:ext>
                      </a:extLst>
                    </a:gridCol>
                  </a:tblGrid>
                  <a:tr h="28616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effectLst/>
                              <a:latin typeface="Ubuntu" panose="020B0604020202020204" charset="0"/>
                            </a:rPr>
                            <a:t>q</a:t>
                          </a:r>
                          <a:endParaRPr lang="ru-RU" sz="1400" b="1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effectLst/>
                              <a:latin typeface="Ubuntu" panose="020B0604020202020204" charset="0"/>
                            </a:rPr>
                            <a:t>r</a:t>
                          </a:r>
                          <a:endParaRPr lang="ru-RU" sz="1400" b="1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effectLst/>
                              <a:latin typeface="Ubuntu" panose="020B0604020202020204" charset="0"/>
                            </a:rPr>
                            <a:t>x</a:t>
                          </a:r>
                          <a:endParaRPr lang="ru-RU" sz="1400" b="1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400" b="1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400" b="1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effectLst/>
                              <a:latin typeface="Ubuntu" panose="020B0604020202020204" charset="0"/>
                            </a:rPr>
                            <a:t>x</a:t>
                          </a:r>
                          <a:r>
                            <a:rPr lang="ru-RU" sz="1400" b="1" baseline="-25000" dirty="0">
                              <a:effectLst/>
                              <a:latin typeface="Ubuntu" panose="020B0604020202020204" charset="0"/>
                            </a:rPr>
                            <a:t>2</a:t>
                          </a:r>
                          <a:endParaRPr lang="ru-RU" sz="1400" b="1" baseline="-250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effectLst/>
                              <a:latin typeface="Ubuntu" panose="020B0604020202020204" charset="0"/>
                            </a:rPr>
                            <a:t>x</a:t>
                          </a:r>
                          <a:r>
                            <a:rPr lang="ru-RU" sz="1400" b="1" baseline="-25000" dirty="0">
                              <a:effectLst/>
                              <a:latin typeface="Ubuntu" panose="020B0604020202020204" charset="0"/>
                            </a:rPr>
                            <a:t>1</a:t>
                          </a:r>
                          <a:endParaRPr lang="ru-RU" sz="1400" b="1" baseline="-250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241003347"/>
                      </a:ext>
                    </a:extLst>
                  </a:tr>
                  <a:tr h="28616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  <a:latin typeface="Ubuntu" panose="020B0604020202020204" charset="0"/>
                            </a:rPr>
                            <a:t>1</a:t>
                          </a:r>
                          <a:endParaRPr lang="ru-RU" sz="140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  <a:latin typeface="Ubuntu" panose="020B0604020202020204" charset="0"/>
                            </a:rPr>
                            <a:t>0</a:t>
                          </a:r>
                          <a:endParaRPr lang="ru-RU" sz="140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38544129"/>
                      </a:ext>
                    </a:extLst>
                  </a:tr>
                  <a:tr h="2565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99018203"/>
                      </a:ext>
                    </a:extLst>
                  </a:tr>
                  <a:tr h="25994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81117961"/>
                      </a:ext>
                    </a:extLst>
                  </a:tr>
                  <a:tr h="25994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366059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Таблица 6">
                <a:extLst>
                  <a:ext uri="{FF2B5EF4-FFF2-40B4-BE49-F238E27FC236}">
                    <a16:creationId xmlns:a16="http://schemas.microsoft.com/office/drawing/2014/main" id="{832F5B7E-96DD-44CC-BDE8-7C338319FC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2634149"/>
                  </p:ext>
                </p:extLst>
              </p:nvPr>
            </p:nvGraphicFramePr>
            <p:xfrm>
              <a:off x="6100248" y="2792604"/>
              <a:ext cx="2762725" cy="134876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{5940675A-B579-460E-94D1-54222C63F5DA}</a:tableStyleId>
                  </a:tblPr>
                  <a:tblGrid>
                    <a:gridCol w="387720">
                      <a:extLst>
                        <a:ext uri="{9D8B030D-6E8A-4147-A177-3AD203B41FA5}">
                          <a16:colId xmlns:a16="http://schemas.microsoft.com/office/drawing/2014/main" val="264793904"/>
                        </a:ext>
                      </a:extLst>
                    </a:gridCol>
                    <a:gridCol w="381316">
                      <a:extLst>
                        <a:ext uri="{9D8B030D-6E8A-4147-A177-3AD203B41FA5}">
                          <a16:colId xmlns:a16="http://schemas.microsoft.com/office/drawing/2014/main" val="3885496532"/>
                        </a:ext>
                      </a:extLst>
                    </a:gridCol>
                    <a:gridCol w="381316">
                      <a:extLst>
                        <a:ext uri="{9D8B030D-6E8A-4147-A177-3AD203B41FA5}">
                          <a16:colId xmlns:a16="http://schemas.microsoft.com/office/drawing/2014/main" val="1632098987"/>
                        </a:ext>
                      </a:extLst>
                    </a:gridCol>
                    <a:gridCol w="468425">
                      <a:extLst>
                        <a:ext uri="{9D8B030D-6E8A-4147-A177-3AD203B41FA5}">
                          <a16:colId xmlns:a16="http://schemas.microsoft.com/office/drawing/2014/main" val="1180890576"/>
                        </a:ext>
                      </a:extLst>
                    </a:gridCol>
                    <a:gridCol w="381316">
                      <a:extLst>
                        <a:ext uri="{9D8B030D-6E8A-4147-A177-3AD203B41FA5}">
                          <a16:colId xmlns:a16="http://schemas.microsoft.com/office/drawing/2014/main" val="3278837120"/>
                        </a:ext>
                      </a:extLst>
                    </a:gridCol>
                    <a:gridCol w="381316">
                      <a:extLst>
                        <a:ext uri="{9D8B030D-6E8A-4147-A177-3AD203B41FA5}">
                          <a16:colId xmlns:a16="http://schemas.microsoft.com/office/drawing/2014/main" val="2312540590"/>
                        </a:ext>
                      </a:extLst>
                    </a:gridCol>
                    <a:gridCol w="381316">
                      <a:extLst>
                        <a:ext uri="{9D8B030D-6E8A-4147-A177-3AD203B41FA5}">
                          <a16:colId xmlns:a16="http://schemas.microsoft.com/office/drawing/2014/main" val="1717400905"/>
                        </a:ext>
                      </a:extLst>
                    </a:gridCol>
                  </a:tblGrid>
                  <a:tr h="28616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effectLst/>
                              <a:latin typeface="Ubuntu" panose="020B0604020202020204" charset="0"/>
                            </a:rPr>
                            <a:t>q</a:t>
                          </a:r>
                          <a:endParaRPr lang="ru-RU" sz="1400" b="1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effectLst/>
                              <a:latin typeface="Ubuntu" panose="020B0604020202020204" charset="0"/>
                            </a:rPr>
                            <a:t>r</a:t>
                          </a:r>
                          <a:endParaRPr lang="ru-RU" sz="1400" b="1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effectLst/>
                              <a:latin typeface="Ubuntu" panose="020B0604020202020204" charset="0"/>
                            </a:rPr>
                            <a:t>x</a:t>
                          </a:r>
                          <a:endParaRPr lang="ru-RU" sz="1400" b="1" i="1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246753" t="-8511" r="-246753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423810" t="-8511" r="-201587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effectLst/>
                              <a:latin typeface="Ubuntu" panose="020B0604020202020204" charset="0"/>
                            </a:rPr>
                            <a:t>x</a:t>
                          </a:r>
                          <a:r>
                            <a:rPr lang="ru-RU" sz="1400" b="1" baseline="-25000" dirty="0">
                              <a:effectLst/>
                              <a:latin typeface="Ubuntu" panose="020B0604020202020204" charset="0"/>
                            </a:rPr>
                            <a:t>2</a:t>
                          </a:r>
                          <a:endParaRPr lang="ru-RU" sz="1400" b="1" baseline="-250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effectLst/>
                              <a:latin typeface="Ubuntu" panose="020B0604020202020204" charset="0"/>
                            </a:rPr>
                            <a:t>x</a:t>
                          </a:r>
                          <a:r>
                            <a:rPr lang="ru-RU" sz="1400" b="1" baseline="-25000" dirty="0">
                              <a:effectLst/>
                              <a:latin typeface="Ubuntu" panose="020B0604020202020204" charset="0"/>
                            </a:rPr>
                            <a:t>1</a:t>
                          </a:r>
                          <a:endParaRPr lang="ru-RU" sz="1400" b="1" baseline="-250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241003347"/>
                      </a:ext>
                    </a:extLst>
                  </a:tr>
                  <a:tr h="286163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1563" t="-108511" r="-6125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104839" t="-108511" r="-532258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201587" t="-108511" r="-42381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  <a:latin typeface="Ubuntu" panose="020B0604020202020204" charset="0"/>
                            </a:rPr>
                            <a:t>1</a:t>
                          </a:r>
                          <a:endParaRPr lang="ru-RU" sz="140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  <a:latin typeface="Ubuntu" panose="020B0604020202020204" charset="0"/>
                            </a:rPr>
                            <a:t>0</a:t>
                          </a:r>
                          <a:endParaRPr lang="ru-RU" sz="140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38544129"/>
                      </a:ext>
                    </a:extLst>
                  </a:tr>
                  <a:tr h="2565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99018203"/>
                      </a:ext>
                    </a:extLst>
                  </a:tr>
                  <a:tr h="25994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201587" t="-325581" r="-423810" b="-1302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622222" t="-325581" r="-3175" b="-1302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1117961"/>
                      </a:ext>
                    </a:extLst>
                  </a:tr>
                  <a:tr h="25994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Ubuntu" panose="020B060402020202020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532258" t="-425581" r="-104839" b="-302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endParaRPr lang="ru-RU" sz="1400" dirty="0">
                            <a:effectLst/>
                            <a:latin typeface="Ubuntu" panose="020B060402020202020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3660596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Текст 2">
                <a:extLst>
                  <a:ext uri="{FF2B5EF4-FFF2-40B4-BE49-F238E27FC236}">
                    <a16:creationId xmlns:a16="http://schemas.microsoft.com/office/drawing/2014/main" id="{DD4BB309-C8F7-4D5F-A767-71DE7CDF2D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75363" y="863551"/>
                <a:ext cx="5257187" cy="20459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800"/>
                  <a:buFont typeface="Ubuntu"/>
                  <a:buChar char="●"/>
                  <a:defRPr sz="1800" b="0" i="0" u="none" strike="noStrike" cap="none">
                    <a:solidFill>
                      <a:schemeClr val="dk2"/>
                    </a:solidFill>
                    <a:latin typeface="Ubuntu"/>
                    <a:ea typeface="Ubuntu"/>
                    <a:cs typeface="Ubuntu"/>
                    <a:sym typeface="Ubuntu"/>
                  </a:defRPr>
                </a:lvl1pPr>
                <a:lvl2pPr marL="914400" marR="0" lvl="1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Ubuntu"/>
                  <a:buChar char="○"/>
                  <a:defRPr sz="1400" b="0" i="0" u="none" strike="noStrike" cap="none">
                    <a:solidFill>
                      <a:schemeClr val="dk2"/>
                    </a:solidFill>
                    <a:latin typeface="Ubuntu"/>
                    <a:ea typeface="Ubuntu"/>
                    <a:cs typeface="Ubuntu"/>
                    <a:sym typeface="Ubuntu"/>
                  </a:defRPr>
                </a:lvl2pPr>
                <a:lvl3pPr marL="1371600" marR="0" lvl="2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Ubuntu"/>
                  <a:buChar char="■"/>
                  <a:defRPr sz="1400" b="0" i="0" u="none" strike="noStrike" cap="none">
                    <a:solidFill>
                      <a:schemeClr val="dk2"/>
                    </a:solidFill>
                    <a:latin typeface="Ubuntu"/>
                    <a:ea typeface="Ubuntu"/>
                    <a:cs typeface="Ubuntu"/>
                    <a:sym typeface="Ubuntu"/>
                  </a:defRPr>
                </a:lvl3pPr>
                <a:lvl4pPr marL="1828800" marR="0" lvl="3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Ubuntu"/>
                  <a:buChar char="●"/>
                  <a:defRPr sz="1400" b="0" i="0" u="none" strike="noStrike" cap="none">
                    <a:solidFill>
                      <a:schemeClr val="dk2"/>
                    </a:solidFill>
                    <a:latin typeface="Ubuntu"/>
                    <a:ea typeface="Ubuntu"/>
                    <a:cs typeface="Ubuntu"/>
                    <a:sym typeface="Ubuntu"/>
                  </a:defRPr>
                </a:lvl4pPr>
                <a:lvl5pPr marL="2286000" marR="0" lvl="4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Ubuntu"/>
                  <a:buChar char="○"/>
                  <a:defRPr sz="1400" b="0" i="0" u="none" strike="noStrike" cap="none">
                    <a:solidFill>
                      <a:schemeClr val="dk2"/>
                    </a:solidFill>
                    <a:latin typeface="Ubuntu"/>
                    <a:ea typeface="Ubuntu"/>
                    <a:cs typeface="Ubuntu"/>
                    <a:sym typeface="Ubuntu"/>
                  </a:defRPr>
                </a:lvl5pPr>
                <a:lvl6pPr marL="2743200" marR="0" lvl="5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Ubuntu"/>
                  <a:buChar char="■"/>
                  <a:defRPr sz="1400" b="0" i="0" u="none" strike="noStrike" cap="none">
                    <a:solidFill>
                      <a:schemeClr val="dk2"/>
                    </a:solidFill>
                    <a:latin typeface="Ubuntu"/>
                    <a:ea typeface="Ubuntu"/>
                    <a:cs typeface="Ubuntu"/>
                    <a:sym typeface="Ubuntu"/>
                  </a:defRPr>
                </a:lvl6pPr>
                <a:lvl7pPr marL="3200400" marR="0" lvl="6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Ubuntu"/>
                  <a:buChar char="●"/>
                  <a:defRPr sz="1400" b="0" i="0" u="none" strike="noStrike" cap="none">
                    <a:solidFill>
                      <a:schemeClr val="dk2"/>
                    </a:solidFill>
                    <a:latin typeface="Ubuntu"/>
                    <a:ea typeface="Ubuntu"/>
                    <a:cs typeface="Ubuntu"/>
                    <a:sym typeface="Ubuntu"/>
                  </a:defRPr>
                </a:lvl7pPr>
                <a:lvl8pPr marL="3657600" marR="0" lvl="7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Ubuntu"/>
                  <a:buChar char="○"/>
                  <a:defRPr sz="1400" b="0" i="0" u="none" strike="noStrike" cap="none">
                    <a:solidFill>
                      <a:schemeClr val="dk2"/>
                    </a:solidFill>
                    <a:latin typeface="Ubuntu"/>
                    <a:ea typeface="Ubuntu"/>
                    <a:cs typeface="Ubuntu"/>
                    <a:sym typeface="Ubuntu"/>
                  </a:defRPr>
                </a:lvl8pPr>
                <a:lvl9pPr marL="4114800" marR="0" lvl="8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dk2"/>
                  </a:buClr>
                  <a:buSzPts val="1400"/>
                  <a:buFont typeface="Ubuntu"/>
                  <a:buChar char="■"/>
                  <a:defRPr sz="1400" b="0" i="0" u="none" strike="noStrike" cap="none">
                    <a:solidFill>
                      <a:schemeClr val="dk2"/>
                    </a:solidFill>
                    <a:latin typeface="Ubuntu"/>
                    <a:ea typeface="Ubuntu"/>
                    <a:cs typeface="Ubuntu"/>
                    <a:sym typeface="Ubuntu"/>
                  </a:defRPr>
                </a:lvl9pPr>
              </a:lstStyle>
              <a:p>
                <a:pPr algn="just">
                  <a:spcBef>
                    <a:spcPts val="600"/>
                  </a:spcBef>
                </a:pPr>
                <a:r>
                  <a:rPr lang="ru-RU" dirty="0"/>
                  <a:t>Решение:</a:t>
                </a:r>
                <a:endParaRPr lang="en-US" dirty="0"/>
              </a:p>
              <a:p>
                <a:pPr marL="450850" indent="0" algn="just">
                  <a:spcBef>
                    <a:spcPts val="600"/>
                  </a:spcBef>
                  <a:buFont typeface="Ubuntu"/>
                  <a:buNone/>
                </a:pP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600" i="1" smtClean="0">
                        <a:latin typeface="Cambria Math" panose="02040503050406030204" pitchFamily="18" charset="0"/>
                      </a:rPr>
                      <m:t>=4∙5∙7=140</m:t>
                    </m:r>
                  </m:oMath>
                </a14:m>
                <a:r>
                  <a:rPr lang="en-US" sz="1600" dirty="0">
                    <a:latin typeface="+mn-lt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140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=35</m:t>
                    </m:r>
                  </m:oMath>
                </a14:m>
                <a:r>
                  <a:rPr lang="en-US" sz="1600" dirty="0">
                    <a:latin typeface="+mn-lt"/>
                  </a:rPr>
                  <a:t>;</a:t>
                </a:r>
                <a:endParaRPr lang="ru-RU" sz="1600" dirty="0">
                  <a:latin typeface="+mn-lt"/>
                </a:endParaRPr>
              </a:p>
              <a:p>
                <a:pPr marL="450850" indent="0" algn="just">
                  <a:spcBef>
                    <a:spcPts val="600"/>
                  </a:spcBef>
                  <a:buFont typeface="Ubuntu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140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=28</m:t>
                    </m:r>
                  </m:oMath>
                </a14:m>
                <a:r>
                  <a:rPr lang="en-US" sz="1600" dirty="0">
                    <a:latin typeface="+mn-lt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140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n-US" sz="1600" dirty="0">
                    <a:latin typeface="+mn-lt"/>
                  </a:rPr>
                  <a:t>;</a:t>
                </a:r>
                <a:endParaRPr lang="en-US" sz="1600" i="1" dirty="0">
                  <a:latin typeface="Cambria Math" panose="02040503050406030204" pitchFamily="18" charset="0"/>
                </a:endParaRPr>
              </a:p>
              <a:p>
                <a:pPr marL="450850" indent="0" algn="just">
                  <a:spcBef>
                    <a:spcPts val="600"/>
                  </a:spcBef>
                  <a:buFont typeface="Ubuntu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∙35+3∙2∙28+2∙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</m:t>
                          </m:r>
                        </m:e>
                      </m:d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=58.</m:t>
                      </m:r>
                    </m:oMath>
                  </m:oMathPara>
                </a14:m>
                <a:endParaRPr lang="en-US" sz="1600" b="0" i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Текст 2">
                <a:extLst>
                  <a:ext uri="{FF2B5EF4-FFF2-40B4-BE49-F238E27FC236}">
                    <a16:creationId xmlns:a16="http://schemas.microsoft.com/office/drawing/2014/main" id="{DD4BB309-C8F7-4D5F-A767-71DE7CDF2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5363" y="863551"/>
                <a:ext cx="5257187" cy="20459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7056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A431B8A2-B061-4A0E-9010-6DA4E704B1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Квадратичные вычеты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C7AF5FA7-3D2B-45FF-9C2B-853B101A12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9E9583-CD45-4692-B3D7-8781F38CA70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94725" y="4846638"/>
            <a:ext cx="549275" cy="28575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9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888438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404F44-140D-4FF3-98D4-7857ED109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Квадратичные вычеты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7BFE8E81-F3CE-4735-A70F-BA92301DE68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ru-RU" u="sng" dirty="0"/>
                  <a:t>Сравнение второй степени с одним неизвестным</a:t>
                </a:r>
                <a:r>
                  <a:rPr lang="ru-RU" dirty="0"/>
                  <a:t>:</a:t>
                </a:r>
                <a:endParaRPr lang="en-US" dirty="0"/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ru-RU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ru-RU" sz="16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 2, …,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1600" dirty="0"/>
                  <a:t>.</a:t>
                </a:r>
                <a:endParaRPr lang="ru-RU" sz="1600" dirty="0"/>
              </a:p>
              <a:p>
                <a:pPr algn="just">
                  <a:spcBef>
                    <a:spcPts val="600"/>
                  </a:spcBef>
                </a:pPr>
                <a:r>
                  <a:rPr lang="ru-RU" dirty="0"/>
                  <a:t>Число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называется </a:t>
                </a:r>
                <a:r>
                  <a:rPr lang="ru-RU" u="sng" dirty="0"/>
                  <a:t>квадратичным вычетом </a:t>
                </a:r>
                <a:r>
                  <a:rPr lang="ru-RU" dirty="0"/>
                  <a:t>по модулю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, если данное сравнение разрешимо (имеет два решения).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dirty="0"/>
                  <a:t>Число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называется </a:t>
                </a:r>
                <a:r>
                  <a:rPr lang="ru-RU" u="sng" dirty="0"/>
                  <a:t>квадратичным невычетом </a:t>
                </a:r>
                <a:r>
                  <a:rPr lang="ru-RU" dirty="0"/>
                  <a:t>по модулю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, если данное сравнение не имеет решений.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является </a:t>
                </a:r>
                <a:r>
                  <a:rPr lang="ru-RU" u="sng" dirty="0"/>
                  <a:t>квадратичным вычетом </a:t>
                </a:r>
                <a:r>
                  <a:rPr lang="ru-RU" dirty="0"/>
                  <a:t>по модулю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, то любой элемент из класса вычетов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также является квадратичным вычетом.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b="1" dirty="0"/>
                  <a:t>Примеры:</a:t>
                </a: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5 </m:t>
                    </m:r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r>
                  <a:rPr lang="en-US" dirty="0"/>
                  <a:t> — </a:t>
                </a:r>
                <a:r>
                  <a:rPr lang="ru-RU" dirty="0"/>
                  <a:t>квадратичный вычет, так как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=5;</m:t>
                    </m:r>
                  </m:oMath>
                </a14:m>
                <a:endParaRPr lang="ru-RU" dirty="0"/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r>
                  <a:rPr lang="en-US" dirty="0"/>
                  <a:t> — </a:t>
                </a:r>
                <a:r>
                  <a:rPr lang="ru-RU" dirty="0"/>
                  <a:t>квадратичный невычет.</a:t>
                </a:r>
                <a:endParaRPr lang="en-US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7BFE8E81-F3CE-4735-A70F-BA92301DE6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48" b="-29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D2F1F4-5D5C-40D0-AEE6-56CA54682E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10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40344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73D1FD-B8DB-46AD-B282-F31C67587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Свойства квадратичных вычетов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FFB857BA-B488-420C-94B5-A8FEF3E1838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300"/>
                  </a:spcBef>
                </a:pPr>
                <a:r>
                  <a:rPr lang="ru-RU" b="1" dirty="0"/>
                  <a:t>Теорема.</a:t>
                </a:r>
                <a:r>
                  <a:rPr lang="ru-RU" dirty="0"/>
                  <a:t> Для любого простого числа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ru-RU" dirty="0"/>
                  <a:t> число</a:t>
                </a:r>
                <a:r>
                  <a:rPr lang="en-US" dirty="0"/>
                  <a:t> </a:t>
                </a:r>
                <a:r>
                  <a:rPr lang="ru-RU" dirty="0"/>
                  <a:t>классов квадратичных вычетов по модулю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 равно числу классов</a:t>
                </a:r>
                <a:r>
                  <a:rPr lang="en-US" dirty="0"/>
                  <a:t> </a:t>
                </a:r>
                <a:r>
                  <a:rPr lang="ru-RU" dirty="0"/>
                  <a:t>квадратичных невычетов по модулю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pPr algn="just">
                  <a:spcBef>
                    <a:spcPts val="300"/>
                  </a:spcBef>
                </a:pPr>
                <a:r>
                  <a:rPr lang="ru-RU" b="1" dirty="0"/>
                  <a:t>Теорема.</a:t>
                </a:r>
                <a:r>
                  <a:rPr lang="ru-RU" dirty="0"/>
                  <a:t> Числа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, …,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ru-RU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 образуют систему</a:t>
                </a:r>
                <a:r>
                  <a:rPr lang="en-US" dirty="0"/>
                  <a:t> </a:t>
                </a:r>
                <a:r>
                  <a:rPr lang="ru-RU" dirty="0"/>
                  <a:t>представителей всех классов квадратичных вычетов по простому</a:t>
                </a:r>
                <a:r>
                  <a:rPr lang="en-US" dirty="0"/>
                  <a:t> </a:t>
                </a:r>
                <a:r>
                  <a:rPr lang="ru-RU" dirty="0"/>
                  <a:t>модулю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.</a:t>
                </a:r>
              </a:p>
              <a:p>
                <a:pPr algn="just">
                  <a:spcBef>
                    <a:spcPts val="300"/>
                  </a:spcBef>
                </a:pPr>
                <a:r>
                  <a:rPr lang="ru-RU" dirty="0"/>
                  <a:t>Пример для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  <a:p>
                <a:pPr lvl="1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\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ru-RU" sz="16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ru-RU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ru-RU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1, 2, 3, 4, 5, 6, 7, 8, 9, 10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1, 2, 3, 4, 5, −5, −4, −3, −2, −1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 marL="1520825" lvl="1" indent="0" algn="just">
                  <a:spcBef>
                    <a:spcPts val="300"/>
                  </a:spcBef>
                  <a:buNone/>
                </a:pPr>
                <a:r>
                  <a:rPr lang="ru-RU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±1,±2,±3,±4,±5</m:t>
                        </m:r>
                      </m:e>
                    </m:d>
                  </m:oMath>
                </a14:m>
                <a:r>
                  <a:rPr lang="en-US" sz="1600" dirty="0"/>
                  <a:t>;</a:t>
                </a:r>
              </a:p>
              <a:p>
                <a:pPr lvl="1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±1</m:t>
                            </m:r>
                          </m:e>
                        </m:d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600" dirty="0"/>
                  <a:t>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1600" dirty="0"/>
                  <a:t>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sz="1600" dirty="0"/>
                  <a:t>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600" dirty="0"/>
                  <a:t>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endParaRPr lang="en-US" sz="1600" dirty="0"/>
              </a:p>
              <a:p>
                <a:pPr lvl="1" algn="just">
                  <a:spcBef>
                    <a:spcPts val="300"/>
                  </a:spcBef>
                </a:pPr>
                <a:r>
                  <a:rPr lang="ru-RU" sz="1600" dirty="0"/>
                  <a:t>квадратичные вычеты по модулю 11:		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1, 3, 4, 5, 9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ru-RU" sz="1600" dirty="0"/>
                  <a:t>;</a:t>
                </a:r>
              </a:p>
              <a:p>
                <a:pPr lvl="1" algn="just">
                  <a:spcBef>
                    <a:spcPts val="300"/>
                  </a:spcBef>
                </a:pPr>
                <a:r>
                  <a:rPr lang="ru-RU" sz="1600" dirty="0"/>
                  <a:t>квадратичные невычеты по модулю 11:	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2, 6, 7, 8, 10</m:t>
                        </m:r>
                      </m:e>
                    </m:d>
                  </m:oMath>
                </a14:m>
                <a:r>
                  <a:rPr lang="ru-RU" sz="1600" dirty="0"/>
                  <a:t>.</a:t>
                </a:r>
                <a:endParaRPr lang="en-US" sz="160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FFB857BA-B488-420C-94B5-A8FEF3E183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48" b="-9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0EC23B-8D2E-4535-B339-3491778B8F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11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510784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742956-8459-4F99-B389-C9ABC8F51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Символ Лежандра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5545E062-86A3-4127-8537-737AB2EEDA8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300"/>
                  </a:spcBef>
                </a:pPr>
                <a:r>
                  <a:rPr lang="ru-RU" sz="1600" u="sng" dirty="0"/>
                  <a:t>Символ Лежандра</a:t>
                </a:r>
                <a:r>
                  <a:rPr lang="ru-RU" sz="16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sz="16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1600" dirty="0"/>
                  <a:t> — </a:t>
                </a:r>
                <a:r>
                  <a:rPr lang="ru-RU" sz="1600" dirty="0"/>
                  <a:t>это функция, указывающая на то, является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 2, …, 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квадратичным вычетом или невычетом</a:t>
                </a:r>
                <a:r>
                  <a:rPr lang="en-US" sz="1600" dirty="0"/>
                  <a:t> </a:t>
                </a:r>
                <a:r>
                  <a:rPr lang="ru-RU" sz="1600" dirty="0"/>
                  <a:t>по модулю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ru-RU" sz="1600" dirty="0"/>
                  <a:t>:</a:t>
                </a:r>
              </a:p>
              <a:p>
                <a:pPr lvl="1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=+1</m:t>
                    </m:r>
                  </m:oMath>
                </a14:m>
                <a:r>
                  <a:rPr lang="ru-RU" dirty="0"/>
                  <a:t>, если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—</a:t>
                </a:r>
                <a:r>
                  <a:rPr lang="ru-RU" dirty="0"/>
                  <a:t> квадратичный вычет по модулю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;</a:t>
                </a:r>
              </a:p>
              <a:p>
                <a:pPr lvl="1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ru-RU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ru-RU" dirty="0"/>
                  <a:t>, если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—</a:t>
                </a:r>
                <a:r>
                  <a:rPr lang="ru-RU" dirty="0"/>
                  <a:t> квадратичный невычет по модулю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dirty="0"/>
              </a:p>
              <a:p>
                <a:pPr algn="just">
                  <a:spcBef>
                    <a:spcPts val="300"/>
                  </a:spcBef>
                </a:pPr>
                <a:r>
                  <a:rPr lang="ru-RU" sz="1600" dirty="0"/>
                  <a:t>Свойства символа Лежандра:</a:t>
                </a:r>
              </a:p>
              <a:p>
                <a:pPr lvl="1" algn="just">
                  <a:spcBef>
                    <a:spcPts val="300"/>
                  </a:spcBef>
                </a:pP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:r>
                  <a:rPr lang="ru-RU" dirty="0"/>
                  <a:t>то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;</a:t>
                </a:r>
              </a:p>
              <a:p>
                <a:pPr lvl="1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ru-RU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;</a:t>
                </a:r>
              </a:p>
              <a:p>
                <a:pPr lvl="1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en-US" dirty="0"/>
                  <a:t>;</a:t>
                </a:r>
                <a:endParaRPr lang="ru-RU" dirty="0"/>
              </a:p>
              <a:p>
                <a:pPr lvl="1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u-RU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u-RU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  <m:sSub>
                              <m:sSubPr>
                                <m:ctrlPr>
                                  <a:rPr lang="ru-RU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u-RU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u-RU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u-RU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.</a:t>
                </a:r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5545E062-86A3-4127-8537-737AB2EEDA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0829B9-1965-463A-A526-BBC7BE09C0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12</a:t>
            </a:fld>
            <a:endParaRPr lang="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4">
                <a:extLst>
                  <a:ext uri="{FF2B5EF4-FFF2-40B4-BE49-F238E27FC236}">
                    <a16:creationId xmlns:a16="http://schemas.microsoft.com/office/drawing/2014/main" id="{A8B5DEE2-0C90-40C2-8E7D-1FB0ABF295E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078514" y="2834169"/>
                <a:ext cx="4248472" cy="9361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ru-RU" sz="1400" i="1" dirty="0">
                            <a:solidFill>
                              <a:schemeClr val="dk2"/>
                            </a:solidFill>
                            <a:latin typeface="Cambria Math" panose="02040503050406030204" pitchFamily="18" charset="0"/>
                            <a:ea typeface="Ubuntu"/>
                            <a:cs typeface="Ubuntu"/>
                            <a:sym typeface="Ubuntu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sz="1400" i="1" dirty="0">
                                <a:solidFill>
                                  <a:schemeClr val="dk2"/>
                                </a:solidFill>
                                <a:latin typeface="Cambria Math" panose="02040503050406030204" pitchFamily="18" charset="0"/>
                                <a:ea typeface="Ubuntu"/>
                                <a:cs typeface="Ubuntu"/>
                                <a:sym typeface="Ubuntu"/>
                              </a:rPr>
                            </m:ctrlPr>
                          </m:fPr>
                          <m:num>
                            <m:r>
                              <a:rPr lang="ru-RU" sz="1400" dirty="0">
                                <a:solidFill>
                                  <a:schemeClr val="dk2"/>
                                </a:solidFill>
                                <a:latin typeface="Cambria Math" panose="02040503050406030204" pitchFamily="18" charset="0"/>
                                <a:ea typeface="Ubuntu"/>
                                <a:cs typeface="Ubuntu"/>
                                <a:sym typeface="Ubuntu"/>
                              </a:rPr>
                              <m:t>2</m:t>
                            </m:r>
                          </m:num>
                          <m:den>
                            <m:r>
                              <a:rPr lang="en-US" sz="1400" dirty="0">
                                <a:solidFill>
                                  <a:schemeClr val="dk2"/>
                                </a:solidFill>
                                <a:latin typeface="Cambria Math" panose="02040503050406030204" pitchFamily="18" charset="0"/>
                                <a:ea typeface="Ubuntu"/>
                                <a:cs typeface="Ubuntu"/>
                                <a:sym typeface="Ubuntu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ru-RU" sz="1400" dirty="0">
                        <a:solidFill>
                          <a:schemeClr val="dk2"/>
                        </a:solidFill>
                        <a:latin typeface="Cambria Math" panose="02040503050406030204" pitchFamily="18" charset="0"/>
                        <a:ea typeface="Ubuntu"/>
                        <a:cs typeface="Ubuntu"/>
                        <a:sym typeface="Ubuntu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ru-RU" sz="1400" i="1" dirty="0">
                            <a:solidFill>
                              <a:schemeClr val="dk2"/>
                            </a:solidFill>
                            <a:latin typeface="Cambria Math" panose="02040503050406030204" pitchFamily="18" charset="0"/>
                            <a:ea typeface="Ubuntu"/>
                            <a:cs typeface="Ubuntu"/>
                            <a:sym typeface="Ubuntu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sz="1400" i="1" dirty="0">
                                <a:solidFill>
                                  <a:schemeClr val="dk2"/>
                                </a:solidFill>
                                <a:latin typeface="Cambria Math" panose="02040503050406030204" pitchFamily="18" charset="0"/>
                                <a:ea typeface="Ubuntu"/>
                                <a:cs typeface="Ubuntu"/>
                                <a:sym typeface="Ubuntu"/>
                              </a:rPr>
                            </m:ctrlPr>
                          </m:eqArrPr>
                          <m:e>
                            <m:r>
                              <a:rPr lang="ru-RU" sz="1400" dirty="0">
                                <a:solidFill>
                                  <a:schemeClr val="dk2"/>
                                </a:solidFill>
                                <a:latin typeface="Cambria Math" panose="02040503050406030204" pitchFamily="18" charset="0"/>
                                <a:ea typeface="Ubuntu"/>
                                <a:cs typeface="Ubuntu"/>
                                <a:sym typeface="Ubuntu"/>
                              </a:rPr>
                              <m:t>+1, если </m:t>
                            </m:r>
                            <m:r>
                              <a:rPr lang="en-US" sz="1400" dirty="0">
                                <a:solidFill>
                                  <a:schemeClr val="dk2"/>
                                </a:solidFill>
                                <a:latin typeface="Cambria Math" panose="02040503050406030204" pitchFamily="18" charset="0"/>
                                <a:ea typeface="Ubuntu"/>
                                <a:cs typeface="Ubuntu"/>
                                <a:sym typeface="Ubuntu"/>
                              </a:rPr>
                              <m:t>𝑝</m:t>
                            </m:r>
                            <m:r>
                              <a:rPr lang="en-US" sz="1400" dirty="0">
                                <a:solidFill>
                                  <a:schemeClr val="dk2"/>
                                </a:solidFill>
                                <a:latin typeface="Cambria Math" panose="02040503050406030204" pitchFamily="18" charset="0"/>
                                <a:ea typeface="Ubuntu"/>
                                <a:cs typeface="Ubuntu"/>
                                <a:sym typeface="Ubuntu"/>
                              </a:rPr>
                              <m:t>≡±1 </m:t>
                            </m:r>
                            <m:d>
                              <m:dPr>
                                <m:ctrlPr>
                                  <a:rPr lang="en-US" sz="1400" i="1" dirty="0">
                                    <a:solidFill>
                                      <a:schemeClr val="dk2"/>
                                    </a:solidFill>
                                    <a:latin typeface="Cambria Math" panose="02040503050406030204" pitchFamily="18" charset="0"/>
                                    <a:ea typeface="Ubuntu"/>
                                    <a:cs typeface="Ubuntu"/>
                                    <a:sym typeface="Ubuntu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400" dirty="0">
                                    <a:solidFill>
                                      <a:schemeClr val="dk2"/>
                                    </a:solidFill>
                                    <a:latin typeface="Cambria Math" panose="02040503050406030204" pitchFamily="18" charset="0"/>
                                    <a:ea typeface="Ubuntu"/>
                                    <a:cs typeface="Ubuntu"/>
                                    <a:sym typeface="Ubuntu"/>
                                  </a:rPr>
                                  <m:t>mod</m:t>
                                </m:r>
                                <m:r>
                                  <a:rPr lang="en-US" sz="1400" dirty="0">
                                    <a:solidFill>
                                      <a:schemeClr val="dk2"/>
                                    </a:solidFill>
                                    <a:latin typeface="Cambria Math" panose="02040503050406030204" pitchFamily="18" charset="0"/>
                                    <a:ea typeface="Ubuntu"/>
                                    <a:cs typeface="Ubuntu"/>
                                    <a:sym typeface="Ubuntu"/>
                                  </a:rPr>
                                  <m:t> 8</m:t>
                                </m:r>
                              </m:e>
                            </m:d>
                          </m:e>
                          <m:e>
                            <m:r>
                              <a:rPr lang="ru-RU" sz="1400">
                                <a:solidFill>
                                  <a:schemeClr val="dk2"/>
                                </a:solidFill>
                                <a:latin typeface="Cambria Math" panose="02040503050406030204" pitchFamily="18" charset="0"/>
                                <a:ea typeface="Ubuntu"/>
                                <a:cs typeface="Ubuntu"/>
                                <a:sym typeface="Ubuntu"/>
                              </a:rPr>
                              <m:t>−1, если</m:t>
                            </m:r>
                            <m:r>
                              <a:rPr lang="en-US" sz="1400">
                                <a:solidFill>
                                  <a:schemeClr val="dk2"/>
                                </a:solidFill>
                                <a:latin typeface="Cambria Math" panose="02040503050406030204" pitchFamily="18" charset="0"/>
                                <a:ea typeface="Ubuntu"/>
                                <a:cs typeface="Ubuntu"/>
                                <a:sym typeface="Ubuntu"/>
                              </a:rPr>
                              <m:t> </m:t>
                            </m:r>
                            <m:r>
                              <a:rPr lang="en-US" sz="1400" dirty="0">
                                <a:solidFill>
                                  <a:schemeClr val="dk2"/>
                                </a:solidFill>
                                <a:latin typeface="Cambria Math" panose="02040503050406030204" pitchFamily="18" charset="0"/>
                                <a:ea typeface="Ubuntu"/>
                                <a:cs typeface="Ubuntu"/>
                                <a:sym typeface="Ubuntu"/>
                              </a:rPr>
                              <m:t>𝑝</m:t>
                            </m:r>
                            <m:r>
                              <a:rPr lang="en-US" sz="1400" dirty="0">
                                <a:solidFill>
                                  <a:schemeClr val="dk2"/>
                                </a:solidFill>
                                <a:latin typeface="Cambria Math" panose="02040503050406030204" pitchFamily="18" charset="0"/>
                                <a:ea typeface="Ubuntu"/>
                                <a:cs typeface="Ubuntu"/>
                                <a:sym typeface="Ubuntu"/>
                              </a:rPr>
                              <m:t>≡±3 </m:t>
                            </m:r>
                            <m:d>
                              <m:dPr>
                                <m:ctrlPr>
                                  <a:rPr lang="en-US" sz="1400" i="1" dirty="0">
                                    <a:solidFill>
                                      <a:schemeClr val="dk2"/>
                                    </a:solidFill>
                                    <a:latin typeface="Cambria Math" panose="02040503050406030204" pitchFamily="18" charset="0"/>
                                    <a:ea typeface="Ubuntu"/>
                                    <a:cs typeface="Ubuntu"/>
                                    <a:sym typeface="Ubuntu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400" dirty="0">
                                    <a:solidFill>
                                      <a:schemeClr val="dk2"/>
                                    </a:solidFill>
                                    <a:latin typeface="Cambria Math" panose="02040503050406030204" pitchFamily="18" charset="0"/>
                                    <a:ea typeface="Ubuntu"/>
                                    <a:cs typeface="Ubuntu"/>
                                    <a:sym typeface="Ubuntu"/>
                                  </a:rPr>
                                  <m:t>mod</m:t>
                                </m:r>
                                <m:r>
                                  <a:rPr lang="en-US" sz="1400" dirty="0">
                                    <a:solidFill>
                                      <a:schemeClr val="dk2"/>
                                    </a:solidFill>
                                    <a:latin typeface="Cambria Math" panose="02040503050406030204" pitchFamily="18" charset="0"/>
                                    <a:ea typeface="Ubuntu"/>
                                    <a:cs typeface="Ubuntu"/>
                                    <a:sym typeface="Ubuntu"/>
                                  </a:rPr>
                                  <m:t> 8</m:t>
                                </m:r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en-US" sz="1400" dirty="0">
                  <a:solidFill>
                    <a:schemeClr val="dk2"/>
                  </a:solidFill>
                  <a:latin typeface="Ubuntu"/>
                  <a:ea typeface="Ubuntu"/>
                  <a:cs typeface="Ubuntu"/>
                  <a:sym typeface="Ubuntu"/>
                </a:endParaRPr>
              </a:p>
            </p:txBody>
          </p:sp>
        </mc:Choice>
        <mc:Fallback xmlns="">
          <p:sp>
            <p:nvSpPr>
              <p:cNvPr id="5" name="Объект 4">
                <a:extLst>
                  <a:ext uri="{FF2B5EF4-FFF2-40B4-BE49-F238E27FC236}">
                    <a16:creationId xmlns:a16="http://schemas.microsoft.com/office/drawing/2014/main" id="{A8B5DEE2-0C90-40C2-8E7D-1FB0ABF29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78514" y="2834169"/>
                <a:ext cx="4248472" cy="936104"/>
              </a:xfrm>
              <a:prstGeom prst="rect">
                <a:avLst/>
              </a:prstGeom>
              <a:blipFill>
                <a:blip r:embed="rId3"/>
                <a:stretch>
                  <a:fillRect t="-110458" b="-12418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6880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60C081-A228-4E33-B89F-4D81B0C6B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Способы вычисления символа Лежандра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6B1B5BC4-7E47-4F4A-934B-C345D446303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/>
                <a:r>
                  <a:rPr lang="ru-RU" sz="1800" b="1" dirty="0"/>
                  <a:t>Критерий Эйлера.</a:t>
                </a:r>
                <a:r>
                  <a:rPr lang="ru-RU" sz="1800" dirty="0"/>
                  <a:t> Символ Лежандра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sz="1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sz="1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b="0" i="0" dirty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sz="1800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1800" dirty="0"/>
                  <a:t>.</a:t>
                </a:r>
              </a:p>
              <a:p>
                <a:pPr algn="just"/>
                <a:r>
                  <a:rPr lang="ru-RU" sz="1800" b="1" dirty="0"/>
                  <a:t>Критерий Гаусса</a:t>
                </a:r>
                <a:r>
                  <a:rPr lang="ru-RU" sz="1800" dirty="0"/>
                  <a:t>. Символ Лежандра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sz="1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sz="18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sz="1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ru-RU" sz="18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1800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en-US" sz="1800" dirty="0"/>
                  <a:t>, </a:t>
                </a:r>
                <a:r>
                  <a:rPr lang="ru-RU" sz="1800" dirty="0"/>
                  <a:t>где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1800" dirty="0"/>
                  <a:t> </a:t>
                </a:r>
                <a:r>
                  <a:rPr lang="ru-RU" sz="1800" dirty="0"/>
                  <a:t>представляет собой количество чисел из множества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sz="1800" dirty="0"/>
                  <a:t>, </a:t>
                </a:r>
                <a14:m>
                  <m:oMath xmlns:m="http://schemas.openxmlformats.org/officeDocument/2006/math">
                    <m:r>
                      <a:rPr lang="ru-RU" sz="1600" b="0" i="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sz="1800" dirty="0"/>
                  <a:t>, …,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16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800" dirty="0"/>
                  <a:t>, </a:t>
                </a:r>
                <a:r>
                  <a:rPr lang="ru-RU" sz="1800" dirty="0"/>
                  <a:t>у которых наименьший по абсолютной величине вычет по модулю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800" dirty="0"/>
                  <a:t> </a:t>
                </a:r>
                <a:r>
                  <a:rPr lang="ru-RU" sz="1800" dirty="0"/>
                  <a:t>отрицателен.</a:t>
                </a:r>
              </a:p>
              <a:p>
                <a:pPr algn="just"/>
                <a:r>
                  <a:rPr lang="ru-RU" sz="1800" b="1" dirty="0"/>
                  <a:t>Квадратичный закон взаимности</a:t>
                </a:r>
                <a:r>
                  <a:rPr lang="ru-RU" sz="1800" dirty="0"/>
                  <a:t>. Для двух любых нечетных простых чисел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800" dirty="0"/>
                  <a:t> </a:t>
                </a:r>
                <a:r>
                  <a:rPr lang="ru-RU" sz="1800" dirty="0"/>
                  <a:t>и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ru-RU" sz="1800" dirty="0"/>
                  <a:t> верно следующее: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num>
                            <m:den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ru-RU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+1,  если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≡1 </m:t>
                              </m:r>
                              <m:d>
                                <m:dPr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 4</m:t>
                                  </m:r>
                                </m:e>
                              </m:d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 или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≡1 </m:t>
                              </m:r>
                              <m:d>
                                <m:dPr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 4</m:t>
                                  </m:r>
                                </m:e>
                              </m:d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</m:e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−1,  если 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≡3 </m:t>
                              </m:r>
                              <m:d>
                                <m:dPr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 4</m:t>
                                  </m:r>
                                </m:e>
                              </m:d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 и        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≡3</m:t>
                              </m:r>
                              <m:d>
                                <m:dPr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 4</m:t>
                                  </m:r>
                                </m:e>
                              </m:d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6B1B5BC4-7E47-4F4A-934B-C345D44630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0DD18BA-2FAF-4984-91AB-A2EFC0C814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13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776124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46F497-C74A-45BC-8C94-C301A460B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вычисления символа Лежандра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D367031F-7AE1-40AE-8F05-4C5EEFB5702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300"/>
                  </a:spcBef>
                </a:pPr>
                <a:r>
                  <a:rPr lang="ru-RU" dirty="0"/>
                  <a:t>Найти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sz="16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sz="1600" b="0" i="1" dirty="0" smtClean="0">
                                <a:latin typeface="Cambria Math" panose="02040503050406030204" pitchFamily="18" charset="0"/>
                              </a:rPr>
                              <m:t>168</m:t>
                            </m:r>
                          </m:num>
                          <m:den>
                            <m:r>
                              <a:rPr lang="ru-RU" sz="1600" b="0" i="1" dirty="0" smtClean="0">
                                <a:latin typeface="Cambria Math" panose="02040503050406030204" pitchFamily="18" charset="0"/>
                              </a:rPr>
                              <m:t>197</m:t>
                            </m:r>
                          </m:den>
                        </m:f>
                      </m:e>
                    </m:d>
                  </m:oMath>
                </a14:m>
                <a:r>
                  <a:rPr lang="ru-RU" dirty="0"/>
                  <a:t>:</a:t>
                </a:r>
              </a:p>
              <a:p>
                <a:pPr marL="803275" lvl="1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168</m:t>
                            </m:r>
                          </m:num>
                          <m:den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197</m:t>
                            </m:r>
                          </m:den>
                        </m:f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ru-RU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ru-RU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3∙7</m:t>
                            </m:r>
                          </m:num>
                          <m:den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197</m:t>
                            </m:r>
                          </m:den>
                        </m:f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ru-RU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197</m:t>
                            </m:r>
                          </m:den>
                        </m:f>
                      </m:e>
                    </m:d>
                    <m:r>
                      <a:rPr lang="ru-R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197</m:t>
                            </m:r>
                          </m:den>
                        </m:f>
                      </m:e>
                    </m:d>
                    <m:r>
                      <a:rPr lang="ru-R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197</m:t>
                            </m:r>
                          </m:den>
                        </m:f>
                      </m:e>
                    </m:d>
                    <m:r>
                      <a:rPr lang="ru-R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197</m:t>
                            </m:r>
                          </m:den>
                        </m:f>
                      </m:e>
                    </m:d>
                  </m:oMath>
                </a14:m>
                <a:r>
                  <a:rPr lang="ru-RU" dirty="0"/>
                  <a:t>;</a:t>
                </a:r>
                <a:endParaRPr lang="en-US" dirty="0"/>
              </a:p>
              <a:p>
                <a:pPr marL="803275" lvl="1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ru-RU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197</m:t>
                            </m:r>
                          </m:den>
                        </m:f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по свойству;</a:t>
                </a:r>
              </a:p>
              <a:p>
                <a:pPr marL="803275" lvl="1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197</m:t>
                            </m:r>
                          </m:den>
                        </m:f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ru-RU" dirty="0"/>
                  <a:t>, так как </a:t>
                </a:r>
                <a14:m>
                  <m:oMath xmlns:m="http://schemas.openxmlformats.org/officeDocument/2006/math"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197</m:t>
                    </m:r>
                    <m:r>
                      <a:rPr lang="ru-R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≡−3 </m:t>
                    </m:r>
                    <m:d>
                      <m:dPr>
                        <m:ctrlPr>
                          <a:rPr lang="ru-RU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8</m:t>
                        </m:r>
                      </m:e>
                    </m:d>
                  </m:oMath>
                </a14:m>
                <a:r>
                  <a:rPr lang="en-US" dirty="0"/>
                  <a:t>;</a:t>
                </a:r>
              </a:p>
              <a:p>
                <a:pPr marL="803275" lvl="1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197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197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по квадратичному закону взаимности, следовательно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197</m:t>
                            </m:r>
                          </m:den>
                        </m:f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197</m:t>
                            </m:r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ru-RU" dirty="0"/>
                  <a:t>;</a:t>
                </a:r>
              </a:p>
              <a:p>
                <a:pPr marL="803275" lvl="1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197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b="0" i="1" dirty="0" smtClean="0">
                                <a:latin typeface="Cambria Math" panose="02040503050406030204" pitchFamily="18" charset="0"/>
                              </a:rPr>
                              <m:t>19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ru-RU" dirty="0"/>
                  <a:t> по квадратичному закону взаимности, следовательно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197</m:t>
                            </m:r>
                          </m:den>
                        </m:f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19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=+1</m:t>
                    </m:r>
                  </m:oMath>
                </a14:m>
                <a:r>
                  <a:rPr lang="ru-RU" dirty="0"/>
                  <a:t>;</a:t>
                </a:r>
              </a:p>
              <a:p>
                <a:pPr marL="803275" lvl="1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168</m:t>
                            </m:r>
                          </m:num>
                          <m:den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197</m:t>
                            </m:r>
                          </m:den>
                        </m:f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=+1</m:t>
                    </m:r>
                    <m:r>
                      <a:rPr lang="ru-R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ru-RU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ru-RU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ru-RU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=+1</m:t>
                    </m:r>
                  </m:oMath>
                </a14:m>
                <a:r>
                  <a:rPr lang="ru-RU" dirty="0"/>
                  <a:t>.</a:t>
                </a:r>
              </a:p>
              <a:p>
                <a:pPr algn="just">
                  <a:spcBef>
                    <a:spcPts val="300"/>
                  </a:spcBef>
                </a:pPr>
                <a:endParaRPr lang="en-US" dirty="0"/>
              </a:p>
              <a:p>
                <a:pPr>
                  <a:spcBef>
                    <a:spcPts val="300"/>
                  </a:spcBef>
                </a:pPr>
                <a:endParaRPr lang="ru-RU" sz="140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D367031F-7AE1-40AE-8F05-4C5EEFB570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F7835BE-53A6-4EE1-85F9-B6D228B956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14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463344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A431B8A2-B061-4A0E-9010-6DA4E704B1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Решение квадратичных сравнений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C7AF5FA7-3D2B-45FF-9C2B-853B101A12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9E9583-CD45-4692-B3D7-8781F38CA70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94725" y="4846638"/>
            <a:ext cx="549275" cy="28575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15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024654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404F44-140D-4FF3-98D4-7857ED109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Сравнения второй степени: основные понятия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7BFE8E81-F3CE-4735-A70F-BA92301DE68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300"/>
                  </a:spcBef>
                </a:pPr>
                <a:r>
                  <a:rPr lang="ru-RU" u="sng" dirty="0"/>
                  <a:t>Сравнение второй степени с одним неизвестным</a:t>
                </a:r>
                <a:r>
                  <a:rPr lang="ru-RU" dirty="0"/>
                  <a:t>:</a:t>
                </a:r>
                <a:endParaRPr lang="en-US" dirty="0"/>
              </a:p>
              <a:p>
                <a:pPr lvl="1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ru-RU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ru-RU" sz="16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 2, …,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1600" dirty="0"/>
                  <a:t>.</a:t>
                </a:r>
                <a:endParaRPr lang="ru-RU" sz="1600" dirty="0"/>
              </a:p>
              <a:p>
                <a:pPr algn="just">
                  <a:spcBef>
                    <a:spcPts val="300"/>
                  </a:spcBef>
                </a:pPr>
                <a:r>
                  <a:rPr lang="ru-RU" dirty="0"/>
                  <a:t>Число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называется </a:t>
                </a:r>
                <a:r>
                  <a:rPr lang="ru-RU" u="sng" dirty="0"/>
                  <a:t>квадратичным вычетом </a:t>
                </a:r>
                <a:r>
                  <a:rPr lang="ru-RU" dirty="0"/>
                  <a:t>по модулю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, если данное сравнение разрешимо (имеет два решения).</a:t>
                </a:r>
              </a:p>
              <a:p>
                <a:pPr algn="just">
                  <a:spcBef>
                    <a:spcPts val="300"/>
                  </a:spcBef>
                </a:pPr>
                <a:r>
                  <a:rPr lang="ru-RU" dirty="0"/>
                  <a:t>Число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называется </a:t>
                </a:r>
                <a:r>
                  <a:rPr lang="ru-RU" u="sng" dirty="0"/>
                  <a:t>квадратичным невычетом </a:t>
                </a:r>
                <a:r>
                  <a:rPr lang="ru-RU" dirty="0"/>
                  <a:t>по модулю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, если данное сравнение не имеет решений.</a:t>
                </a:r>
              </a:p>
              <a:p>
                <a:pPr algn="just">
                  <a:spcBef>
                    <a:spcPts val="300"/>
                  </a:spcBef>
                </a:pPr>
                <a:r>
                  <a:rPr lang="ru-RU" sz="1600" dirty="0"/>
                  <a:t>Символ Лежандра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sz="16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1600" dirty="0"/>
                  <a:t> — </a:t>
                </a:r>
                <a:r>
                  <a:rPr lang="ru-RU" sz="1600" dirty="0"/>
                  <a:t>это функция, указывающая на то, является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 2, …, 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квадратичным вычетом или невычетом</a:t>
                </a:r>
                <a:r>
                  <a:rPr lang="en-US" sz="1600" dirty="0"/>
                  <a:t> </a:t>
                </a:r>
                <a:r>
                  <a:rPr lang="ru-RU" sz="1600" dirty="0"/>
                  <a:t>по модулю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ru-RU" sz="1600" dirty="0"/>
                  <a:t>:</a:t>
                </a:r>
              </a:p>
              <a:p>
                <a:pPr lvl="1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ru-RU" i="1" dirty="0">
                        <a:latin typeface="Cambria Math" panose="02040503050406030204" pitchFamily="18" charset="0"/>
                      </a:rPr>
                      <m:t>=+1</m:t>
                    </m:r>
                  </m:oMath>
                </a14:m>
                <a:r>
                  <a:rPr lang="ru-RU" dirty="0"/>
                  <a:t>, если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—</a:t>
                </a:r>
                <a:r>
                  <a:rPr lang="ru-RU" dirty="0"/>
                  <a:t> квадратичный вычет по модулю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;</a:t>
                </a:r>
              </a:p>
              <a:p>
                <a:pPr lvl="1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ru-RU" i="1" dirty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ru-RU" dirty="0"/>
                  <a:t>, если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—</a:t>
                </a:r>
                <a:r>
                  <a:rPr lang="ru-RU" dirty="0"/>
                  <a:t> квадратичный невычет по модулю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sz="1800" dirty="0"/>
              </a:p>
              <a:p>
                <a:pPr marL="114300" indent="0" algn="just">
                  <a:spcBef>
                    <a:spcPts val="300"/>
                  </a:spcBef>
                  <a:buNone/>
                </a:pPr>
                <a:endParaRPr lang="en-US" sz="140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7BFE8E81-F3CE-4735-A70F-BA92301DE6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D2F1F4-5D5C-40D0-AEE6-56CA54682E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16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988577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7D1C0B-2111-47DF-A48D-1DD78CEAC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Сравнения второй степени: обобщение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77D0EA69-BDCA-4446-AFFA-8BA60DCD1F9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ru-RU" u="sng" dirty="0"/>
                  <a:t>Сравнение второй степени с одним неизвестным</a:t>
                </a:r>
                <a:r>
                  <a:rPr lang="ru-RU" dirty="0"/>
                  <a:t>:</a:t>
                </a:r>
                <a:endParaRPr lang="en-US" dirty="0"/>
              </a:p>
              <a:p>
                <a:pPr lvl="1" algn="just">
                  <a:spcBef>
                    <a:spcPts val="600"/>
                  </a:spcBef>
                </a:pPr>
                <a:r>
                  <a:rPr lang="ru-RU" sz="1600" dirty="0"/>
                  <a:t>частный случай: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 2, …, 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1600" dirty="0"/>
                  <a:t>.</a:t>
                </a:r>
                <a:endParaRPr lang="ru-RU" sz="1600" dirty="0"/>
              </a:p>
              <a:p>
                <a:pPr lvl="1" algn="just">
                  <a:spcBef>
                    <a:spcPts val="600"/>
                  </a:spcBef>
                </a:pPr>
                <a:r>
                  <a:rPr lang="ru-RU" sz="1600" dirty="0"/>
                  <a:t>общий случай: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 2, …,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1600" dirty="0"/>
                  <a:t>.</a:t>
                </a:r>
                <a:endParaRPr lang="ru-RU" sz="1600" dirty="0"/>
              </a:p>
              <a:p>
                <a:pPr algn="just">
                  <a:spcBef>
                    <a:spcPts val="600"/>
                  </a:spcBef>
                </a:pPr>
                <a:r>
                  <a:rPr lang="ru-RU" u="sng" dirty="0"/>
                  <a:t>Извлечение квадратного корня по модулю простого числа</a:t>
                </a:r>
                <a:r>
                  <a:rPr lang="ru-RU" dirty="0"/>
                  <a:t> является простой задачей.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u="sng" dirty="0"/>
                  <a:t>Извлечение квадратного корня по модулю составного числа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dirty="0"/>
                  <a:t>: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sz="1600" dirty="0"/>
                  <a:t>Простая задача</a:t>
                </a:r>
                <a:r>
                  <a:rPr lang="en-US" sz="1600" dirty="0"/>
                  <a:t>, </a:t>
                </a:r>
                <a:r>
                  <a:rPr lang="ru-RU" sz="1600" dirty="0"/>
                  <a:t>если известно разложение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600" dirty="0"/>
                  <a:t> на простые множители.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sz="1600" u="sng" dirty="0"/>
                  <a:t>Сложная задача</a:t>
                </a:r>
                <a:r>
                  <a:rPr lang="ru-RU" sz="1600" dirty="0"/>
                  <a:t>, если неизвестно разложение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600" dirty="0"/>
                  <a:t> на простые множители.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i="1" dirty="0">
                    <a:solidFill>
                      <a:srgbClr val="0070C0"/>
                    </a:solidFill>
                  </a:rPr>
                  <a:t>Криптографическое приложение — криптосистема Рабина.</a:t>
                </a:r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77D0EA69-BDCA-4446-AFFA-8BA60DCD1F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3F37BB-830F-4014-8205-53A133F508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17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83198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1454D3-EC7C-4D7C-A9E9-C8996A347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100" dirty="0"/>
              <a:t>Извлечение квадратных корней по модулю простого числа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91E04F25-C970-4969-B55E-4FC8F1BF5C1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300"/>
                  </a:spcBef>
                </a:pPr>
                <a:r>
                  <a:rPr lang="ru-RU" sz="1400" b="1" dirty="0"/>
                  <a:t>Вход</a:t>
                </a:r>
                <a:r>
                  <a:rPr lang="ru-RU" sz="1400" dirty="0"/>
                  <a:t>:	целое число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sz="1400" i="1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ru-RU" sz="1400" dirty="0"/>
                  <a:t>,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sz="1400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ru-RU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…,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ru-RU" sz="1400" dirty="0"/>
                  <a:t>.</a:t>
                </a:r>
              </a:p>
              <a:p>
                <a:pPr>
                  <a:spcBef>
                    <a:spcPts val="300"/>
                  </a:spcBef>
                </a:pPr>
                <a:r>
                  <a:rPr lang="ru-RU" sz="1400" b="1" dirty="0"/>
                  <a:t>Выход</a:t>
                </a:r>
                <a:r>
                  <a:rPr lang="ru-RU" sz="1400" dirty="0"/>
                  <a:t>:	два квадратных корня из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sz="1400" dirty="0"/>
                  <a:t> по модулю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1400" dirty="0"/>
                  <a:t>. 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ru-RU" dirty="0"/>
                  <a:t>Шаг 1. Вычислить символ Лежандра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ru-RU" dirty="0"/>
                  <a:t>. Если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ru-RU" dirty="0"/>
                  <a:t>, то квадратных корней нет.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ru-RU" dirty="0"/>
                  <a:t>Шаг 2. Выбрать целое </a:t>
                </a:r>
                <a:r>
                  <a:rPr lang="en-US" i="1" dirty="0"/>
                  <a:t>b</a:t>
                </a:r>
                <a:r>
                  <a:rPr lang="ru-RU" dirty="0"/>
                  <a:t>, такое, что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ru-RU" dirty="0"/>
                  <a:t>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ru-RU" dirty="0"/>
                  <a:t>Шаг 3. Представить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−1=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ru-RU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ru-RU" dirty="0"/>
                  <a:t> — нечетное число.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ru-RU" dirty="0"/>
                  <a:t>Шаг 4. Вычислить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u-RU">
                                <a:latin typeface="Cambria Math" panose="02040503050406030204" pitchFamily="18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</m:e>
                    </m:d>
                  </m:oMath>
                </a14:m>
                <a:r>
                  <a:rPr lang="ru-RU" dirty="0"/>
                  <a:t> по расширенному алгоритму Евклида.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ru-RU" dirty="0"/>
                  <a:t>Шаг 5. Вычислить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ru-RU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u-RU">
                                <a:latin typeface="Cambria Math" panose="02040503050406030204" pitchFamily="18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</m:e>
                    </m:d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ru-RU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u-RU">
                                <a:latin typeface="Cambria Math" panose="02040503050406030204" pitchFamily="18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</m:e>
                    </m:d>
                  </m:oMath>
                </a14:m>
                <a:r>
                  <a:rPr lang="ru-RU" dirty="0"/>
                  <a:t>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ru-RU" dirty="0"/>
                  <a:t>Шаг 6. Для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bar>
                  </m:oMath>
                </a14:m>
                <a:r>
                  <a:rPr lang="ru-RU" dirty="0"/>
                  <a:t>:</a:t>
                </a:r>
              </a:p>
              <a:p>
                <a:pPr lvl="2">
                  <a:spcBef>
                    <a:spcPts val="300"/>
                  </a:spcBef>
                </a:pPr>
                <a:r>
                  <a:rPr lang="ru-RU" dirty="0"/>
                  <a:t>Шаг 6.1. Вычислить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sSup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  <m:sup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>
                            <a:latin typeface="Cambria Math" panose="02040503050406030204" pitchFamily="18" charset="0"/>
                          </a:rPr>
                          <m:t>mod</m:t>
                        </m:r>
                      </m:fName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</m:oMath>
                </a14:m>
                <a:r>
                  <a:rPr lang="ru-RU" dirty="0"/>
                  <a:t>.</a:t>
                </a:r>
              </a:p>
              <a:p>
                <a:pPr lvl="2">
                  <a:spcBef>
                    <a:spcPts val="300"/>
                  </a:spcBef>
                </a:pPr>
                <a:r>
                  <a:rPr lang="ru-RU" dirty="0"/>
                  <a:t>Шаг 6.2. 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≡−1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u-RU">
                                <a:latin typeface="Cambria Math" panose="02040503050406030204" pitchFamily="18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</m:e>
                    </m:d>
                  </m:oMath>
                </a14:m>
                <a:r>
                  <a:rPr lang="ru-RU" dirty="0"/>
                  <a:t>, то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u-RU">
                                <a:latin typeface="Cambria Math" panose="02040503050406030204" pitchFamily="18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</m:e>
                    </m:d>
                  </m:oMath>
                </a14:m>
                <a:r>
                  <a:rPr lang="ru-RU" dirty="0"/>
                  <a:t>.</a:t>
                </a:r>
              </a:p>
              <a:p>
                <a:pPr lvl="2">
                  <a:spcBef>
                    <a:spcPts val="300"/>
                  </a:spcBef>
                </a:pPr>
                <a:r>
                  <a:rPr lang="ru-RU" dirty="0"/>
                  <a:t>Шаг 6.3.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ru-RU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u-RU">
                                <a:latin typeface="Cambria Math" panose="02040503050406030204" pitchFamily="18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</m:e>
                    </m:d>
                  </m:oMath>
                </a14:m>
                <a:r>
                  <a:rPr lang="ru-RU" dirty="0"/>
                  <a:t>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ru-RU" dirty="0"/>
                  <a:t>Шаг 7. Возврат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; 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114300" indent="0">
                  <a:spcBef>
                    <a:spcPts val="300"/>
                  </a:spcBef>
                  <a:buNone/>
                </a:pPr>
                <a:endParaRPr lang="ru-RU" sz="140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91E04F25-C970-4969-B55E-4FC8F1BF5C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b="-12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7800B1-FE5A-4597-BCD5-C9458BC39C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18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158975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D655C-EC55-44AC-91D2-EB9765B51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100" dirty="0"/>
              <a:t>Извлечение квадратных корней по модулю составного числа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9C55590B-03E1-4531-92F2-DE877EBA0C0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600"/>
                  </a:spcBef>
                </a:pPr>
                <a:r>
                  <a:rPr lang="ru-RU" sz="1600" b="1" dirty="0"/>
                  <a:t>Вход</a:t>
                </a:r>
                <a:r>
                  <a:rPr lang="ru-RU" sz="1600" dirty="0"/>
                  <a:t>:	целые числа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ru-RU" sz="1600" dirty="0"/>
                  <a:t>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ru-RU" sz="1600" dirty="0"/>
                  <a:t>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…,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ru-RU" sz="16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ru-RU" sz="1600" b="1" dirty="0"/>
                  <a:t>Выход</a:t>
                </a:r>
                <a:r>
                  <a:rPr lang="ru-RU" sz="1600" dirty="0"/>
                  <a:t>:	четыре квадратных корня из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sz="1600" dirty="0"/>
                  <a:t> по модулю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𝑝𝑞</m:t>
                    </m:r>
                  </m:oMath>
                </a14:m>
                <a:r>
                  <a:rPr lang="ru-RU" sz="1600" dirty="0"/>
                  <a:t>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ru-RU" sz="1600" dirty="0"/>
                  <a:t>Шаг 1. Вычислить два квадратных корня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ru-RU" sz="1600" dirty="0"/>
                  <a:t> и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ru-RU" sz="1600" dirty="0"/>
                  <a:t> из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по модулю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1600" dirty="0"/>
                  <a:t>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ru-RU" sz="1600" dirty="0"/>
                  <a:t>Шаг 2. Вычислить два квадратных корня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ru-RU" sz="1600" dirty="0"/>
                  <a:t> и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ru-RU" sz="1600" dirty="0"/>
                  <a:t> из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по модулю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ru-RU" sz="1600" dirty="0"/>
                  <a:t>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ru-RU" sz="1600" dirty="0"/>
                  <a:t>Шаг 3. Вычислить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ru-RU" sz="1600" dirty="0"/>
                  <a:t> по расширенному алгоритму Евклида.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ru-RU" sz="1600" dirty="0"/>
                  <a:t>Шаг 4. Вычислить:</a:t>
                </a:r>
              </a:p>
              <a:p>
                <a:pPr lvl="2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𝑟</m:t>
                        </m:r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func>
                      <m:func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sz="1600">
                            <a:latin typeface="Cambria Math" panose="02040503050406030204" pitchFamily="18" charset="0"/>
                          </a:rPr>
                          <m:t>mod</m:t>
                        </m:r>
                      </m:fName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ru-RU" sz="1600" dirty="0"/>
                  <a:t>;</a:t>
                </a:r>
              </a:p>
              <a:p>
                <a:pPr lvl="2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𝑟</m:t>
                        </m:r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func>
                      <m:func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sz="1600">
                            <a:latin typeface="Cambria Math" panose="02040503050406030204" pitchFamily="18" charset="0"/>
                          </a:rPr>
                          <m:t>mod</m:t>
                        </m:r>
                      </m:fName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ru-RU" sz="1600" dirty="0"/>
                  <a:t>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ru-RU" sz="1600" dirty="0"/>
                  <a:t>Шаг 5. Возврат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(±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; ±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1600" dirty="0"/>
                  <a:t>.</a:t>
                </a:r>
                <a:endParaRPr lang="ru-RU" sz="1600" i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9C55590B-03E1-4531-92F2-DE877EBA0C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98CAFC-B1E2-4608-BD02-A3F5562785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19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8750169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A431B8A2-B061-4A0E-9010-6DA4E704B1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Факторизация целых чисел 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C7AF5FA7-3D2B-45FF-9C2B-853B101A12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9E9583-CD45-4692-B3D7-8781F38CA70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94725" y="4846638"/>
            <a:ext cx="549275" cy="28575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20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362480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404F44-140D-4FF3-98D4-7857ED109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целочисленной факторизации: определение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7BFE8E81-F3CE-4735-A70F-BA92301DE68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ru-RU" i="1" dirty="0">
                    <a:solidFill>
                      <a:srgbClr val="0070C0"/>
                    </a:solidFill>
                  </a:rPr>
                  <a:t>Сложные теоретико-числовые задачи лежат в основе криптографических алгоритмов с открытым ключом.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u="sng" dirty="0"/>
                  <a:t>Задача целочисленной факторизации</a:t>
                </a:r>
                <a:r>
                  <a:rPr lang="ru-RU" dirty="0"/>
                  <a:t>: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sz="1600" dirty="0"/>
                  <a:t>для данного натурального числа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600" dirty="0"/>
                  <a:t> найти его факторизацию на простые множители, то есть получить представление данного числа в виде</a:t>
                </a:r>
                <a:r>
                  <a:rPr lang="ru-RU" sz="1600" i="1" dirty="0"/>
                  <a:t/>
                </a:r>
                <a:br>
                  <a:rPr lang="ru-RU" sz="1600" i="1" dirty="0"/>
                </a:b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sSubSup>
                      <m:sSubSup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bSup>
                    <m:r>
                      <a:rPr lang="ru-RU" sz="1600" i="1">
                        <a:latin typeface="Cambria Math" panose="02040503050406030204" pitchFamily="18" charset="0"/>
                      </a:rPr>
                      <m:t>…</m:t>
                    </m:r>
                    <m:sSubSup>
                      <m:sSubSup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p>
                    </m:sSubSup>
                  </m:oMath>
                </a14:m>
                <a:r>
                  <a:rPr lang="ru-RU" sz="1600" dirty="0"/>
                  <a:t>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600" dirty="0"/>
                  <a:t> — попарно различные простые числа,</a:t>
                </a:r>
                <a:br>
                  <a:rPr lang="ru-RU" sz="16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1600" i="1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ru-RU" sz="1600" dirty="0"/>
                  <a:t> — натуральные числа для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 = 1, …, 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1600" dirty="0"/>
                  <a:t>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i="1" dirty="0">
                    <a:solidFill>
                      <a:srgbClr val="0070C0"/>
                    </a:solidFill>
                  </a:rPr>
                  <a:t>Известные криптосистемы: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sz="1800" i="1" dirty="0">
                    <a:solidFill>
                      <a:srgbClr val="0070C0"/>
                    </a:solidFill>
                  </a:rPr>
                  <a:t>криптосистема </a:t>
                </a:r>
                <a:r>
                  <a:rPr lang="en-US" sz="1800" i="1" dirty="0">
                    <a:solidFill>
                      <a:srgbClr val="0070C0"/>
                    </a:solidFill>
                  </a:rPr>
                  <a:t>RSA;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sz="1800" i="1" dirty="0">
                    <a:solidFill>
                      <a:srgbClr val="0070C0"/>
                    </a:solidFill>
                  </a:rPr>
                  <a:t>криптосистема Рабина.</a:t>
                </a:r>
                <a:endParaRPr lang="en-US" sz="1800" i="1" dirty="0">
                  <a:solidFill>
                    <a:srgbClr val="0070C0"/>
                  </a:solidFill>
                </a:endParaRPr>
              </a:p>
              <a:p>
                <a:pPr algn="just">
                  <a:spcBef>
                    <a:spcPts val="600"/>
                  </a:spcBef>
                </a:pPr>
                <a:endParaRPr lang="en-US" sz="140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7BFE8E81-F3CE-4735-A70F-BA92301DE6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D2F1F4-5D5C-40D0-AEE6-56CA54682E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21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7609942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484B80-834F-4975-B9A2-DACC07A82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100" dirty="0"/>
              <a:t>Задача целочисленной факторизации: ρ-алгоритм </a:t>
            </a:r>
            <a:r>
              <a:rPr lang="ru-RU" sz="2100" dirty="0" err="1"/>
              <a:t>Полларда</a:t>
            </a:r>
            <a:endParaRPr lang="ru-RU" sz="2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40E5C7C1-1B64-430E-8E86-6851BD40B91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300"/>
                  </a:spcBef>
                </a:pPr>
                <a:r>
                  <a:rPr lang="ru-RU" sz="1600" dirty="0"/>
                  <a:t>Алгоритм специального назначения для нахождения </a:t>
                </a:r>
                <a:r>
                  <a:rPr lang="ru-RU" sz="1600" u="sng" dirty="0"/>
                  <a:t>малых множителей составного числа</a:t>
                </a:r>
                <a:r>
                  <a:rPr lang="ru-RU" sz="1600" dirty="0"/>
                  <a:t>.</a:t>
                </a:r>
              </a:p>
              <a:p>
                <a:pPr>
                  <a:spcBef>
                    <a:spcPts val="300"/>
                  </a:spcBef>
                  <a:tabLst>
                    <a:tab pos="1439863" algn="l"/>
                  </a:tabLst>
                </a:pPr>
                <a:r>
                  <a:rPr lang="ru-RU" sz="1600" b="1" dirty="0"/>
                  <a:t>Вход</a:t>
                </a:r>
                <a:r>
                  <a:rPr lang="ru-RU" sz="1600" dirty="0"/>
                  <a:t>:	составное число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600" dirty="0"/>
                  <a:t>, не являющееся степенью простого числа.</a:t>
                </a:r>
              </a:p>
              <a:p>
                <a:pPr>
                  <a:spcBef>
                    <a:spcPts val="300"/>
                  </a:spcBef>
                  <a:tabLst>
                    <a:tab pos="1439863" algn="l"/>
                  </a:tabLst>
                </a:pPr>
                <a:r>
                  <a:rPr lang="ru-RU" sz="1600" b="1" dirty="0"/>
                  <a:t>Выход</a:t>
                </a:r>
                <a:r>
                  <a:rPr lang="ru-RU" sz="1600" dirty="0"/>
                  <a:t>:	нетривиальный множитель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числа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600" dirty="0"/>
                  <a:t>. 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ru-RU" sz="1600" dirty="0"/>
                  <a:t>Шаг 1. Присвоить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←2</m:t>
                    </m:r>
                  </m:oMath>
                </a14:m>
                <a:r>
                  <a:rPr lang="ru-RU" sz="1600" dirty="0"/>
                  <a:t>,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←2</m:t>
                    </m:r>
                  </m:oMath>
                </a14:m>
                <a:r>
                  <a:rPr lang="ru-RU" sz="1600" dirty="0"/>
                  <a:t>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ru-RU" sz="1600" dirty="0"/>
                  <a:t>Шаг 2. Для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=1, 2, …</m:t>
                    </m:r>
                  </m:oMath>
                </a14:m>
                <a:r>
                  <a:rPr lang="ru-RU" sz="1600" dirty="0"/>
                  <a:t> выполнить следующее: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ru-RU" sz="1600" dirty="0"/>
                  <a:t>Шаг 2.1. Вычислить</a:t>
                </a:r>
                <a:r>
                  <a:rPr lang="en-US" sz="1600" dirty="0"/>
                  <a:t>:</a:t>
                </a:r>
                <a:endParaRPr lang="ru-RU" sz="1600" dirty="0"/>
              </a:p>
              <a:p>
                <a:pPr marL="1371600" lvl="3" indent="0">
                  <a:spcBef>
                    <a:spcPts val="3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←(</m:t>
                    </m:r>
                    <m:sSup>
                      <m:sSupPr>
                        <m:ctrlPr>
                          <a:rPr lang="ru-RU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100" i="1">
                        <a:latin typeface="Cambria Math" panose="02040503050406030204" pitchFamily="18" charset="0"/>
                      </a:rPr>
                      <m:t>+1) </m:t>
                    </m:r>
                    <m:r>
                      <m:rPr>
                        <m:sty m:val="p"/>
                      </m:rPr>
                      <a:rPr lang="en-US" sz="11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100" dirty="0"/>
                  <a:t>,</a:t>
                </a:r>
                <a:endParaRPr lang="ru-RU" sz="1100" dirty="0"/>
              </a:p>
              <a:p>
                <a:pPr marL="1371600" lvl="3" indent="0">
                  <a:spcBef>
                    <a:spcPts val="3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←(</m:t>
                    </m:r>
                    <m:sSup>
                      <m:sSupPr>
                        <m:ctrlPr>
                          <a:rPr lang="ru-RU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100" i="1">
                        <a:latin typeface="Cambria Math" panose="02040503050406030204" pitchFamily="18" charset="0"/>
                      </a:rPr>
                      <m:t>+1) </m:t>
                    </m:r>
                    <m:r>
                      <m:rPr>
                        <m:sty m:val="p"/>
                      </m:rPr>
                      <a:rPr lang="en-US" sz="11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100" dirty="0"/>
                  <a:t>,</a:t>
                </a:r>
              </a:p>
              <a:p>
                <a:pPr marL="1371600" lvl="3" indent="0">
                  <a:spcBef>
                    <a:spcPts val="3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←(</m:t>
                    </m:r>
                    <m:sSup>
                      <m:sSupPr>
                        <m:ctrlPr>
                          <a:rPr lang="ru-RU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100" i="1">
                        <a:latin typeface="Cambria Math" panose="02040503050406030204" pitchFamily="18" charset="0"/>
                      </a:rPr>
                      <m:t>+1) </m:t>
                    </m:r>
                    <m:r>
                      <m:rPr>
                        <m:sty m:val="p"/>
                      </m:rPr>
                      <a:rPr lang="en-US" sz="11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100" dirty="0"/>
                  <a:t> </a:t>
                </a:r>
                <a:r>
                  <a:rPr lang="ru-RU" sz="1100" dirty="0"/>
                  <a:t>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ru-RU" sz="1600" dirty="0"/>
                  <a:t>Шаг 2.2. Вычислить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НОД(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1600" dirty="0"/>
                  <a:t>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ru-RU" sz="1600" dirty="0"/>
                  <a:t>Шаг 2.3. Если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1&lt;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600" dirty="0"/>
                  <a:t>, то возврат (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ru-RU" sz="1600" dirty="0"/>
                  <a:t>);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ru-RU" sz="1600" dirty="0"/>
                  <a:t>Шаг 2.4. Если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600" dirty="0"/>
                  <a:t>, то возврат («неудача»).</a:t>
                </a:r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40E5C7C1-1B64-430E-8E86-6851BD40B9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343" b="-9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28AE58-9A8A-4872-9B4A-9620E89EA2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22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41432264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4C8600-2652-4B84-812B-4F93C9BB4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000" dirty="0"/>
              <a:t>Задача целочисленной факторизации: 𝒑−𝟏-алгоритм </a:t>
            </a:r>
            <a:r>
              <a:rPr lang="ru-RU" sz="2000" dirty="0" err="1"/>
              <a:t>Полларда</a:t>
            </a:r>
            <a:endParaRPr lang="ru-RU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5BAA062B-9F42-4E0B-819B-29C0EC7A10C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300"/>
                  </a:spcBef>
                </a:pPr>
                <a:r>
                  <a:rPr lang="ru-RU" sz="1600" dirty="0"/>
                  <a:t>Целое число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600" dirty="0"/>
                  <a:t> называется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sz="1600" dirty="0"/>
                  <a:t>-гладким, если все его простые множители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ru-RU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ru-RU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1600" dirty="0"/>
                  <a:t>.</a:t>
                </a:r>
                <a:endParaRPr lang="ru-RU" sz="1600" dirty="0"/>
              </a:p>
              <a:p>
                <a:pPr>
                  <a:spcBef>
                    <a:spcPts val="300"/>
                  </a:spcBef>
                  <a:tabLst>
                    <a:tab pos="1439863" algn="l"/>
                  </a:tabLst>
                </a:pPr>
                <a:r>
                  <a:rPr lang="ru-RU" sz="1600" b="1" dirty="0"/>
                  <a:t>Вход</a:t>
                </a:r>
                <a:r>
                  <a:rPr lang="ru-RU" sz="1600" dirty="0"/>
                  <a:t>:	составное число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600" dirty="0"/>
                  <a:t>, не являющееся степенью простого числа.</a:t>
                </a:r>
              </a:p>
              <a:p>
                <a:pPr>
                  <a:spcBef>
                    <a:spcPts val="300"/>
                  </a:spcBef>
                  <a:tabLst>
                    <a:tab pos="1439863" algn="l"/>
                  </a:tabLst>
                </a:pPr>
                <a:r>
                  <a:rPr lang="ru-RU" sz="1600" b="1" dirty="0"/>
                  <a:t>Выход</a:t>
                </a:r>
                <a:r>
                  <a:rPr lang="ru-RU" sz="1600" dirty="0"/>
                  <a:t>:	нетривиальный множитель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числа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600" dirty="0"/>
                  <a:t>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ru-RU" sz="1600" dirty="0"/>
                  <a:t>Шаг 1. Выбрать границу гладкости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sz="1600" dirty="0"/>
                  <a:t>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ru-RU" sz="1600" dirty="0"/>
                  <a:t>Шаг 2. Выбрать случайное целое число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sz="1600" dirty="0"/>
                  <a:t>, такое, что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2≤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ru-RU" sz="1600" dirty="0"/>
                  <a:t>, и вычислить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 =НОД(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1600" dirty="0"/>
                  <a:t>. Если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ru-RU" sz="1600" dirty="0"/>
                  <a:t>, то возврат (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ru-RU" sz="1600" dirty="0"/>
                  <a:t>).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ru-RU" sz="1600" dirty="0"/>
                  <a:t>Шаг 3. Для всех простых чисел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sz="1600" dirty="0"/>
                  <a:t> выполнить следующее:</a:t>
                </a:r>
              </a:p>
              <a:p>
                <a:pPr lvl="2">
                  <a:spcBef>
                    <a:spcPts val="300"/>
                  </a:spcBef>
                </a:pPr>
                <a:r>
                  <a:rPr lang="ru-RU" sz="1600" dirty="0"/>
                  <a:t>Шаг 3.1. Вычислить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ru-RU" sz="16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ru-RU" sz="160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lang="ru-RU" sz="16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ru-RU" sz="160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func>
                          </m:den>
                        </m:f>
                      </m:e>
                    </m:d>
                  </m:oMath>
                </a14:m>
                <a:r>
                  <a:rPr lang="ru-RU" sz="1600" dirty="0"/>
                  <a:t>.</a:t>
                </a:r>
              </a:p>
              <a:p>
                <a:pPr lvl="2">
                  <a:spcBef>
                    <a:spcPts val="300"/>
                  </a:spcBef>
                </a:pPr>
                <a:r>
                  <a:rPr lang="ru-RU" sz="1600" dirty="0"/>
                  <a:t>Шаг 3.2. Вычислить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p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600" dirty="0"/>
                  <a:t>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ru-RU" sz="1600" dirty="0"/>
                  <a:t>Шаг 4. Вычислить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 = НОД(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−1, 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1600" dirty="0"/>
                  <a:t>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ru-RU" sz="1600" dirty="0"/>
                  <a:t>Шаг 5. Если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ru-RU" sz="1600" dirty="0"/>
                  <a:t> или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600" dirty="0"/>
                  <a:t>, то алгоритм заканчивается неудачей. В противном случае возврат (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ru-RU" sz="1600" dirty="0"/>
                  <a:t>).</a:t>
                </a:r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5BAA062B-9F42-4E0B-819B-29C0EC7A10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b="-39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A441DBF-4112-4E4B-94EB-1E45FCE207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23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641974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3B4931-BF33-44FD-A17D-4DCEEFDAA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200" dirty="0"/>
              <a:t>Задача целочисленной факторизации:</a:t>
            </a:r>
            <a:r>
              <a:rPr lang="en-US" sz="2200" dirty="0"/>
              <a:t> </a:t>
            </a:r>
            <a:r>
              <a:rPr lang="ru-RU" sz="2200" dirty="0"/>
              <a:t>алгоритм </a:t>
            </a:r>
            <a:r>
              <a:rPr lang="ru-RU" sz="2200" dirty="0" err="1"/>
              <a:t>Ленстры</a:t>
            </a:r>
            <a:endParaRPr lang="ru-RU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0542F990-4C1F-4861-80A8-CEC4E0555B4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ru-RU" sz="2000" dirty="0"/>
                  <a:t>Пусть эллиптическая кривая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ru-RU" sz="2000" i="1" dirty="0"/>
                  <a:t> </a:t>
                </a:r>
                <a:r>
                  <a:rPr lang="ru-RU" sz="2000" dirty="0"/>
                  <a:t>над полем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ru-RU" sz="2000" dirty="0"/>
                  <a:t> задана уравнением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ru-RU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sz="2000" dirty="0"/>
                  <a:t>, где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ru-RU" sz="2000" dirty="0"/>
                  <a:t>, и пусть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000" dirty="0"/>
                  <a:t> — точка на этой кривой с рациональными координатами.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sz="2000" dirty="0"/>
                  <a:t>Тогда </a:t>
                </a:r>
                <a14:m>
                  <m:oMath xmlns:m="http://schemas.openxmlformats.org/officeDocument/2006/math">
                    <m:r>
                      <a:rPr lang="ru-RU" sz="200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sz="2000" i="1" dirty="0"/>
                  <a:t> </a:t>
                </a:r>
                <a:r>
                  <a:rPr lang="ru-RU" sz="2000" dirty="0"/>
                  <a:t>и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ru-RU" sz="2000" i="1" dirty="0"/>
                  <a:t> </a:t>
                </a:r>
                <a:r>
                  <a:rPr lang="ru-RU" sz="2000" dirty="0"/>
                  <a:t>имеют вид:</a:t>
                </a: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sSup>
                          <m:sSup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ru-RU" sz="2000" dirty="0"/>
                  <a:t>,</a:t>
                </a: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ru-RU" sz="2000" dirty="0"/>
                  <a:t>,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ru-RU" sz="2000" dirty="0"/>
                  <a:t>,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ru-RU" sz="2000" dirty="0"/>
                  <a:t> и 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</a:rPr>
                      <m:t>НОД</m:t>
                    </m:r>
                    <m:d>
                      <m:d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ru-RU" sz="20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ru-RU" sz="2000" dirty="0"/>
                  <a:t>.</a:t>
                </a:r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0542F990-4C1F-4861-80A8-CEC4E0555B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6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1F01D1-0CAB-41F3-B7A2-5A6C1C4792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24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40997297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CDEB71-7C2F-46E5-A463-4E4D766E9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200" dirty="0"/>
              <a:t>Задача целочисленной факторизации:</a:t>
            </a:r>
            <a:r>
              <a:rPr lang="en-US" sz="2200" dirty="0"/>
              <a:t> </a:t>
            </a:r>
            <a:r>
              <a:rPr lang="ru-RU" sz="2200" dirty="0"/>
              <a:t>алгоритм </a:t>
            </a:r>
            <a:r>
              <a:rPr lang="ru-RU" sz="2200" dirty="0" err="1"/>
              <a:t>Ленстры</a:t>
            </a:r>
            <a:endParaRPr lang="ru-RU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EEBF93A8-18A8-4413-9B15-BFFFD649D7E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300"/>
                  </a:spcBef>
                  <a:tabLst>
                    <a:tab pos="1439863" algn="l"/>
                  </a:tabLst>
                </a:pPr>
                <a:r>
                  <a:rPr lang="ru-RU" sz="1600" b="1" dirty="0"/>
                  <a:t>Вход:</a:t>
                </a:r>
                <a:r>
                  <a:rPr lang="ru-RU" sz="1600" dirty="0"/>
                  <a:t>	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ru-RU" sz="1600" dirty="0"/>
                  <a:t> — составное натуральное число.</a:t>
                </a:r>
              </a:p>
              <a:p>
                <a:pPr>
                  <a:spcBef>
                    <a:spcPts val="300"/>
                  </a:spcBef>
                  <a:tabLst>
                    <a:tab pos="1439863" algn="l"/>
                  </a:tabLst>
                </a:pPr>
                <a:r>
                  <a:rPr lang="ru-RU" sz="1600" b="1" dirty="0"/>
                  <a:t>Выход:</a:t>
                </a:r>
                <a:r>
                  <a:rPr lang="ru-RU" sz="1600" dirty="0"/>
                  <a:t>	нетривиальный делитель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ru-RU" sz="1600" i="1" dirty="0"/>
                  <a:t> </a:t>
                </a:r>
                <a:r>
                  <a:rPr lang="ru-RU" sz="1600" dirty="0"/>
                  <a:t>числа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600" dirty="0"/>
                  <a:t>.</a:t>
                </a:r>
              </a:p>
              <a:p>
                <a:pPr>
                  <a:spcBef>
                    <a:spcPts val="300"/>
                  </a:spcBef>
                </a:pPr>
                <a:r>
                  <a:rPr lang="ru-RU" sz="1600" dirty="0"/>
                  <a:t>Шаг 1. Выбирать целые числа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/>
                  <a:t>, находящиеся в интервале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(1, 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1600" dirty="0"/>
                  <a:t>.</a:t>
                </a:r>
              </a:p>
              <a:p>
                <a:pPr>
                  <a:spcBef>
                    <a:spcPts val="300"/>
                  </a:spcBef>
                </a:pPr>
                <a:r>
                  <a:rPr lang="ru-RU" sz="1600" dirty="0"/>
                  <a:t>Шаг 2. Вычислить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ru-RU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ru-RU" sz="1600">
                        <a:latin typeface="Cambria Math" panose="02040503050406030204" pitchFamily="18" charset="0"/>
                      </a:rPr>
                      <m:t>mod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600" dirty="0"/>
                  <a:t> и определить кривую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ru-RU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sz="1600" dirty="0"/>
                  <a:t> и точку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600" dirty="0"/>
                  <a:t> на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ru-RU" sz="1600" dirty="0"/>
                  <a:t>.</a:t>
                </a:r>
              </a:p>
              <a:p>
                <a:pPr>
                  <a:spcBef>
                    <a:spcPts val="300"/>
                  </a:spcBef>
                </a:pPr>
                <a:r>
                  <a:rPr lang="ru-RU" sz="1600" dirty="0"/>
                  <a:t>Шаг 3. Вычислить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НОД(−4</m:t>
                    </m:r>
                    <m:sSup>
                      <m:sSup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ru-RU" sz="1600" i="1">
                        <a:latin typeface="Cambria Math" panose="02040503050406030204" pitchFamily="18" charset="0"/>
                      </a:rPr>
                      <m:t>−27</m:t>
                    </m:r>
                    <m:sSup>
                      <m:sSup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sz="16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ru-RU" sz="1600" dirty="0"/>
                  <a:t>.</a:t>
                </a:r>
              </a:p>
              <a:p>
                <a:pPr>
                  <a:spcBef>
                    <a:spcPts val="300"/>
                  </a:spcBef>
                </a:pPr>
                <a:r>
                  <a:rPr lang="ru-RU" sz="1600" dirty="0"/>
                  <a:t>Шаг 4. В зависимости от значения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ru-RU" sz="1600" dirty="0"/>
                  <a:t> выполнить следующее: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ru-RU" sz="1600" dirty="0"/>
                  <a:t>Шаг 4а) если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600" dirty="0"/>
                  <a:t>, то вернуться к шагу 1 для повторного выбора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sz="1600" dirty="0"/>
                  <a:t>;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ru-RU" sz="1600" dirty="0"/>
                  <a:t>Шаг 4б) если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1&lt;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600" dirty="0"/>
                  <a:t>, то возврат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1600" dirty="0"/>
                  <a:t>;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ru-RU" sz="1600" dirty="0"/>
                  <a:t>Шаг 4в) если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ru-RU" sz="1600" dirty="0"/>
                  <a:t>, то перейти к следующему шагу.</a:t>
                </a:r>
              </a:p>
              <a:p>
                <a:pPr>
                  <a:spcBef>
                    <a:spcPts val="300"/>
                  </a:spcBef>
                </a:pPr>
                <a:r>
                  <a:rPr lang="ru-RU" sz="1600" dirty="0"/>
                  <a:t>Шаг 5. Выбрать число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1600" dirty="0"/>
                  <a:t>, которое является произведением небольших простых чисел в небольших степенях.</a:t>
                </a:r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EEBF93A8-18A8-4413-9B15-BFFFD649D7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6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90EA1FA-2411-4C08-9F65-62C83D4C8C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25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2107042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A41620-08C8-4F69-B09C-BBF4EAA8B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200" dirty="0"/>
              <a:t>Задача целочисленной факторизации:</a:t>
            </a:r>
            <a:r>
              <a:rPr lang="en-US" sz="2200" dirty="0"/>
              <a:t> </a:t>
            </a:r>
            <a:r>
              <a:rPr lang="ru-RU" sz="2200" dirty="0"/>
              <a:t>алгоритм </a:t>
            </a:r>
            <a:r>
              <a:rPr lang="ru-RU" sz="2200" dirty="0" err="1"/>
              <a:t>Ленстры</a:t>
            </a:r>
            <a:endParaRPr lang="ru-RU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5FD9A5FF-6F4A-4726-9B9C-5B6825ACD36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600"/>
                  </a:spcBef>
                </a:pPr>
                <a:r>
                  <a:rPr lang="ru-RU" sz="1600" dirty="0"/>
                  <a:t>Шаг 6. Вычислить в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ℚ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1600" dirty="0"/>
                  <a:t> точку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𝑘𝑃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u-RU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sSubSup>
                              <m:sSubSupPr>
                                <m:ctrlPr>
                                  <a:rPr lang="ru-RU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, </m:t>
                        </m:r>
                        <m:f>
                          <m:f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u-RU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sSubSup>
                              <m:sSubSupPr>
                                <m:ctrlPr>
                                  <a:rPr lang="ru-RU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bSup>
                          </m:den>
                        </m:f>
                      </m:e>
                    </m:d>
                  </m:oMath>
                </a14:m>
                <a:r>
                  <a:rPr lang="ru-RU" sz="16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ru-RU" sz="1600" dirty="0"/>
                  <a:t>Шаг 7. Вычислить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=НОД(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16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ru-RU" sz="1600" dirty="0"/>
                  <a:t>Шаг 8. В зависимости от значения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ru-RU" sz="1600" dirty="0"/>
                  <a:t> выполнить следующее: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ru-RU" sz="1600" dirty="0"/>
                  <a:t>Шаг 8а) если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600" dirty="0"/>
                  <a:t>, то либо вернуться к шагу 5 для увеличения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1600" dirty="0"/>
                  <a:t>, либо вернуться к шагу 1 для выбора новой кривой;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ru-RU" sz="1600" dirty="0"/>
                  <a:t>Шаг 8б) если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ru-RU" sz="1600" dirty="0"/>
                  <a:t>, то вернуться к шагу 5 для уменьшения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1600" dirty="0"/>
                  <a:t>;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ru-RU" sz="1600" dirty="0"/>
                  <a:t>Шаг 8в) если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1&lt;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600" dirty="0"/>
                  <a:t>, то и возврат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16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endParaRPr lang="ru-RU" sz="140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5FD9A5FF-6F4A-4726-9B9C-5B6825ACD3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FAC81C-DE04-469C-B300-5525B86760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26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088844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A431B8A2-B061-4A0E-9010-6DA4E704B1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/>
              <a:t>Дискретное </a:t>
            </a:r>
            <a:r>
              <a:rPr lang="ru-RU" dirty="0"/>
              <a:t>логарифмирование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C7AF5FA7-3D2B-45FF-9C2B-853B101A12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9E9583-CD45-4692-B3D7-8781F38CA70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94725" y="4846638"/>
            <a:ext cx="549275" cy="28575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27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0508190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404F44-140D-4FF3-98D4-7857ED109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200" dirty="0"/>
              <a:t>Задача дискретного логарифмирования: определение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7BFE8E81-F3CE-4735-A70F-BA92301DE68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ru-RU" i="1" dirty="0">
                    <a:solidFill>
                      <a:srgbClr val="0070C0"/>
                    </a:solidFill>
                  </a:rPr>
                  <a:t>Сложные теоретико-числовые задачи лежат в основе криптографических алгоритмов с открытым ключом.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>— конечная мультипликативная циклическая группа порядка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, то </a:t>
                </a:r>
                <a:r>
                  <a:rPr lang="ru-RU" u="sng" dirty="0"/>
                  <a:t>дискретным логарифмом </a:t>
                </a:r>
                <a14:m>
                  <m:oMath xmlns:m="http://schemas.openxmlformats.org/officeDocument/2006/math">
                    <m:r>
                      <a:rPr lang="en-US" i="1" u="sng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dirty="0"/>
                  <a:t> </a:t>
                </a:r>
                <a:r>
                  <a:rPr lang="ru-RU" u="sng" dirty="0"/>
                  <a:t>относительно базы </a:t>
                </a:r>
                <a14:m>
                  <m:oMath xmlns:m="http://schemas.openxmlformats.org/officeDocument/2006/math">
                    <m:r>
                      <a:rPr lang="en-US" i="1" u="sng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dirty="0"/>
                  <a:t> называется единственное целое число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ru-RU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ru-R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fName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func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ru-RU" dirty="0"/>
                  <a:t>, такое, что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dirty="0"/>
              </a:p>
              <a:p>
                <a:pPr algn="just">
                  <a:spcBef>
                    <a:spcPts val="600"/>
                  </a:spcBef>
                </a:pPr>
                <a:r>
                  <a:rPr lang="ru-RU" u="sng" dirty="0"/>
                  <a:t>Задача дискретного логарифмирования</a:t>
                </a:r>
                <a:r>
                  <a:rPr lang="ru-RU" dirty="0"/>
                  <a:t>: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sz="1600" dirty="0"/>
                  <a:t>для данной конечной циклической группы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ru-RU" sz="160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600" dirty="0"/>
                  <a:t>, образующего 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1600" dirty="0"/>
                  <a:t> и некоторого элемента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sz="1600" dirty="0"/>
                  <a:t> найти целое число </a:t>
                </a:r>
                <a:r>
                  <a:rPr lang="ru-RU" sz="1600" i="1" dirty="0"/>
                  <a:t>х</a:t>
                </a:r>
                <a:r>
                  <a:rPr lang="ru-RU" sz="1600" dirty="0"/>
                  <a:t>,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ru-RU" sz="1600" dirty="0"/>
                  <a:t>, такое,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sz="1600" dirty="0"/>
                  <a:t>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i="1" dirty="0">
                    <a:solidFill>
                      <a:srgbClr val="0070C0"/>
                    </a:solidFill>
                  </a:rPr>
                  <a:t>Известные криптографические алгоритмы: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sz="1800" i="1" dirty="0">
                    <a:solidFill>
                      <a:srgbClr val="0070C0"/>
                    </a:solidFill>
                  </a:rPr>
                  <a:t>протокол </a:t>
                </a:r>
                <a:r>
                  <a:rPr lang="ru-RU" sz="1800" i="1" dirty="0" err="1">
                    <a:solidFill>
                      <a:srgbClr val="0070C0"/>
                    </a:solidFill>
                  </a:rPr>
                  <a:t>Диффи-Хеллмана</a:t>
                </a:r>
                <a:r>
                  <a:rPr lang="ru-RU" sz="1800" i="1" dirty="0">
                    <a:solidFill>
                      <a:srgbClr val="0070C0"/>
                    </a:solidFill>
                  </a:rPr>
                  <a:t>;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sz="1800" i="1" dirty="0">
                    <a:solidFill>
                      <a:srgbClr val="0070C0"/>
                    </a:solidFill>
                  </a:rPr>
                  <a:t>криптосистема Эль-</a:t>
                </a:r>
                <a:r>
                  <a:rPr lang="ru-RU" sz="1800" i="1" dirty="0" err="1">
                    <a:solidFill>
                      <a:srgbClr val="0070C0"/>
                    </a:solidFill>
                  </a:rPr>
                  <a:t>Гамаля</a:t>
                </a:r>
                <a:r>
                  <a:rPr lang="en-US" sz="1800" i="1" dirty="0">
                    <a:solidFill>
                      <a:srgbClr val="0070C0"/>
                    </a:solidFill>
                  </a:rPr>
                  <a:t>;</a:t>
                </a:r>
              </a:p>
              <a:p>
                <a:pPr algn="just">
                  <a:spcBef>
                    <a:spcPts val="600"/>
                  </a:spcBef>
                </a:pPr>
                <a:endParaRPr lang="en-US" sz="140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7BFE8E81-F3CE-4735-A70F-BA92301DE6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48" b="-38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D2F1F4-5D5C-40D0-AEE6-56CA54682E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28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4180665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F0F938-6598-4CFC-95CE-09D7E5CD2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дискретного логарифмирования: случаи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C90569B5-91EA-4D80-BB8B-A71C865431B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ru-RU" u="sng" dirty="0"/>
                  <a:t>Обобщенная задача дискретного логарифмирования</a:t>
                </a:r>
                <a:r>
                  <a:rPr lang="ru-RU" dirty="0"/>
                  <a:t>: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sz="1800" dirty="0"/>
                  <a:t>для данной конечной циклической группы 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ru-RU" sz="180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ru-RU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800" dirty="0"/>
                  <a:t>, образующего 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1800" dirty="0"/>
                  <a:t> и некоторого элемента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sz="1800" dirty="0"/>
                  <a:t> найти целое число </a:t>
                </a:r>
                <a:r>
                  <a:rPr lang="ru-RU" sz="1800" i="1" dirty="0"/>
                  <a:t>х</a:t>
                </a:r>
                <a:r>
                  <a:rPr lang="ru-RU" sz="1800" dirty="0"/>
                  <a:t>, 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ru-RU" sz="1800" dirty="0"/>
                  <a:t>, такое,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ru-RU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sz="1800" dirty="0"/>
                  <a:t>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u="sng" dirty="0"/>
                  <a:t>Задача дискретного логарифмирования</a:t>
                </a:r>
                <a:r>
                  <a:rPr lang="ru-RU" dirty="0"/>
                  <a:t>: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sz="1800" dirty="0"/>
                  <a:t>для данного простого числа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1800" dirty="0"/>
                  <a:t>, образующего элемента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ru-RU" sz="1800" dirty="0"/>
                  <a:t> и некоторого элемента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ru-RU" sz="1800" dirty="0"/>
                  <a:t> найти целое число</a:t>
                </a:r>
                <a:br>
                  <a:rPr lang="ru-RU" sz="1800" dirty="0"/>
                </a:br>
                <a:r>
                  <a:rPr lang="ru-RU" sz="1800" i="1" dirty="0"/>
                  <a:t>х</a:t>
                </a:r>
                <a:r>
                  <a:rPr lang="ru-RU" sz="1800" dirty="0"/>
                  <a:t>, 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ru-RU" sz="1800" dirty="0"/>
                  <a:t>, такое,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ru-RU" sz="1800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u-RU" sz="18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ru-RU" sz="1800" dirty="0"/>
                  <a:t>.</a:t>
                </a:r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C90569B5-91EA-4D80-BB8B-A71C865431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0615BC4-58D5-4E9E-830B-3EC6364675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29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177822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26442F-EA25-4CAE-8816-F38864002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000" dirty="0"/>
              <a:t>Задача дискретного логарифмирования: способы решения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479D2C59-5877-49BF-BC1D-714BB832D74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ru-RU" sz="2000" dirty="0"/>
                  <a:t>Алгоритм исчерпывающего поиска: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sz="1600" dirty="0"/>
                  <a:t>Последовательное возведение образующего элемента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sz="1600" dirty="0"/>
                  <a:t> в различные степени до получения элемента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sz="1600" dirty="0"/>
                  <a:t>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sz="2000" dirty="0"/>
                  <a:t>Алгоритм «малый шаг — большой шаг».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sz="2000" dirty="0"/>
                  <a:t>ρ-алгоритм </a:t>
                </a:r>
                <a:r>
                  <a:rPr lang="ru-RU" sz="2000" dirty="0" err="1"/>
                  <a:t>Полларда</a:t>
                </a:r>
                <a:r>
                  <a:rPr lang="ru-RU" sz="2000" dirty="0"/>
                  <a:t> вычисления дискретного логарифма.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sz="2000" dirty="0"/>
                  <a:t>Алгоритм </a:t>
                </a:r>
                <a:r>
                  <a:rPr lang="ru-RU" sz="2000" dirty="0" err="1"/>
                  <a:t>Полига</a:t>
                </a:r>
                <a:r>
                  <a:rPr lang="ru-RU" sz="2000" dirty="0"/>
                  <a:t>–</a:t>
                </a:r>
                <a:r>
                  <a:rPr lang="ru-RU" sz="2000" dirty="0" err="1"/>
                  <a:t>Хеллмана</a:t>
                </a:r>
                <a:r>
                  <a:rPr lang="ru-RU" sz="2000" dirty="0"/>
                  <a:t> вычисления дискретного логарифма.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sz="2000" dirty="0"/>
                  <a:t>Алгоритм исчисления индексов.</a:t>
                </a:r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479D2C59-5877-49BF-BC1D-714BB832D7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3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673CEB4-E653-4B9A-A2A1-210E053457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30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2379844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FE7D4C-99F2-42D3-863C-BECDF5B30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000" dirty="0"/>
              <a:t>Задача дискретного логарифмирования: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ru-RU" sz="2000" dirty="0"/>
              <a:t>алгоритм</a:t>
            </a:r>
            <a:r>
              <a:rPr lang="en-US" sz="2000" dirty="0"/>
              <a:t> </a:t>
            </a:r>
            <a:r>
              <a:rPr lang="ru-RU" sz="2000" dirty="0"/>
              <a:t>«малый шаг — большой шаг»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D80AD36E-9428-4B1D-960A-EFE8A1342E5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300"/>
                  </a:spcBef>
                  <a:tabLst>
                    <a:tab pos="1439863" algn="l"/>
                  </a:tabLst>
                </a:pPr>
                <a:r>
                  <a:rPr lang="ru-RU" b="1" dirty="0"/>
                  <a:t>Вход</a:t>
                </a:r>
                <a:r>
                  <a:rPr lang="ru-RU" dirty="0"/>
                  <a:t>:	</a:t>
                </a:r>
                <a:r>
                  <a:rPr lang="en-US" dirty="0"/>
                  <a:t>	</a:t>
                </a:r>
                <a:r>
                  <a:rPr lang="ru-RU" dirty="0"/>
                  <a:t>образующий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dirty="0"/>
                  <a:t> циклической группы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 порядка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.</a:t>
                </a:r>
              </a:p>
              <a:p>
                <a:pPr>
                  <a:spcBef>
                    <a:spcPts val="300"/>
                  </a:spcBef>
                  <a:tabLst>
                    <a:tab pos="1439863" algn="l"/>
                  </a:tabLst>
                </a:pPr>
                <a:r>
                  <a:rPr lang="ru-RU" b="1" dirty="0"/>
                  <a:t>Выход</a:t>
                </a:r>
                <a:r>
                  <a:rPr lang="ru-RU" dirty="0"/>
                  <a:t>:	</a:t>
                </a:r>
                <a:r>
                  <a:rPr lang="en-US" dirty="0"/>
                  <a:t>	</a:t>
                </a:r>
                <a:r>
                  <a:rPr lang="ru-RU" dirty="0"/>
                  <a:t>дискретный логарифм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 = </m:t>
                    </m:r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u-RU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fName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func>
                  </m:oMath>
                </a14:m>
                <a:r>
                  <a:rPr lang="ru-RU" dirty="0"/>
                  <a:t>.</a:t>
                </a:r>
              </a:p>
              <a:p>
                <a:pPr>
                  <a:spcBef>
                    <a:spcPts val="300"/>
                  </a:spcBef>
                </a:pPr>
                <a:r>
                  <a:rPr lang="ru-RU" dirty="0"/>
                  <a:t>Шаг 1. Вычислить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e>
                    </m:d>
                  </m:oMath>
                </a14:m>
                <a:r>
                  <a:rPr lang="ru-RU" dirty="0"/>
                  <a:t>.</a:t>
                </a:r>
              </a:p>
              <a:p>
                <a:pPr>
                  <a:spcBef>
                    <a:spcPts val="300"/>
                  </a:spcBef>
                </a:pPr>
                <a:r>
                  <a:rPr lang="ru-RU" dirty="0"/>
                  <a:t>Шаг 2. Построить таблицу из двух строк 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dirty="0"/>
                  <a:t> столбцов, заполнить ее значениями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dirty="0"/>
                  <a:t> и упорядочить по второму значению.</a:t>
                </a:r>
              </a:p>
              <a:p>
                <a:pPr>
                  <a:spcBef>
                    <a:spcPts val="300"/>
                  </a:spcBef>
                </a:pPr>
                <a:r>
                  <a:rPr lang="ru-RU" dirty="0"/>
                  <a:t>Шаг 3. Вычислить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присвоить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dirty="0"/>
                  <a:t>.</a:t>
                </a:r>
              </a:p>
              <a:p>
                <a:pPr>
                  <a:spcBef>
                    <a:spcPts val="300"/>
                  </a:spcBef>
                </a:pPr>
                <a:r>
                  <a:rPr lang="ru-RU" dirty="0"/>
                  <a:t>Шаг 4. Для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=0,…,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ru-RU" dirty="0"/>
                  <a:t> выполнить следующее: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ru-RU" sz="1800" dirty="0"/>
                  <a:t>Шаг 4.1. Проверить является ли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ru-RU" sz="1800" dirty="0"/>
                  <a:t> вторым элементом некоторого столбца построенной таблицы.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ru-RU" sz="1800" dirty="0"/>
                  <a:t>Шаг 4.2. Если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ru-RU" sz="1800" dirty="0"/>
                  <a:t>, то возврат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𝑖𝑚</m:t>
                        </m:r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endParaRPr lang="ru-RU" sz="1800" dirty="0"/>
              </a:p>
              <a:p>
                <a:pPr lvl="1">
                  <a:spcBef>
                    <a:spcPts val="300"/>
                  </a:spcBef>
                </a:pPr>
                <a:r>
                  <a:rPr lang="ru-RU" sz="1800" dirty="0"/>
                  <a:t>Шаг 4.3. Присвоить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ru-RU" sz="1800" dirty="0"/>
                  <a:t>.</a:t>
                </a:r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D80AD36E-9428-4B1D-960A-EFE8A1342E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b="-21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6B7105-9358-4302-BC26-8BDE56B5BB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31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6393629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 за внимание.</a:t>
            </a:r>
          </a:p>
        </p:txBody>
      </p:sp>
      <p:sp>
        <p:nvSpPr>
          <p:cNvPr id="6" name="Подзаголовок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4294967295"/>
          </p:nvPr>
        </p:nvSpPr>
        <p:spPr>
          <a:xfrm>
            <a:off x="8594725" y="4846638"/>
            <a:ext cx="549275" cy="28575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32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945448051"/>
      </p:ext>
    </p:extLst>
  </p:cSld>
  <p:clrMapOvr>
    <a:masterClrMapping/>
  </p:clrMapOvr>
</p:sld>
</file>

<file path=ppt/theme/theme1.xml><?xml version="1.0" encoding="utf-8"?>
<a:theme xmlns:a="http://schemas.openxmlformats.org/drawingml/2006/main" name="HS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2060</TotalTime>
  <Words>596</Words>
  <Application>Microsoft Office PowerPoint</Application>
  <PresentationFormat>Экран (16:9)</PresentationFormat>
  <Paragraphs>398</Paragraphs>
  <Slides>32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9" baseType="lpstr">
      <vt:lpstr>Arial</vt:lpstr>
      <vt:lpstr>Cambria Math</vt:lpstr>
      <vt:lpstr>Calibri</vt:lpstr>
      <vt:lpstr>Times New Roman</vt:lpstr>
      <vt:lpstr>Ubuntu</vt:lpstr>
      <vt:lpstr>Courier New</vt:lpstr>
      <vt:lpstr>HSE Template</vt:lpstr>
      <vt:lpstr>Московский городской педагогический университет Департамент информатики, управления и технологий  Криптографические методы защиты информации  </vt:lpstr>
      <vt:lpstr>Сравнения и системы сравнений</vt:lpstr>
      <vt:lpstr>Свойства сравнений a≡b (mod m) </vt:lpstr>
      <vt:lpstr>Сравнение первой степени с одним неизвестным</vt:lpstr>
      <vt:lpstr>Пример решения сравнения</vt:lpstr>
      <vt:lpstr>Система сравнений</vt:lpstr>
      <vt:lpstr>Китайская теорема об остатках</vt:lpstr>
      <vt:lpstr>Пример решения системы сравнений</vt:lpstr>
      <vt:lpstr>Квадратичные вычеты</vt:lpstr>
      <vt:lpstr>Квадратичные вычеты</vt:lpstr>
      <vt:lpstr>Свойства квадратичных вычетов</vt:lpstr>
      <vt:lpstr>Символ Лежандра</vt:lpstr>
      <vt:lpstr>Способы вычисления символа Лежандра</vt:lpstr>
      <vt:lpstr>Пример вычисления символа Лежандра</vt:lpstr>
      <vt:lpstr>Решение квадратичных сравнений</vt:lpstr>
      <vt:lpstr>Сравнения второй степени: основные понятия</vt:lpstr>
      <vt:lpstr>Сравнения второй степени: обобщение</vt:lpstr>
      <vt:lpstr>Извлечение квадратных корней по модулю простого числа</vt:lpstr>
      <vt:lpstr>Извлечение квадратных корней по модулю составного числа</vt:lpstr>
      <vt:lpstr>Факторизация целых чисел </vt:lpstr>
      <vt:lpstr>Задача целочисленной факторизации: определение</vt:lpstr>
      <vt:lpstr>Задача целочисленной факторизации: ρ-алгоритм Полларда</vt:lpstr>
      <vt:lpstr>Задача целочисленной факторизации: 𝒑−𝟏-алгоритм Полларда</vt:lpstr>
      <vt:lpstr>Задача целочисленной факторизации: алгоритм Ленстры</vt:lpstr>
      <vt:lpstr>Задача целочисленной факторизации: алгоритм Ленстры</vt:lpstr>
      <vt:lpstr>Задача целочисленной факторизации: алгоритм Ленстры</vt:lpstr>
      <vt:lpstr>Дискретное логарифмирование</vt:lpstr>
      <vt:lpstr>Задача дискретного логарифмирования: определение</vt:lpstr>
      <vt:lpstr>Задача дискретного логарифмирования: случаи</vt:lpstr>
      <vt:lpstr>Задача дискретного логарифмирования: способы решения</vt:lpstr>
      <vt:lpstr>Задача дискретного логарифмирования: алгоритм «малый шаг — большой шаг»</vt:lpstr>
      <vt:lpstr>Спасибо за внимание.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Организация проектной работы</dc:title>
  <dc:creator>Олег</dc:creator>
  <cp:lastModifiedBy>bossua</cp:lastModifiedBy>
  <cp:revision>136</cp:revision>
  <cp:lastPrinted>2020-01-14T10:27:06Z</cp:lastPrinted>
  <dcterms:modified xsi:type="dcterms:W3CDTF">2021-08-11T14:59:43Z</dcterms:modified>
</cp:coreProperties>
</file>