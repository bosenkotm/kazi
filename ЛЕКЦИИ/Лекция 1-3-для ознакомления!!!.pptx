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57"/>
  </p:notesMasterIdLst>
  <p:sldIdLst>
    <p:sldId id="256" r:id="rId2"/>
    <p:sldId id="276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330" r:id="rId36"/>
    <p:sldId id="331" r:id="rId37"/>
    <p:sldId id="332" r:id="rId38"/>
    <p:sldId id="333" r:id="rId39"/>
    <p:sldId id="334" r:id="rId40"/>
    <p:sldId id="335" r:id="rId41"/>
    <p:sldId id="336" r:id="rId42"/>
    <p:sldId id="337" r:id="rId43"/>
    <p:sldId id="338" r:id="rId44"/>
    <p:sldId id="339" r:id="rId45"/>
    <p:sldId id="340" r:id="rId46"/>
    <p:sldId id="341" r:id="rId47"/>
    <p:sldId id="342" r:id="rId48"/>
    <p:sldId id="343" r:id="rId49"/>
    <p:sldId id="344" r:id="rId50"/>
    <p:sldId id="345" r:id="rId51"/>
    <p:sldId id="346" r:id="rId52"/>
    <p:sldId id="347" r:id="rId53"/>
    <p:sldId id="348" r:id="rId54"/>
    <p:sldId id="349" r:id="rId55"/>
    <p:sldId id="350" r:id="rId5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58"/>
    </p:embeddedFont>
    <p:embeddedFont>
      <p:font typeface="Calibri" panose="020F0502020204030204" pitchFamily="34" charset="0"/>
      <p:regular r:id="rId59"/>
      <p:bold r:id="rId60"/>
      <p:italic r:id="rId61"/>
      <p:boldItalic r:id="rId62"/>
    </p:embeddedFont>
    <p:embeddedFont>
      <p:font typeface="Ubuntu" panose="020B0604020202020204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9CF3CA-9ADA-48EB-A27D-F1E7388D53D2}">
  <a:tblStyle styleId="{7C9CF3CA-9ADA-48EB-A27D-F1E7388D53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6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1867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 userDrawn="1"/>
        </p:nvSpPr>
        <p:spPr>
          <a:xfrm>
            <a:off x="-152400" y="0"/>
            <a:ext cx="9442450" cy="127189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1509700"/>
            <a:ext cx="8520600" cy="12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Ubuntu"/>
              <a:buNone/>
              <a:defRPr sz="30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Ubuntu"/>
              <a:buNone/>
              <a:defRPr sz="52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215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8700" y="4812300"/>
            <a:ext cx="9152700" cy="3312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 smtClean="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МГПУ, </a:t>
            </a:r>
            <a:r>
              <a:rPr lang="ru" sz="1000" dirty="0" smtClean="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202</a:t>
            </a:r>
            <a:r>
              <a:rPr lang="en-US" sz="1000" dirty="0" smtClean="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1</a:t>
            </a:r>
            <a:endParaRPr sz="1000" dirty="0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36886" y="46199"/>
            <a:ext cx="1270227" cy="1179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089400" y="0"/>
            <a:ext cx="80547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37250" y="863550"/>
            <a:ext cx="8895300" cy="39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 dirty="0"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548650" y="4846498"/>
            <a:ext cx="548700" cy="2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6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6950" cy="669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 sz="1400"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 sz="1400"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089400" y="0"/>
            <a:ext cx="80547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548650" y="4846498"/>
            <a:ext cx="548700" cy="2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6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" cy="665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1089400" y="0"/>
            <a:ext cx="80547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548650" y="4846498"/>
            <a:ext cx="548700" cy="2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78050" y="0"/>
            <a:ext cx="80193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buntu"/>
              <a:buNone/>
              <a:defRPr sz="24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buntu"/>
              <a:buChar char="●"/>
              <a:defRPr sz="1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8650" y="4846498"/>
            <a:ext cx="548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/>
            </a:lvl1pPr>
            <a:lvl2pPr lvl="1" algn="r" rtl="0">
              <a:buNone/>
              <a:defRPr/>
            </a:lvl2pPr>
            <a:lvl3pPr lvl="2" algn="r" rtl="0">
              <a:buNone/>
              <a:defRPr/>
            </a:lvl3pPr>
            <a:lvl4pPr lvl="3" algn="r" rtl="0">
              <a:buNone/>
              <a:defRPr/>
            </a:lvl4pPr>
            <a:lvl5pPr lvl="4" algn="r" rtl="0">
              <a:buNone/>
              <a:defRPr/>
            </a:lvl5pPr>
            <a:lvl6pPr lvl="5" algn="r" rtl="0">
              <a:buNone/>
              <a:defRPr/>
            </a:lvl6pPr>
            <a:lvl7pPr lvl="6" algn="r" rtl="0">
              <a:buNone/>
              <a:defRPr/>
            </a:lvl7pPr>
            <a:lvl8pPr lvl="7" algn="r" rtl="0">
              <a:buNone/>
              <a:defRPr/>
            </a:lvl8pPr>
            <a:lvl9pPr lvl="8" algn="r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5" name="Рисунок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90600" cy="665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</p:sldLayoutIdLst>
  <p:timing>
    <p:tnLst>
      <p:par>
        <p:cTn id="1" dur="indefinite" restart="never" nodeType="tmRoot"/>
      </p:par>
    </p:tnLst>
  </p:timing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9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ctrTitle"/>
          </p:nvPr>
        </p:nvSpPr>
        <p:spPr>
          <a:xfrm>
            <a:off x="311700" y="1371600"/>
            <a:ext cx="8520600" cy="1966026"/>
          </a:xfrm>
        </p:spPr>
        <p:txBody>
          <a:bodyPr/>
          <a:lstStyle/>
          <a:p>
            <a:pPr lvl="0"/>
            <a:r>
              <a:rPr lang="ru-RU" sz="2000" b="1" dirty="0" smtClean="0"/>
              <a:t>Московский городской педагогический университет</a:t>
            </a:r>
            <a:br>
              <a:rPr lang="ru-RU" sz="2000" b="1" dirty="0" smtClean="0"/>
            </a:br>
            <a:r>
              <a:rPr lang="ru-RU" sz="2000" b="1" dirty="0" smtClean="0"/>
              <a:t>Департамент информатики, управления и технологий</a:t>
            </a:r>
            <a:br>
              <a:rPr lang="ru-RU" sz="2000" b="1" dirty="0" smtClean="0"/>
            </a:b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Криптографические методы защиты информации</a:t>
            </a:r>
            <a:br>
              <a:rPr lang="ru-RU" sz="2000" dirty="0"/>
            </a:br>
            <a:r>
              <a:rPr lang="ru-RU" sz="2000" dirty="0"/>
              <a:t/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311700" y="3575341"/>
            <a:ext cx="8520600" cy="792600"/>
          </a:xfrm>
        </p:spPr>
        <p:txBody>
          <a:bodyPr/>
          <a:lstStyle/>
          <a:p>
            <a:pPr lvl="0"/>
            <a:r>
              <a:rPr lang="ru-RU" sz="2000" dirty="0" smtClean="0">
                <a:solidFill>
                  <a:schemeClr val="tx1"/>
                </a:solidFill>
              </a:rPr>
              <a:t>Босенко Тимур Муртазович</a:t>
            </a:r>
            <a:endParaRPr lang="ru-RU" sz="2000" dirty="0">
              <a:solidFill>
                <a:schemeClr val="tx1"/>
              </a:solidFill>
            </a:endParaRPr>
          </a:p>
          <a:p>
            <a:pPr lvl="0"/>
            <a:r>
              <a:rPr lang="ru-RU" sz="2000" dirty="0">
                <a:solidFill>
                  <a:schemeClr val="tx1"/>
                </a:solidFill>
              </a:rPr>
              <a:t>доцент, канд. </a:t>
            </a:r>
            <a:r>
              <a:rPr lang="ru-RU" sz="2000" dirty="0" err="1">
                <a:solidFill>
                  <a:schemeClr val="tx1"/>
                </a:solidFill>
              </a:rPr>
              <a:t>техн</a:t>
            </a:r>
            <a:r>
              <a:rPr lang="ru-RU" sz="2000" dirty="0">
                <a:solidFill>
                  <a:schemeClr val="tx1"/>
                </a:solidFill>
              </a:rPr>
              <a:t>. наук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19B062-76EE-4936-B5C3-C9BB7D8AB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 курса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59F865-44CC-4D19-8EAA-D2CA21F56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CE0CB7-AC18-4065-BE05-9D810C2E34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</a:t>
            </a:fld>
            <a:endParaRPr lang="ru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D3F1958-254A-49BB-8405-F4D00386B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493450"/>
              </p:ext>
            </p:extLst>
          </p:nvPr>
        </p:nvGraphicFramePr>
        <p:xfrm>
          <a:off x="698500" y="863550"/>
          <a:ext cx="7543800" cy="4125282"/>
        </p:xfrm>
        <a:graphic>
          <a:graphicData uri="http://schemas.openxmlformats.org/drawingml/2006/table">
            <a:tbl>
              <a:tblPr firstRow="1" firstCol="1" bandRow="1">
                <a:tableStyleId>{7C9CF3CA-9ADA-48EB-A27D-F1E7388D53D2}</a:tableStyleId>
              </a:tblPr>
              <a:tblGrid>
                <a:gridCol w="1584848">
                  <a:extLst>
                    <a:ext uri="{9D8B030D-6E8A-4147-A177-3AD203B41FA5}">
                      <a16:colId xmlns:a16="http://schemas.microsoft.com/office/drawing/2014/main" val="243510467"/>
                    </a:ext>
                  </a:extLst>
                </a:gridCol>
                <a:gridCol w="5958952">
                  <a:extLst>
                    <a:ext uri="{9D8B030D-6E8A-4147-A177-3AD203B41FA5}">
                      <a16:colId xmlns:a16="http://schemas.microsoft.com/office/drawing/2014/main" val="646423393"/>
                    </a:ext>
                  </a:extLst>
                </a:gridCol>
              </a:tblGrid>
              <a:tr h="723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900" b="1" dirty="0">
                          <a:effectLst/>
                        </a:rPr>
                        <a:t>№</a:t>
                      </a:r>
                      <a:endParaRPr lang="ru-RU" sz="9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2000" b="1" dirty="0">
                          <a:effectLst/>
                        </a:rPr>
                        <a:t>Наименование </a:t>
                      </a:r>
                      <a:r>
                        <a:rPr lang="ru-RU" sz="2000" b="1" dirty="0" smtClean="0">
                          <a:effectLst/>
                        </a:rPr>
                        <a:t>тем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extLst>
                  <a:ext uri="{0D108BD9-81ED-4DB2-BD59-A6C34878D82A}">
                    <a16:rowId xmlns:a16="http://schemas.microsoft.com/office/drawing/2014/main" val="2271878833"/>
                  </a:ext>
                </a:extLst>
              </a:tr>
              <a:tr h="4765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050" b="1" dirty="0" smtClean="0">
                          <a:solidFill>
                            <a:srgbClr val="0070C0"/>
                          </a:solidFill>
                          <a:effectLst/>
                        </a:rPr>
                        <a:t>1.Теоретические аспекты</a:t>
                      </a:r>
                      <a:endParaRPr lang="ru-RU" sz="1050" b="1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Математические основы криптографии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extLst>
                  <a:ext uri="{0D108BD9-81ED-4DB2-BD59-A6C34878D82A}">
                    <a16:rowId xmlns:a16="http://schemas.microsoft.com/office/drawing/2014/main" val="2926989833"/>
                  </a:ext>
                </a:extLst>
              </a:tr>
              <a:tr h="3071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050" b="1" dirty="0">
                          <a:solidFill>
                            <a:srgbClr val="0070C0"/>
                          </a:solidFill>
                          <a:effectLst/>
                        </a:rPr>
                        <a:t>1.1</a:t>
                      </a:r>
                      <a:endParaRPr lang="ru-RU" sz="1050" b="1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Основы абстрактной алгебры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extLst>
                  <a:ext uri="{0D108BD9-81ED-4DB2-BD59-A6C34878D82A}">
                    <a16:rowId xmlns:a16="http://schemas.microsoft.com/office/drawing/2014/main" val="4088034354"/>
                  </a:ext>
                </a:extLst>
              </a:tr>
              <a:tr h="2996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050" b="1" dirty="0">
                          <a:solidFill>
                            <a:srgbClr val="0070C0"/>
                          </a:solidFill>
                          <a:effectLst/>
                        </a:rPr>
                        <a:t>1.2</a:t>
                      </a:r>
                      <a:endParaRPr lang="ru-RU" sz="1050" b="1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Основы теории чисел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extLst>
                  <a:ext uri="{0D108BD9-81ED-4DB2-BD59-A6C34878D82A}">
                    <a16:rowId xmlns:a16="http://schemas.microsoft.com/office/drawing/2014/main" val="1086423246"/>
                  </a:ext>
                </a:extLst>
              </a:tr>
              <a:tr h="4765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050" b="1" dirty="0" smtClean="0">
                          <a:solidFill>
                            <a:srgbClr val="FF0000"/>
                          </a:solidFill>
                          <a:effectLst/>
                        </a:rPr>
                        <a:t>2.Практические аспекты</a:t>
                      </a:r>
                      <a:endParaRPr lang="ru-RU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Криптографические методы и алгоритмы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extLst>
                  <a:ext uri="{0D108BD9-81ED-4DB2-BD59-A6C34878D82A}">
                    <a16:rowId xmlns:a16="http://schemas.microsoft.com/office/drawing/2014/main" val="2368484905"/>
                  </a:ext>
                </a:extLst>
              </a:tr>
              <a:tr h="2996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050" b="1" dirty="0">
                          <a:solidFill>
                            <a:srgbClr val="FF0000"/>
                          </a:solidFill>
                          <a:effectLst/>
                        </a:rPr>
                        <a:t>2.1</a:t>
                      </a:r>
                      <a:endParaRPr lang="ru-RU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Историческая криптография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extLst>
                  <a:ext uri="{0D108BD9-81ED-4DB2-BD59-A6C34878D82A}">
                    <a16:rowId xmlns:a16="http://schemas.microsoft.com/office/drawing/2014/main" val="3895227509"/>
                  </a:ext>
                </a:extLst>
              </a:tr>
              <a:tr h="2996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050" b="1" dirty="0">
                          <a:solidFill>
                            <a:srgbClr val="FF0000"/>
                          </a:solidFill>
                          <a:effectLst/>
                        </a:rPr>
                        <a:t>2.2</a:t>
                      </a:r>
                      <a:endParaRPr lang="ru-RU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Симметричное шифрование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extLst>
                  <a:ext uri="{0D108BD9-81ED-4DB2-BD59-A6C34878D82A}">
                    <a16:rowId xmlns:a16="http://schemas.microsoft.com/office/drawing/2014/main" val="1627070876"/>
                  </a:ext>
                </a:extLst>
              </a:tr>
              <a:tr h="2996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050" b="1" dirty="0">
                          <a:solidFill>
                            <a:srgbClr val="FF0000"/>
                          </a:solidFill>
                          <a:effectLst/>
                        </a:rPr>
                        <a:t>2.3</a:t>
                      </a:r>
                      <a:endParaRPr lang="ru-RU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Криптография с открытым ключом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extLst>
                  <a:ext uri="{0D108BD9-81ED-4DB2-BD59-A6C34878D82A}">
                    <a16:rowId xmlns:a16="http://schemas.microsoft.com/office/drawing/2014/main" val="185839488"/>
                  </a:ext>
                </a:extLst>
              </a:tr>
              <a:tr h="2996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050" b="1" dirty="0">
                          <a:solidFill>
                            <a:srgbClr val="FF0000"/>
                          </a:solidFill>
                          <a:effectLst/>
                        </a:rPr>
                        <a:t>2.4</a:t>
                      </a:r>
                      <a:endParaRPr lang="ru-RU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Хеширование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extLst>
                  <a:ext uri="{0D108BD9-81ED-4DB2-BD59-A6C34878D82A}">
                    <a16:rowId xmlns:a16="http://schemas.microsoft.com/office/drawing/2014/main" val="1994784061"/>
                  </a:ext>
                </a:extLst>
              </a:tr>
              <a:tr h="2996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050" b="1" dirty="0">
                          <a:solidFill>
                            <a:srgbClr val="FF0000"/>
                          </a:solidFill>
                          <a:effectLst/>
                        </a:rPr>
                        <a:t>2.5</a:t>
                      </a:r>
                      <a:endParaRPr lang="ru-RU" sz="105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effectLst/>
                        </a:rPr>
                        <a:t>Электронная подпись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711" marR="43711" marT="43711" marB="43711" anchor="ctr"/>
                </a:tc>
                <a:extLst>
                  <a:ext uri="{0D108BD9-81ED-4DB2-BD59-A6C34878D82A}">
                    <a16:rowId xmlns:a16="http://schemas.microsoft.com/office/drawing/2014/main" val="2358321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14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2458C07-A7E8-4B64-B2FE-C1AFFAB63A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Алгебраические структуры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90996C88-9E4D-4F2C-9968-893DC9964F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9199C9-93F0-4E2A-BC11-B74B3036C9C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07835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97F4C-F5C7-4B59-AE27-C92F99B8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Множества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991F2E1-66A2-4574-BBB2-CE47B5EEA22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2000" u="sng" dirty="0"/>
                  <a:t>Множество</a:t>
                </a:r>
                <a:r>
                  <a:rPr lang="ru-RU" sz="2000" dirty="0"/>
                  <a:t> — это совокупность элементов, объединенных неким общим признаком.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2000" dirty="0"/>
                  <a:t>Числовые множества: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множество натуральных чисел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/>
                        <a:ea typeface="Cambria Math"/>
                      </a:rPr>
                      <m:t>ℕ</m:t>
                    </m:r>
                  </m:oMath>
                </a14:m>
                <a:r>
                  <a:rPr lang="ru-RU" sz="1600" dirty="0"/>
                  <a:t>,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множество целых чисел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ru-RU" sz="1600" dirty="0"/>
                  <a:t>,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множество рациональных чисел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ru-RU" sz="1600" dirty="0"/>
                  <a:t>,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множество действительных чисел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r>
                  <a:rPr lang="ru-RU" sz="1600" dirty="0"/>
                  <a:t>,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множество комплексных чисел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/>
                        <a:ea typeface="Cambria Math"/>
                      </a:rPr>
                      <m:t>ℂ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ru-RU" sz="2000" i="1" dirty="0">
                    <a:solidFill>
                      <a:srgbClr val="0070C0"/>
                    </a:solidFill>
                  </a:rPr>
                  <a:t>Криптографические алгоритмы</a:t>
                </a:r>
                <a:br>
                  <a:rPr lang="ru-RU" sz="2000" i="1" dirty="0">
                    <a:solidFill>
                      <a:srgbClr val="0070C0"/>
                    </a:solidFill>
                  </a:rPr>
                </a:br>
                <a:r>
                  <a:rPr lang="ru-RU" sz="2000" i="1" dirty="0">
                    <a:solidFill>
                      <a:srgbClr val="0070C0"/>
                    </a:solidFill>
                  </a:rPr>
                  <a:t>оперируют целыми числами.</a:t>
                </a:r>
              </a:p>
              <a:p>
                <a:pPr>
                  <a:spcBef>
                    <a:spcPts val="600"/>
                  </a:spcBef>
                </a:pPr>
                <a:endParaRPr lang="ru-RU" sz="16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991F2E1-66A2-4574-BBB2-CE47B5EEA2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6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8EF746-0FBC-4B6E-A224-63090CA584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</a:t>
            </a:fld>
            <a:endParaRPr lang="ru"/>
          </a:p>
        </p:txBody>
      </p:sp>
      <p:pic>
        <p:nvPicPr>
          <p:cNvPr id="5" name="Picture 22">
            <a:extLst>
              <a:ext uri="{FF2B5EF4-FFF2-40B4-BE49-F238E27FC236}">
                <a16:creationId xmlns:a16="http://schemas.microsoft.com/office/drawing/2014/main" id="{FBAD4273-3C54-4705-940D-5D305726A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535" y="1502445"/>
            <a:ext cx="3210539" cy="3184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93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7853D-991A-47AB-A936-34143701D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Алгебраические операции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FD10AB6-32EF-4635-A545-7FFFE340D1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ru-RU" dirty="0"/>
                  <a:t>На множестве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задана алгебраическая операция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ru-RU" dirty="0"/>
                  <a:t>, если любой упорядоченной паре элементов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поставлен в соответствие однозначно определенный элемент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, который обозначается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.</a:t>
                </a:r>
              </a:p>
              <a:p>
                <a:pPr algn="just"/>
                <a:r>
                  <a:rPr lang="ru-RU" dirty="0"/>
                  <a:t>Множество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 заданной на нем алгебраической операцией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ru-RU" dirty="0"/>
                  <a:t> называется алгебраической структурой и обозначается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;∗</m:t>
                        </m:r>
                      </m:e>
                    </m:d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algn="just"/>
                <a:r>
                  <a:rPr lang="ru-RU" dirty="0"/>
                  <a:t>Примеры алгебраических структур: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ru-RU" sz="1800" dirty="0"/>
                  <a:t>:</a:t>
                </a:r>
                <a:r>
                  <a:rPr lang="ru-RU" sz="1800" b="1" dirty="0">
                    <a:solidFill>
                      <a:srgbClr val="0070C0"/>
                    </a:solidFill>
                  </a:rPr>
                  <a:t>	является</a:t>
                </a:r>
                <a:r>
                  <a:rPr lang="ru-RU" sz="1800" dirty="0"/>
                  <a:t> алгебраической структурой.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;:</m:t>
                        </m:r>
                      </m:e>
                    </m:d>
                  </m:oMath>
                </a14:m>
                <a:r>
                  <a:rPr lang="ru-RU" sz="1800" dirty="0"/>
                  <a:t>:	</a:t>
                </a:r>
                <a:r>
                  <a:rPr lang="ru-RU" sz="1800" b="1" dirty="0">
                    <a:solidFill>
                      <a:srgbClr val="FF0000"/>
                    </a:solidFill>
                  </a:rPr>
                  <a:t>не является </a:t>
                </a:r>
                <a:r>
                  <a:rPr lang="ru-RU" sz="1800" dirty="0"/>
                  <a:t>алгебраической структурой.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ru-RU" sz="18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FD10AB6-32EF-4635-A545-7FFFE340D1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DD89B9-7FCE-426B-9127-559C7E2198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5</a:t>
            </a:fld>
            <a:endParaRPr lang="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221FFF4-2159-44B2-8095-E5D661EC9C9A}"/>
              </a:ext>
            </a:extLst>
          </p:cNvPr>
          <p:cNvGraphicFramePr>
            <a:graphicFrameLocks noGrp="1"/>
          </p:cNvGraphicFramePr>
          <p:nvPr/>
        </p:nvGraphicFramePr>
        <p:xfrm>
          <a:off x="2507139" y="3758759"/>
          <a:ext cx="1718496" cy="10261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29624">
                  <a:extLst>
                    <a:ext uri="{9D8B030D-6E8A-4147-A177-3AD203B41FA5}">
                      <a16:colId xmlns:a16="http://schemas.microsoft.com/office/drawing/2014/main" val="1798526345"/>
                    </a:ext>
                  </a:extLst>
                </a:gridCol>
                <a:gridCol w="429624">
                  <a:extLst>
                    <a:ext uri="{9D8B030D-6E8A-4147-A177-3AD203B41FA5}">
                      <a16:colId xmlns:a16="http://schemas.microsoft.com/office/drawing/2014/main" val="510348732"/>
                    </a:ext>
                  </a:extLst>
                </a:gridCol>
                <a:gridCol w="429624">
                  <a:extLst>
                    <a:ext uri="{9D8B030D-6E8A-4147-A177-3AD203B41FA5}">
                      <a16:colId xmlns:a16="http://schemas.microsoft.com/office/drawing/2014/main" val="1585279960"/>
                    </a:ext>
                  </a:extLst>
                </a:gridCol>
                <a:gridCol w="429624">
                  <a:extLst>
                    <a:ext uri="{9D8B030D-6E8A-4147-A177-3AD203B41FA5}">
                      <a16:colId xmlns:a16="http://schemas.microsoft.com/office/drawing/2014/main" val="1750346127"/>
                    </a:ext>
                  </a:extLst>
                </a:gridCol>
              </a:tblGrid>
              <a:tr h="2292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a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b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c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037034"/>
                  </a:ext>
                </a:extLst>
              </a:tr>
              <a:tr h="2292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a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a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c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a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7767543"/>
                  </a:ext>
                </a:extLst>
              </a:tr>
              <a:tr h="2292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b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b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a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a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39690711"/>
                  </a:ext>
                </a:extLst>
              </a:tr>
              <a:tr h="2292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c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c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b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</a:rPr>
                        <a:t>a</a:t>
                      </a:r>
                      <a:endParaRPr lang="ru-RU" sz="160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6214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38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4CA591-B0FD-488B-84A5-5FB74F219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алгебраических операций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5560B379-192F-498E-AEB8-0A82A44CC0D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ru-RU" u="sng" dirty="0"/>
                  <a:t>Ассоциативность</a:t>
                </a:r>
                <a:r>
                  <a:rPr lang="en-US" u="sng" dirty="0"/>
                  <a:t>:</a:t>
                </a:r>
                <a:endParaRPr lang="ru-RU" u="sng" dirty="0"/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ru-RU" sz="160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ru-RU" sz="16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𝑧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 ∈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 ⇒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∗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∗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𝑧</m:t>
                        </m:r>
                      </m:e>
                    </m:d>
                    <m:r>
                      <a:rPr lang="en-US" sz="1600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∗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</m:d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∗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𝑧</m:t>
                    </m:r>
                  </m:oMath>
                </a14:m>
                <a:r>
                  <a:rPr lang="en-US" sz="1600" dirty="0"/>
                  <a:t>.</a:t>
                </a:r>
                <a:endParaRPr lang="ru-RU" sz="1600" dirty="0"/>
              </a:p>
              <a:p>
                <a:pPr algn="just">
                  <a:spcBef>
                    <a:spcPts val="300"/>
                  </a:spcBef>
                </a:pPr>
                <a:r>
                  <a:rPr lang="ru-RU" u="sng" dirty="0"/>
                  <a:t>Существование нейтрального элемента</a:t>
                </a:r>
                <a:r>
                  <a:rPr lang="en-US" u="sng" dirty="0"/>
                  <a:t>:</a:t>
                </a:r>
                <a:endParaRPr lang="ru-RU" u="sng" dirty="0"/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ru-RU" sz="1600" i="1" smtClean="0">
                        <a:latin typeface="Cambria Math"/>
                        <a:ea typeface="Cambria Math"/>
                      </a:rPr>
                      <m:t>∃</m:t>
                    </m:r>
                    <m:r>
                      <a:rPr lang="ru-RU" sz="1600" b="0" i="1" smtClean="0">
                        <a:latin typeface="Cambria Math" panose="02040503050406030204" pitchFamily="18" charset="0"/>
                        <a:ea typeface="Cambria Math"/>
                      </a:rPr>
                      <m:t>!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ru-RU" sz="1600" b="0" i="1" smtClean="0">
                        <a:latin typeface="Cambria Math"/>
                        <a:ea typeface="Cambria Math"/>
                      </a:rPr>
                      <m:t> такой, что ∀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⇒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∗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∗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𝑥</m:t>
                    </m:r>
                  </m:oMath>
                </a14:m>
                <a:r>
                  <a:rPr lang="en-US" sz="1600" dirty="0"/>
                  <a:t>.</a:t>
                </a:r>
                <a:endParaRPr lang="ru-RU" sz="1600" dirty="0"/>
              </a:p>
              <a:p>
                <a:pPr algn="just">
                  <a:spcBef>
                    <a:spcPts val="300"/>
                  </a:spcBef>
                </a:pPr>
                <a:r>
                  <a:rPr lang="ru-RU" u="sng" dirty="0"/>
                  <a:t>Существование обратимых элементов</a:t>
                </a:r>
                <a:r>
                  <a:rPr lang="en-US" dirty="0"/>
                  <a:t> (</a:t>
                </a:r>
                <a:r>
                  <a:rPr lang="ru-RU" dirty="0"/>
                  <a:t>имеет смысл только при наличии нейтрального элемента)</a:t>
                </a:r>
                <a:r>
                  <a:rPr lang="en-US" dirty="0"/>
                  <a:t>:</a:t>
                </a:r>
                <a:endParaRPr lang="ru-RU" dirty="0"/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𝑥</m:t>
                    </m:r>
                    <m:r>
                      <a:rPr lang="en-US" sz="1600" b="0" i="1" smtClean="0">
                        <a:latin typeface="Cambria Math"/>
                      </a:rPr>
                      <m:t>, </m:t>
                    </m:r>
                    <m:r>
                      <a:rPr lang="en-US" sz="1600" b="0" i="1" smtClean="0">
                        <a:latin typeface="Cambria Math"/>
                      </a:rPr>
                      <m:t>𝑦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𝑋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nor/>
                      </m:rPr>
                      <a:rPr lang="ru-RU" sz="1600"/>
                      <m:t>—</m:t>
                    </m:r>
                    <m:r>
                      <m:rPr>
                        <m:nor/>
                      </m:rPr>
                      <a:rPr lang="en-US" sz="1600" b="0" i="0" smtClean="0"/>
                      <m:t> </m:t>
                    </m:r>
                    <m:r>
                      <m:rPr>
                        <m:nor/>
                      </m:rPr>
                      <a:rPr lang="ru-RU" sz="1600" b="0" i="0" smtClean="0"/>
                      <m:t>взаимно</m:t>
                    </m:r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ru-RU" sz="1600" b="0" i="0" smtClean="0"/>
                      <m:t>обратные элементы, если</m:t>
                    </m:r>
                    <m:r>
                      <a:rPr lang="en-US" sz="1600" b="0" i="1" smtClean="0">
                        <a:latin typeface="Cambria Math"/>
                      </a:rPr>
                      <m:t> 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∗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∗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ru-RU" sz="16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ru-RU" sz="1600" b="0" i="1" smtClean="0">
                        <a:latin typeface="Cambria Math" panose="02040503050406030204" pitchFamily="18" charset="0"/>
                        <a:ea typeface="Cambria Math"/>
                      </a:rPr>
                      <m:t>  </m:t>
                    </m:r>
                    <m:r>
                      <a:rPr lang="ru-RU" sz="1600" b="0" i="1" smtClean="0">
                        <a:latin typeface="Cambria Math"/>
                        <a:ea typeface="Cambria Math"/>
                      </a:rPr>
                      <m:t>тогда 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600" dirty="0"/>
                  <a:t>.</a:t>
                </a:r>
                <a:endParaRPr lang="ru-RU" sz="1600" dirty="0"/>
              </a:p>
              <a:p>
                <a:pPr algn="just">
                  <a:spcBef>
                    <a:spcPts val="300"/>
                  </a:spcBef>
                </a:pPr>
                <a:r>
                  <a:rPr lang="ru-RU" u="sng" dirty="0"/>
                  <a:t>Коммутативность</a:t>
                </a:r>
                <a:r>
                  <a:rPr lang="en-US" u="sng" dirty="0"/>
                  <a:t>:</a:t>
                </a:r>
                <a:endParaRPr lang="ru-RU" u="sng" dirty="0"/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ru-RU" sz="1600" i="1"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 ⇒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∗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∗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𝑥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ru-RU" u="sng" dirty="0"/>
                  <a:t>Свойство квазигруппы</a:t>
                </a:r>
                <a:r>
                  <a:rPr lang="en-US" u="sng" dirty="0"/>
                  <a:t>:</a:t>
                </a:r>
                <a:endParaRPr lang="ru-RU" u="sng" dirty="0"/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ru-RU" sz="1600" i="1"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/>
                      </a:rPr>
                      <m:t>𝑎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/>
                      </a:rPr>
                      <m:t>𝑏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𝑋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однозначно разрешимы уравнения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и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/>
                      </a:rPr>
                      <m:t>𝑦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5560B379-192F-498E-AEB8-0A82A44CC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0C5A05-6441-46D3-B22F-C50589B4CD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90644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D510F-3D21-4F87-931A-0B01E922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алгебраических структур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E2931E-804C-4EEE-B927-335CA1096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600"/>
              </a:spcBef>
            </a:pPr>
            <a:r>
              <a:rPr lang="ru-RU" u="sng" dirty="0"/>
              <a:t>Полугруппа:</a:t>
            </a:r>
          </a:p>
          <a:p>
            <a:pPr lvl="1" algn="just">
              <a:spcBef>
                <a:spcPts val="600"/>
              </a:spcBef>
            </a:pPr>
            <a:r>
              <a:rPr lang="ru-RU" sz="1800" dirty="0"/>
              <a:t>ассоциативность.</a:t>
            </a:r>
          </a:p>
          <a:p>
            <a:pPr algn="just">
              <a:spcBef>
                <a:spcPts val="600"/>
              </a:spcBef>
            </a:pPr>
            <a:r>
              <a:rPr lang="ru-RU" u="sng" dirty="0"/>
              <a:t>Моноид:</a:t>
            </a:r>
          </a:p>
          <a:p>
            <a:pPr lvl="1" algn="just">
              <a:spcBef>
                <a:spcPts val="600"/>
              </a:spcBef>
            </a:pPr>
            <a:r>
              <a:rPr lang="ru-RU" sz="1800" dirty="0"/>
              <a:t>ассоциативность;</a:t>
            </a:r>
          </a:p>
          <a:p>
            <a:pPr lvl="1" algn="just">
              <a:spcBef>
                <a:spcPts val="600"/>
              </a:spcBef>
            </a:pPr>
            <a:r>
              <a:rPr lang="ru-RU" sz="1800" dirty="0"/>
              <a:t>наличие нейтрального элемента.</a:t>
            </a:r>
          </a:p>
          <a:p>
            <a:pPr algn="just">
              <a:spcBef>
                <a:spcPts val="600"/>
              </a:spcBef>
            </a:pPr>
            <a:r>
              <a:rPr lang="ru-RU" u="sng" dirty="0"/>
              <a:t>Квазигруппа:</a:t>
            </a:r>
          </a:p>
          <a:p>
            <a:pPr lvl="1" algn="just">
              <a:spcBef>
                <a:spcPts val="600"/>
              </a:spcBef>
            </a:pPr>
            <a:r>
              <a:rPr lang="ru-RU" sz="1800" dirty="0"/>
              <a:t>свойство квазигруппы.</a:t>
            </a:r>
            <a:endParaRPr lang="en-US" sz="1800" dirty="0"/>
          </a:p>
          <a:p>
            <a:pPr algn="just">
              <a:spcBef>
                <a:spcPts val="600"/>
              </a:spcBef>
            </a:pPr>
            <a:r>
              <a:rPr lang="ru-RU" u="sng" dirty="0"/>
              <a:t>Группа:</a:t>
            </a:r>
          </a:p>
          <a:p>
            <a:pPr lvl="1" algn="just">
              <a:spcBef>
                <a:spcPts val="600"/>
              </a:spcBef>
            </a:pPr>
            <a:r>
              <a:rPr lang="ru-RU" sz="1800" dirty="0"/>
              <a:t>полугруппа;</a:t>
            </a:r>
          </a:p>
          <a:p>
            <a:pPr lvl="1" algn="just">
              <a:spcBef>
                <a:spcPts val="600"/>
              </a:spcBef>
            </a:pPr>
            <a:r>
              <a:rPr lang="ru-RU" sz="1800" dirty="0"/>
              <a:t>квазигруппа.</a:t>
            </a:r>
          </a:p>
          <a:p>
            <a:pPr marL="114300" indent="0">
              <a:spcBef>
                <a:spcPts val="600"/>
              </a:spcBef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277E24-0819-469B-A458-FE51E67C76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7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04661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2458C07-A7E8-4B64-B2FE-C1AFFAB63A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Группы и подгруппы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90996C88-9E4D-4F2C-9968-893DC9964F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9199C9-93F0-4E2A-BC11-B74B3036C9C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88720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154BF-5DF2-418B-B62B-3B7F67973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Группы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EB3250B-33CB-48CF-8797-6682AE262F5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Алгебраическая структура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/>
                          </a:rPr>
                          <m:t>∙</m:t>
                        </m:r>
                      </m:e>
                    </m:d>
                  </m:oMath>
                </a14:m>
                <a:r>
                  <a:rPr lang="ru-RU" dirty="0"/>
                  <a:t> является </a:t>
                </a:r>
                <a:r>
                  <a:rPr lang="ru-RU" u="sng" dirty="0"/>
                  <a:t>группой</a:t>
                </a:r>
                <a:r>
                  <a:rPr lang="ru-RU" dirty="0"/>
                  <a:t>, если она обладает следующими свойствами: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800" dirty="0"/>
                  <a:t>ассоциативность;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800" dirty="0"/>
                  <a:t>существование нейтрального элемента, называемого единицей группы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ru-RU" sz="1800" dirty="0"/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800" dirty="0"/>
                  <a:t>обратимость всех элементов.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Если групповая операция </a:t>
                </a:r>
                <a:r>
                  <a:rPr lang="ru-RU" i="1" dirty="0"/>
                  <a:t>коммутативна</a:t>
                </a:r>
                <a:r>
                  <a:rPr lang="ru-RU" dirty="0"/>
                  <a:t>, группа называется </a:t>
                </a:r>
                <a:r>
                  <a:rPr lang="ru-RU" u="sng" dirty="0"/>
                  <a:t>абелевой</a:t>
                </a:r>
                <a:r>
                  <a:rPr lang="ru-RU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Формы записи группы: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ru-RU" sz="1800" dirty="0"/>
                  <a:t>мультипликативная: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𝐺</m:t>
                        </m:r>
                        <m:r>
                          <a:rPr lang="en-US" sz="1800" i="1">
                            <a:latin typeface="Cambria Math"/>
                          </a:rPr>
                          <m:t>; ∙</m:t>
                        </m:r>
                      </m:e>
                    </m:d>
                    <m:r>
                      <a:rPr lang="en-US" sz="1800" i="1">
                        <a:latin typeface="Cambria Math"/>
                        <a:ea typeface="Cambria Math"/>
                      </a:rPr>
                      <m:t>,  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⋅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ru-RU" sz="1800" dirty="0"/>
                  <a:t>аддитивная: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𝐺</m:t>
                        </m:r>
                        <m:r>
                          <a:rPr lang="en-US" sz="1800" i="1">
                            <a:latin typeface="Cambria Math"/>
                          </a:rPr>
                          <m:t>; +</m:t>
                        </m:r>
                      </m:e>
                    </m:d>
                    <m:r>
                      <a:rPr lang="en-US" sz="1800" i="1">
                        <a:latin typeface="Cambria Math"/>
                        <a:ea typeface="Cambria Math"/>
                      </a:rPr>
                      <m:t>,  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+(−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)=0</m:t>
                    </m:r>
                  </m:oMath>
                </a14:m>
                <a:r>
                  <a:rPr lang="en-US" sz="1800" dirty="0"/>
                  <a:t>.</a:t>
                </a:r>
                <a:endParaRPr lang="ru-RU" sz="1800" dirty="0"/>
              </a:p>
              <a:p>
                <a:pPr marL="114300" indent="0" algn="just">
                  <a:spcBef>
                    <a:spcPts val="600"/>
                  </a:spcBef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EB3250B-33CB-48CF-8797-6682AE262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F99229-7AFE-42A2-9993-44140C702E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9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337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02B09-E469-434C-9617-DDE402F36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Подгруппы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375A0E0F-3555-46F9-B76E-98765A0AA9B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Подмножество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dirty="0"/>
                  <a:t> группы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называется подгруппой</a:t>
                </a:r>
                <a:r>
                  <a:rPr lang="en-US" dirty="0"/>
                  <a:t> </a:t>
                </a:r>
                <a:r>
                  <a:rPr lang="ru-RU" dirty="0"/>
                  <a:t>группы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dirty="0"/>
                  <a:t> само является группой относительно той же операции, что 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Обозначение: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или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b="1" dirty="0"/>
                  <a:t>Критерий подгруппы</a:t>
                </a:r>
                <a:r>
                  <a:rPr lang="ru-RU" dirty="0"/>
                  <a:t>:</a:t>
                </a:r>
              </a:p>
              <a:p>
                <a:pPr marL="450850" indent="0" algn="just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тогда и только тогда, когда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𝑦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𝐻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Примеры</a:t>
                </a:r>
                <a:r>
                  <a:rPr lang="ru-RU" b="1" dirty="0"/>
                  <a:t>: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;+</m:t>
                        </m:r>
                      </m:e>
                    </m:d>
                  </m:oMath>
                </a14:m>
                <a:r>
                  <a:rPr lang="ru-RU" sz="1600" b="1" dirty="0"/>
                  <a:t> </a:t>
                </a:r>
                <a:r>
                  <a:rPr lang="ru-RU" sz="1600" dirty="0"/>
                  <a:t>— группа.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—</a:t>
                </a:r>
                <a:r>
                  <a:rPr lang="en-US" sz="1600" dirty="0"/>
                  <a:t> </a:t>
                </a:r>
                <a:r>
                  <a:rPr lang="ru-RU" sz="1600" dirty="0"/>
                  <a:t>множество четных целых чисел, является подмножеством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dirty="0"/>
                  <a:t>,</a:t>
                </a:r>
                <a:br>
                  <a:rPr lang="ru-RU" sz="1600" dirty="0"/>
                </a:br>
                <a:r>
                  <a:rPr lang="ru-RU" sz="1600" dirty="0"/>
                  <a:t>является подгруппой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;+</m:t>
                        </m:r>
                      </m:e>
                    </m:d>
                  </m:oMath>
                </a14:m>
                <a:r>
                  <a:rPr lang="ru-RU" sz="1600" dirty="0"/>
                  <a:t>.</a:t>
                </a:r>
                <a:endParaRPr lang="en-US" sz="16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— множество нечетных целых чисел, является подмножеством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dirty="0"/>
                  <a:t>,</a:t>
                </a:r>
                <a:r>
                  <a:rPr lang="ru-RU" sz="1600" b="1" dirty="0"/>
                  <a:t/>
                </a:r>
                <a:br>
                  <a:rPr lang="ru-RU" sz="1600" b="1" dirty="0"/>
                </a:br>
                <a:r>
                  <a:rPr lang="ru-RU" sz="1600" b="1" dirty="0">
                    <a:solidFill>
                      <a:srgbClr val="FF0000"/>
                    </a:solidFill>
                  </a:rPr>
                  <a:t>не является подгруппой</a:t>
                </a:r>
                <a:r>
                  <a:rPr lang="ru-RU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;+</m:t>
                        </m:r>
                      </m:e>
                    </m:d>
                  </m:oMath>
                </a14:m>
                <a:r>
                  <a:rPr lang="ru-RU" sz="1600" dirty="0"/>
                  <a:t>.</a:t>
                </a:r>
              </a:p>
              <a:p>
                <a:pPr lvl="1" algn="just">
                  <a:spcBef>
                    <a:spcPts val="600"/>
                  </a:spcBef>
                </a:pPr>
                <a:endParaRPr lang="ru-RU" sz="1800" dirty="0"/>
              </a:p>
              <a:p>
                <a:pPr>
                  <a:spcBef>
                    <a:spcPts val="600"/>
                  </a:spcBef>
                </a:pPr>
                <a:endParaRPr lang="ru-RU" sz="16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375A0E0F-3555-46F9-B76E-98765A0AA9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 b="-26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0C2719-1CF1-4232-A4EE-15A2DDEC6C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10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5925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6FCDD-CB16-4C96-B9D5-1DA4FE674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Целочисленные степени элементов группы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814817A-5CFD-4B82-AEDB-291348BAC53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— некоторая группа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. Для любого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ru-RU" dirty="0"/>
                  <a:t>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limLow>
                              <m:limLow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groupChr>
                                  <m:groupChrPr>
                                    <m:chr m:val="⏟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…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groupChr>
                              </m:e>
                              <m:li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lim>
                            </m:limLow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              </m:t>
                            </m:r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limLow>
                              <m:limLow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groupChr>
                                  <m:groupChrPr>
                                    <m:chr m:val="⏟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sSup>
                                      <m:sSupPr>
                                        <m:ctrlPr>
                                          <a:rPr lang="en-U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sSup>
                                      <m:sSup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p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…</m:t>
                                    </m:r>
                                    <m:sSup>
                                      <m:sSup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p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e>
                                </m:groupCh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</m:e>
                              <m:li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lim>
                            </m:limLow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                           </m:t>
                            </m:r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sz="1600" dirty="0"/>
              </a:p>
              <a:p>
                <a:pPr algn="just">
                  <a:spcBef>
                    <a:spcPts val="300"/>
                  </a:spcBef>
                </a:pPr>
                <a:r>
                  <a:rPr lang="ru-RU" dirty="0"/>
                  <a:t>Свойства целочисленных степеней:</a:t>
                </a: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ru-RU" sz="1600" i="1"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/>
                      </a:rPr>
                      <m:t>𝑚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ru-R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ru-RU" sz="16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𝑔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𝑚</m:t>
                        </m:r>
                      </m:sup>
                    </m:sSup>
                    <m:r>
                      <a:rPr lang="ru-R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/>
                          </a:rPr>
                          <m:t>𝑔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/>
                          </a:rPr>
                          <m:t>𝑛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/>
                          </a:rPr>
                          <m:t>𝑔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𝑚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dirty="0"/>
                  <a:t>;</a:t>
                </a:r>
              </a:p>
              <a:p>
                <a:pPr lvl="1"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ru-RU" sz="1600" i="1"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/>
                      </a:rPr>
                      <m:t>𝑚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  <m:r>
                      <a:rPr lang="en-US" sz="16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ru-R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16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𝑚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𝑛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/>
                          </a:rPr>
                          <m:t>𝑔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/>
                          </a:rPr>
                          <m:t>𝑚𝑛</m:t>
                        </m:r>
                      </m:sup>
                    </m:sSup>
                    <m:r>
                      <a:rPr lang="ru-RU" sz="1600" b="0" i="0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</m:oMath>
                </a14:m>
                <a:endParaRPr lang="ru-RU" sz="1600" b="0" dirty="0">
                  <a:ea typeface="Cambria Math"/>
                </a:endParaRPr>
              </a:p>
              <a:p>
                <a:pPr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…,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</m:oMath>
                </a14:m>
                <a:endParaRPr lang="ru-RU" b="0" i="0" dirty="0">
                  <a:latin typeface="Cambria Math" panose="02040503050406030204" pitchFamily="18" charset="0"/>
                  <a:ea typeface="Cambria Math"/>
                </a:endParaRPr>
              </a:p>
              <a:p>
                <a:pPr algn="just">
                  <a:spcBef>
                    <a:spcPts val="300"/>
                  </a:spcBef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—</a:t>
                </a:r>
                <a:r>
                  <a:rPr lang="en-US" dirty="0"/>
                  <a:t> </a:t>
                </a:r>
                <a:r>
                  <a:rPr lang="ru-RU" dirty="0"/>
                  <a:t>подгруппа, порожденная элементом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. 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ru-RU" dirty="0"/>
                  <a:t>Элемент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— образующий подгруппы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ru-RU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814817A-5CFD-4B82-AEDB-291348BAC5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18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85B81C-67EC-47F7-BC46-F97F62A82F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11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28090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ACC47-476D-4345-8288-B1C5BA49E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Циклические группы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247EE71-DC5E-441D-98ED-261CAC09665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300"/>
                  </a:spcBef>
                </a:pPr>
                <a:r>
                  <a:rPr lang="ru-RU" dirty="0"/>
                  <a:t>Группа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называется </a:t>
                </a:r>
                <a:r>
                  <a:rPr lang="ru-RU" u="sng" dirty="0"/>
                  <a:t>циклической группой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для некоторого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, который называется образующим циклической группы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ru-RU" dirty="0"/>
                  <a:t>Виды циклических групп:</a:t>
                </a:r>
              </a:p>
              <a:p>
                <a:pPr lvl="1" algn="just">
                  <a:spcBef>
                    <a:spcPts val="300"/>
                  </a:spcBef>
                  <a:tabLst>
                    <a:tab pos="2244725" algn="l"/>
                  </a:tabLst>
                </a:pPr>
                <a:r>
                  <a:rPr lang="ru-RU" sz="1600" u="sng" dirty="0"/>
                  <a:t>бесконечные</a:t>
                </a:r>
                <a:r>
                  <a:rPr lang="ru-RU" sz="1600" dirty="0"/>
                  <a:t>:	все целочисленные степени образующего элемента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sz="1600" dirty="0"/>
                  <a:t> в циклической группе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ru-RU" sz="1600" dirty="0"/>
                  <a:t> различны;</a:t>
                </a:r>
              </a:p>
              <a:p>
                <a:pPr lvl="1" algn="just">
                  <a:spcBef>
                    <a:spcPts val="300"/>
                  </a:spcBef>
                  <a:tabLst>
                    <a:tab pos="2244725" algn="l"/>
                  </a:tabLst>
                </a:pPr>
                <a:r>
                  <a:rPr lang="ru-RU" sz="1600" u="sng" dirty="0"/>
                  <a:t>конечные</a:t>
                </a:r>
                <a:r>
                  <a:rPr lang="ru-RU" sz="1600" dirty="0"/>
                  <a:t>: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dirty="0"/>
                  <a:t> для некоторых целых чисел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ru-RU" i="1" dirty="0">
                    <a:solidFill>
                      <a:srgbClr val="0070C0"/>
                    </a:solidFill>
                  </a:rPr>
                  <a:t>Конечные циклические группы имеют криптографическое приложение</a:t>
                </a:r>
                <a:r>
                  <a:rPr lang="ru-RU" i="1" dirty="0"/>
                  <a:t>.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ru-RU" dirty="0"/>
                  <a:t>Порядком элемента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называется наименьшее натуральное число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такое,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>
                  <a:spcBef>
                    <a:spcPts val="300"/>
                  </a:spcBef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, то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ru-RU" dirty="0"/>
                  <a:t> — конечная циклическая группа порядка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,</a:t>
                </a:r>
                <a:br>
                  <a:rPr lang="ru-RU" dirty="0"/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247EE71-DC5E-441D-98ED-261CAC0966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39B40D-70D9-47D1-991F-11999661B6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12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08516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C1A75E-B243-4693-A4B1-782A165FC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конечных циклических групп и подгрупп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EBC5AD5-F4BA-4FD5-AF87-7C3FF9184B1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Пусть 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1800" dirty="0"/>
                  <a:t> — некоторая конечная группа и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800" dirty="0"/>
                  <a:t>, </a:t>
                </a:r>
                <a:r>
                  <a:rPr lang="ru-RU" sz="1800" dirty="0"/>
                  <a:t>тогда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1800" dirty="0"/>
                  <a:t> — конечная циклическая подгруппа, порожденная элементом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algn="just"/>
                <a:r>
                  <a:rPr lang="ru-RU" sz="1800" b="1" dirty="0"/>
                  <a:t>Теорема Лагранжа</a:t>
                </a:r>
                <a:r>
                  <a:rPr lang="ru-RU" sz="1800" dirty="0"/>
                  <a:t>. Пусть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1800" dirty="0"/>
                  <a:t> — конечная группа и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800" dirty="0"/>
                  <a:t>. </a:t>
                </a:r>
                <a:br>
                  <a:rPr lang="ru-RU" sz="1800" dirty="0"/>
                </a:br>
                <a:r>
                  <a:rPr lang="ru-RU" sz="1800" dirty="0"/>
                  <a:t>Если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1800" dirty="0"/>
                  <a:t> и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1800" dirty="0"/>
                  <a:t>, то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𝑘𝑠</m:t>
                    </m:r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для некоторого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ru-RU" sz="1800" dirty="0"/>
                  <a:t>.</a:t>
                </a:r>
              </a:p>
              <a:p>
                <a:pPr algn="just"/>
                <a:r>
                  <a:rPr lang="ru-RU" sz="1800" b="1" dirty="0"/>
                  <a:t>Следствие из теоремы Лагранжа</a:t>
                </a:r>
                <a:r>
                  <a:rPr lang="ru-RU" sz="1800" dirty="0"/>
                  <a:t>. Если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1800" dirty="0"/>
                  <a:t> — конечная группа и </a:t>
                </a:r>
                <a:br>
                  <a:rPr lang="ru-RU" sz="1800" dirty="0"/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800" dirty="0"/>
                  <a:t>, 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.</a:t>
                </a:r>
                <a:endParaRPr lang="ru-RU" sz="1800" dirty="0"/>
              </a:p>
              <a:p>
                <a:pPr algn="just"/>
                <a:r>
                  <a:rPr lang="ru-RU" sz="1800" b="1" dirty="0"/>
                  <a:t>Обратная теорема</a:t>
                </a:r>
                <a:r>
                  <a:rPr lang="ru-RU" sz="1800" dirty="0"/>
                  <a:t>. Пусть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1800" dirty="0"/>
                  <a:t> — конечная группа и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800" dirty="0"/>
                  <a:t>. Если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есть делитель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800" dirty="0"/>
                  <a:t>, то существует и единственная подгруппа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sz="1800" dirty="0"/>
                  <a:t> группы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1800" dirty="0"/>
                  <a:t> такая, что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sz="1800" dirty="0"/>
                  <a:t>.</a:t>
                </a:r>
                <a:endParaRPr lang="en-US" sz="1800" dirty="0"/>
              </a:p>
              <a:p>
                <a:pPr algn="just"/>
                <a:r>
                  <a:rPr lang="ru-RU" sz="1800" dirty="0"/>
                  <a:t>Пусть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1800" dirty="0"/>
                  <a:t> — конечная группа и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800" dirty="0"/>
                  <a:t>. Элемент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800" dirty="0"/>
                  <a:t>является образующим группы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1800" dirty="0"/>
                  <a:t> тогда и только тогда, когда выполняется условие </a:t>
                </a:r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НОД</m:t>
                    </m:r>
                    <m:d>
                      <m:dPr>
                        <m:ctrlPr>
                          <a:rPr lang="ru-RU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1800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EBC5AD5-F4BA-4FD5-AF87-7C3FF9184B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 b="-3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0BFEDC-511E-41E9-A976-4205BA34D2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05656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E3D6B32-41A1-415E-8BE7-B6D8302607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Группы подстановок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279C9404-172F-4DBB-B3A5-5F2812F200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26CBD0-B548-4A12-8A86-DA6CD34AF21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14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57685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82948-05EE-4FAF-8B8F-510ADA5D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Подстановки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BC46DD8-C58F-4ACF-8243-C021AAB01ED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1, 2, …, 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ru-RU" sz="1600" dirty="0"/>
                  <a:t> — отрезок натурального ряда чисел. </a:t>
                </a:r>
                <a:r>
                  <a:rPr lang="ru-RU" sz="1600" u="sng" dirty="0"/>
                  <a:t>Подстановкой</a:t>
                </a:r>
                <a:r>
                  <a:rPr lang="ru-RU" sz="1600" dirty="0"/>
                  <a:t> на множестве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/>
                  <a:t> называется произвольная биекция 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600" b="1" dirty="0"/>
                  <a:t>Пример</a:t>
                </a:r>
                <a:r>
                  <a:rPr lang="ru-RU" sz="1600" dirty="0"/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ru-RU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ℕ</m:t>
                            </m:r>
                          </m:e>
                          <m:sub>
                            <m:r>
                              <a:rPr lang="ru-RU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ru-RU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Операция композиции подстановок:</a:t>
                </a:r>
              </a:p>
              <a:p>
                <a:pPr lvl="1"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ru-RU" sz="1600" dirty="0"/>
                  <a:t>Ассоциативность;</a:t>
                </a:r>
              </a:p>
              <a:p>
                <a:pPr lvl="1"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ru-RU" sz="1600" dirty="0"/>
                  <a:t>Существование нейтрального элемента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ru-R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ru-RU" sz="1600" dirty="0"/>
                  <a:t>;</a:t>
                </a:r>
              </a:p>
              <a:p>
                <a:pPr lvl="1"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ru-RU" sz="1600" dirty="0"/>
                  <a:t>Обратимость :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ru-R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sz="1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ru-RU" sz="1600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dirty="0"/>
                  <a:t>.</a:t>
                </a:r>
                <a:endParaRPr lang="ru-RU" sz="16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BC46DD8-C58F-4ACF-8243-C021AAB01E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3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0E1879-2D3F-440F-8E89-ABADEC567E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15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022218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45A71-1F48-4D62-BE6E-D3D69AA54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Группы подстановок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DC032F2-DCAB-4F23-B9E8-DEA71C86657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 — множество подстановок 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образует симметрическую группу </a:t>
                </a:r>
                <a:r>
                  <a:rPr lang="en-US" i="1" dirty="0"/>
                  <a:t>k</a:t>
                </a:r>
                <a:r>
                  <a:rPr lang="ru-RU" dirty="0"/>
                  <a:t>-ой степени относительно операции умножения (композиции) подстановок.</a:t>
                </a:r>
              </a:p>
              <a:p>
                <a:pPr algn="just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ru-RU" dirty="0"/>
              </a:p>
              <a:p>
                <a:pPr algn="just"/>
                <a:r>
                  <a:rPr lang="ru-RU" dirty="0"/>
                  <a:t>Подстановки могут описываться с помощью циклов: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l-G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ru-RU" sz="1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b="0" i="1" smtClean="0">
                            <a:latin typeface="Cambria Math" panose="02040503050406030204" pitchFamily="18" charset="0"/>
                          </a:rPr>
                          <m:t>1 4 5 3 2</m:t>
                        </m:r>
                      </m:e>
                    </m:d>
                  </m:oMath>
                </a14:m>
                <a:r>
                  <a:rPr lang="ru-RU" sz="1800" dirty="0"/>
                  <a:t>;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l-G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ru-RU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ru-RU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b="0" i="1" smtClean="0">
                            <a:latin typeface="Cambria Math" panose="02040503050406030204" pitchFamily="18" charset="0"/>
                          </a:rPr>
                          <m:t>2 3</m:t>
                        </m:r>
                      </m:e>
                    </m:d>
                    <m:d>
                      <m:dPr>
                        <m:ctrlPr>
                          <a:rPr lang="ru-RU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b="0" i="1" smtClean="0">
                            <a:latin typeface="Cambria Math" panose="02040503050406030204" pitchFamily="18" charset="0"/>
                          </a:rPr>
                          <m:t>4 5</m:t>
                        </m:r>
                      </m:e>
                    </m:d>
                  </m:oMath>
                </a14:m>
                <a:r>
                  <a:rPr lang="ru-RU" sz="1800" dirty="0"/>
                  <a:t>.</a:t>
                </a:r>
              </a:p>
              <a:p>
                <a:pPr algn="just"/>
                <a:r>
                  <a:rPr lang="ru-RU" dirty="0"/>
                  <a:t>Если подстановка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ru-RU" dirty="0"/>
                  <a:t> представляет собой цикл длины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то порядок данной подстановки равен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DC032F2-DCAB-4F23-B9E8-DEA71C8665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AAD5E1-2155-4198-9538-DF3BB9F13C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30299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B8A59-3F5A-405B-B1D7-909675FEA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порядка подстановки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AA7CE809-33BD-49CA-93F2-1D4625A312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ru-RU" b="1" dirty="0"/>
                  <a:t>Теорема.</a:t>
                </a:r>
                <a:r>
                  <a:rPr lang="ru-RU" dirty="0"/>
                  <a:t> Порядок подстановки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 равен наименьшему общему кратному длин независимых циклов, входящих в разложение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/>
                <a:r>
                  <a:rPr lang="ru-RU" b="1" dirty="0"/>
                  <a:t>Пример: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l-G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ru-RU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2 3</m:t>
                        </m:r>
                      </m:e>
                    </m:d>
                    <m:d>
                      <m:d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4 5</m:t>
                        </m:r>
                      </m:e>
                    </m:d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ru-RU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800" dirty="0"/>
                  <a:t>.</a:t>
                </a:r>
                <a:endParaRPr lang="ru-RU" sz="1800" dirty="0"/>
              </a:p>
              <a:p>
                <a:pPr algn="just"/>
                <a:r>
                  <a:rPr lang="ru-RU" dirty="0"/>
                  <a:t>Цикл длины 2 называется </a:t>
                </a:r>
                <a:r>
                  <a:rPr lang="ru-RU" u="sng" dirty="0"/>
                  <a:t>транспозицией</a:t>
                </a:r>
                <a:r>
                  <a:rPr lang="ru-RU" dirty="0"/>
                  <a:t>. Любая транспозиция имеет вид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 (</m:t>
                    </m:r>
                    <m:r>
                      <a:rPr lang="ru-RU" i="1" dirty="0" err="1">
                        <a:latin typeface="Cambria Math" panose="02040503050406030204" pitchFamily="18" charset="0"/>
                      </a:rPr>
                      <m:t>𝑖𝑗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dirty="0"/>
                  <a:t>и оставляет на месте все символы, отличные от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/>
                <a:r>
                  <a:rPr lang="ru-RU" dirty="0"/>
                  <a:t>Любая подстановка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является произведением транспозиций</a:t>
                </a:r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AA7CE809-33BD-49CA-93F2-1D4625A312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24B9CD-F183-48B2-8352-2ED963298D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17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78517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431B8A2-B061-4A0E-9010-6DA4E704B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Общие сведения о кольцах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C7AF5FA7-3D2B-45FF-9C2B-853B101A1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9E9583-CD45-4692-B3D7-8781F38CA70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68729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04F44-140D-4FF3-98D4-7857ED10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Кольца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1700" dirty="0"/>
                  <a:t>На множестве </a:t>
                </a:r>
                <a14:m>
                  <m:oMath xmlns:m="http://schemas.openxmlformats.org/officeDocument/2006/math"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sz="1700" dirty="0"/>
                  <a:t> задана </a:t>
                </a:r>
                <a:r>
                  <a:rPr lang="ru-RU" sz="1700" u="sng" dirty="0"/>
                  <a:t>структура кольца</a:t>
                </a:r>
                <a:r>
                  <a:rPr lang="ru-RU" sz="1700" dirty="0"/>
                  <a:t>, если на нем заданы две алгебраические операции, называемые сложением (+) и умножением (⋅), причём выполняются следующие свойства: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;+</m:t>
                        </m:r>
                      </m:e>
                    </m:d>
                  </m:oMath>
                </a14:m>
                <a:r>
                  <a:rPr lang="ru-RU" dirty="0"/>
                  <a:t> является абелевой группой;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 ∙</m:t>
                        </m:r>
                      </m:e>
                    </m:d>
                  </m:oMath>
                </a14:m>
                <a:r>
                  <a:rPr lang="ru-RU" dirty="0"/>
                  <a:t> является полугруппой;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dirty="0"/>
                  <a:t>выполняется двоякая дистрибутивность умножения относительно сложения, когда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𝑎𝑏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𝑎𝑐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𝑎𝑐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𝑏𝑐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ru-RU" dirty="0"/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Абелева группа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;+</m:t>
                        </m:r>
                      </m:e>
                    </m:d>
                  </m:oMath>
                </a14:m>
                <a:r>
                  <a:rPr lang="ru-RU" dirty="0"/>
                  <a:t> называется </a:t>
                </a:r>
                <a:r>
                  <a:rPr lang="ru-RU" u="sng" dirty="0"/>
                  <a:t>аддитивной группой </a:t>
                </a:r>
                <a:r>
                  <a:rPr lang="ru-RU" dirty="0"/>
                  <a:t>кольца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Полугруппа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 ∙</m:t>
                        </m:r>
                      </m:e>
                    </m:d>
                  </m:oMath>
                </a14:m>
                <a:r>
                  <a:rPr lang="ru-RU" dirty="0"/>
                  <a:t> называется </a:t>
                </a:r>
                <a:r>
                  <a:rPr lang="ru-RU" u="sng" dirty="0"/>
                  <a:t>мультипликативной полугруппой </a:t>
                </a:r>
                <a:r>
                  <a:rPr lang="ru-RU" dirty="0"/>
                  <a:t>кольца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Нейтральный элемент аддитивной группы кольца называется </a:t>
                </a:r>
                <a:r>
                  <a:rPr lang="ru-RU" u="sng" dirty="0"/>
                  <a:t>нулем кольца </a:t>
                </a:r>
                <a:r>
                  <a:rPr lang="ru-RU" dirty="0"/>
                  <a:t>и обозначается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ru-RU" dirty="0"/>
                  <a:t> или просто 0</a:t>
                </a:r>
                <a:r>
                  <a:rPr lang="en-US" dirty="0"/>
                  <a:t>.</a:t>
                </a:r>
                <a:endParaRPr lang="ru-RU" dirty="0"/>
              </a:p>
              <a:p>
                <a:pPr>
                  <a:spcBef>
                    <a:spcPts val="600"/>
                  </a:spcBef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 b="-49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D2F1F4-5D5C-40D0-AEE6-56CA54682E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19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007431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85F3DA-B7EE-42F9-912E-6C97AD3E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колец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1927936-4676-487C-A57F-97BEDB1678F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Простейшие свойства колец: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ru-RU" sz="13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ru-RU" sz="13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∙0=0 ∀ 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300" dirty="0"/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sz="13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13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13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13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300" dirty="0"/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300" dirty="0"/>
                  <a:t>;</a:t>
                </a:r>
                <a:endParaRPr lang="ru-RU" sz="1300" dirty="0"/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3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ru-RU" sz="1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  <m:r>
                      <a:rPr lang="ru-RU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 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300" dirty="0"/>
                  <a:t>, </a:t>
                </a:r>
                <a:r>
                  <a:rPr lang="ru-RU" sz="1300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ru-RU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ru-RU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ru-RU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13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300" dirty="0"/>
                  <a:t>.</a:t>
                </a:r>
                <a:endParaRPr lang="ru-RU" sz="1300" dirty="0"/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Виды колец: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300" dirty="0"/>
                  <a:t>если в (𝐾; ∙) есть нейтральный элемент, называемый </a:t>
                </a:r>
                <a:r>
                  <a:rPr lang="ru-RU" sz="1300" u="sng" dirty="0"/>
                  <a:t>единицей кольца</a:t>
                </a:r>
                <a:r>
                  <a:rPr lang="ru-RU" sz="13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ru-RU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ru-RU" sz="1300" dirty="0"/>
                  <a:t>, то кольцо 𝐾 называется </a:t>
                </a:r>
                <a:r>
                  <a:rPr lang="ru-RU" sz="1300" u="sng" dirty="0"/>
                  <a:t>кольцом с единицей</a:t>
                </a:r>
                <a:r>
                  <a:rPr lang="ru-RU" sz="1300" dirty="0"/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300" dirty="0"/>
                  <a:t>если умножение в кольце 𝐾 коммутативно, то кольцо 𝐾 называется </a:t>
                </a:r>
                <a:r>
                  <a:rPr lang="ru-RU" sz="1300" u="sng" dirty="0"/>
                  <a:t>коммутативным кольцом</a:t>
                </a:r>
                <a:r>
                  <a:rPr lang="ru-RU" sz="13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Элемент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кольца с единицей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sz="1600" dirty="0"/>
                  <a:t> называется </a:t>
                </a:r>
                <a:r>
                  <a:rPr lang="ru-RU" sz="1600" u="sng" dirty="0"/>
                  <a:t>обратимым</a:t>
                </a:r>
                <a:r>
                  <a:rPr lang="ru-RU" sz="1600" dirty="0"/>
                  <a:t>, если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такой,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Обратимые элементы кольца с единицей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sz="1600" dirty="0"/>
                  <a:t> образуют группу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1927936-4676-487C-A57F-97BEDB167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85DA9A-4590-4EC7-92B2-5885376489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20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738831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DD7984-1CBE-4735-AD6D-D483E66F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колец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20DF2A8-E816-4859-BCFB-8761BDF218B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1700" dirty="0"/>
                  <a:t>В кольце с единицей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sz="1700" dirty="0"/>
                  <a:t> элементы вида </a:t>
                </a:r>
                <a14:m>
                  <m:oMath xmlns:m="http://schemas.openxmlformats.org/officeDocument/2006/math">
                    <m:r>
                      <a:rPr lang="ru-RU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sz="1700" dirty="0"/>
                  <a:t>, </a:t>
                </a:r>
                <a14:m>
                  <m:oMath xmlns:m="http://schemas.openxmlformats.org/officeDocument/2006/math">
                    <m:r>
                      <a:rPr lang="ru-RU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1+1=2∙1</m:t>
                    </m:r>
                  </m:oMath>
                </a14:m>
                <a:r>
                  <a:rPr lang="ru-RU" sz="1700" dirty="0"/>
                  <a:t>, …,</a:t>
                </a:r>
                <a:br>
                  <a:rPr lang="ru-RU" sz="1700" dirty="0"/>
                </a:br>
                <a14:m>
                  <m:oMath xmlns:m="http://schemas.openxmlformats.org/officeDocument/2006/math">
                    <m:limLow>
                      <m:limLowPr>
                        <m:ctrlPr>
                          <a:rPr lang="en-US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17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ru-RU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1+1+…+1</m:t>
                            </m:r>
                          </m:e>
                        </m:groupChr>
                      </m:e>
                      <m:lim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lim>
                    </m:limLow>
                    <m:r>
                      <a:rPr lang="ru-RU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ru-RU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</m:t>
                    </m:r>
                  </m:oMath>
                </a14:m>
                <a:r>
                  <a:rPr lang="en-US" sz="1700" dirty="0"/>
                  <a:t> </a:t>
                </a:r>
                <a:r>
                  <a:rPr lang="ru-RU" sz="1700" dirty="0"/>
                  <a:t>называются </a:t>
                </a:r>
                <a:r>
                  <a:rPr lang="ru-RU" sz="1700" u="sng" dirty="0"/>
                  <a:t>целыми элементами кольца</a:t>
                </a:r>
                <a:r>
                  <a:rPr lang="ru-RU" sz="1700" dirty="0"/>
                  <a:t>.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dirty="0"/>
                  <a:t>Если все целые элементы кольца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отличны от нуля, то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 называется кольцом нулевой характеристики,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char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 algn="just">
                  <a:spcBef>
                    <a:spcPts val="600"/>
                  </a:spcBef>
                </a:pPr>
                <a:r>
                  <a:rPr lang="ru-RU" dirty="0"/>
                  <a:t>Если для некоторого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выполняется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, причем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является наименьшим числом, обладающим данным свойством, то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 называется кольцом ненулевой характеристики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char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700" dirty="0"/>
                  <a:t>Пример —</a:t>
                </a:r>
                <a:r>
                  <a:rPr lang="en-US" sz="1700" dirty="0"/>
                  <a:t> </a:t>
                </a:r>
                <a:r>
                  <a:rPr lang="ru-RU" sz="1700" dirty="0"/>
                  <a:t>кольцо целых чисел </a:t>
                </a:r>
                <a14:m>
                  <m:oMath xmlns:m="http://schemas.openxmlformats.org/officeDocument/2006/math">
                    <m:r>
                      <a:rPr lang="en-US" sz="1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ru-RU" sz="1700" dirty="0"/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dirty="0"/>
                  <a:t>коммутативное кольцо с единицей;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dirty="0"/>
                  <a:t>кольцо нулевой характеристики;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dirty="0"/>
                  <a:t>группа обратимых элементов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700" i="1" dirty="0">
                    <a:solidFill>
                      <a:srgbClr val="0070C0"/>
                    </a:solidFill>
                  </a:rPr>
                  <a:t>Для криптографии наибольшей ценностью обладают конечные структуры.</a:t>
                </a:r>
                <a:endParaRPr lang="en-US" sz="1700" i="1" dirty="0">
                  <a:solidFill>
                    <a:srgbClr val="0070C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20DF2A8-E816-4859-BCFB-8761BDF21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411" b="-47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41DFDF-8201-4C80-82B6-7BC9488C7A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21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027695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01F9A2-4EC0-47CB-B764-9DBCF8704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 колец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6C9D90-D0E7-409B-ACD2-6766EC811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600"/>
              </a:spcBef>
            </a:pPr>
            <a:r>
              <a:rPr lang="ru-RU" sz="2000" dirty="0"/>
              <a:t>Кольца классов вычетов:</a:t>
            </a:r>
          </a:p>
          <a:p>
            <a:pPr lvl="1" algn="just">
              <a:spcBef>
                <a:spcPts val="600"/>
              </a:spcBef>
            </a:pPr>
            <a:r>
              <a:rPr lang="ru-RU" sz="1800" dirty="0"/>
              <a:t>строятся на основе кольца целых чисел;</a:t>
            </a:r>
          </a:p>
          <a:p>
            <a:pPr lvl="1" algn="just">
              <a:spcBef>
                <a:spcPts val="600"/>
              </a:spcBef>
            </a:pPr>
            <a:r>
              <a:rPr lang="ru-RU" sz="1800" dirty="0"/>
              <a:t>реализуют арифметику остатков.</a:t>
            </a:r>
          </a:p>
          <a:p>
            <a:pPr algn="just">
              <a:spcBef>
                <a:spcPts val="600"/>
              </a:spcBef>
            </a:pPr>
            <a:r>
              <a:rPr lang="ru-RU" sz="2000" dirty="0"/>
              <a:t>Кольца многочленов:</a:t>
            </a:r>
          </a:p>
          <a:p>
            <a:pPr lvl="1" algn="just">
              <a:spcBef>
                <a:spcPts val="600"/>
              </a:spcBef>
            </a:pPr>
            <a:r>
              <a:rPr lang="ru-RU" sz="1800" dirty="0"/>
              <a:t>являются основой для построения полей Галуа.</a:t>
            </a:r>
          </a:p>
          <a:p>
            <a:pPr marL="114300" indent="0">
              <a:spcBef>
                <a:spcPts val="600"/>
              </a:spcBef>
              <a:buNone/>
            </a:pP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3CB364-8289-4474-BB56-35E43CCDB2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22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790813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D23791C-3E28-498E-B317-B1F196AF0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Кольца </a:t>
            </a:r>
            <a:r>
              <a:rPr lang="ru-RU"/>
              <a:t>классов вычетов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33686422-D94C-45C1-AF83-991F9EEBED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4DC0D1-42CA-4E6B-95E5-53AA272F77B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725127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FD6B0D-8F8A-4D46-97B2-A3D25C31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Бинарные отношения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AF52F874-F4C8-4BBE-9149-F8AC37CEA99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1700" u="sng" dirty="0"/>
                  <a:t>Бинарным отношением</a:t>
                </a:r>
                <a:r>
                  <a:rPr lang="ru-RU" sz="1700" dirty="0"/>
                  <a:t> </a:t>
                </a:r>
                <a14:m>
                  <m:oMath xmlns:m="http://schemas.openxmlformats.org/officeDocument/2006/math">
                    <m:r>
                      <a:rPr lang="ru-RU" sz="17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ru-RU" sz="1700" dirty="0"/>
                  <a:t> между множествами </a:t>
                </a:r>
                <a14:m>
                  <m:oMath xmlns:m="http://schemas.openxmlformats.org/officeDocument/2006/math"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sz="1700" dirty="0"/>
                  <a:t> и </a:t>
                </a:r>
                <a14:m>
                  <m:oMath xmlns:m="http://schemas.openxmlformats.org/officeDocument/2006/math"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sz="1700" dirty="0"/>
                  <a:t> называется произвольное подмножество декартового произведения </a:t>
                </a:r>
                <a14:m>
                  <m:oMath xmlns:m="http://schemas.openxmlformats.org/officeDocument/2006/math"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sz="1700" dirty="0"/>
                  <a:t>, </a:t>
                </a:r>
                <a14:m>
                  <m:oMath xmlns:m="http://schemas.openxmlformats.org/officeDocument/2006/math">
                    <m:r>
                      <a:rPr lang="ru-RU" sz="1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ru-RU" sz="17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sz="1700" dirty="0"/>
                  <a:t>.</a:t>
                </a:r>
                <a:endParaRPr lang="ru-RU" sz="1700" i="1" dirty="0">
                  <a:solidFill>
                    <a:srgbClr val="0070C0"/>
                  </a:solidFill>
                </a:endParaRPr>
              </a:p>
              <a:p>
                <a:pPr algn="just">
                  <a:spcBef>
                    <a:spcPts val="600"/>
                  </a:spcBef>
                </a:pPr>
                <a:r>
                  <a:rPr lang="ru-RU" sz="1700" dirty="0"/>
                  <a:t>Если </a:t>
                </a:r>
                <a14:m>
                  <m:oMath xmlns:m="http://schemas.openxmlformats.org/officeDocument/2006/math"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700" dirty="0"/>
                  <a:t>, </a:t>
                </a:r>
                <a:r>
                  <a:rPr lang="ru-RU" sz="1700" dirty="0"/>
                  <a:t>то </a:t>
                </a:r>
                <a14:m>
                  <m:oMath xmlns:m="http://schemas.openxmlformats.org/officeDocument/2006/math">
                    <m:r>
                      <a:rPr lang="ru-RU" sz="1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ru-RU" sz="1700" dirty="0"/>
                  <a:t> есть бинарное отношение на множестве </a:t>
                </a:r>
                <a14:m>
                  <m:oMath xmlns:m="http://schemas.openxmlformats.org/officeDocument/2006/math"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sz="1700" dirty="0"/>
                  <a:t>.</a:t>
                </a:r>
                <a:endParaRPr lang="en-US" sz="1700" dirty="0"/>
              </a:p>
              <a:p>
                <a:pPr algn="just">
                  <a:spcBef>
                    <a:spcPts val="600"/>
                  </a:spcBef>
                </a:pPr>
                <a:r>
                  <a:rPr lang="ru-RU" sz="1700" dirty="0"/>
                  <a:t>Бинарное отношение </a:t>
                </a:r>
                <a14:m>
                  <m:oMath xmlns:m="http://schemas.openxmlformats.org/officeDocument/2006/math">
                    <m:r>
                      <a:rPr lang="ru-RU" sz="17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ru-RU" sz="1700" dirty="0"/>
                  <a:t> на множестве </a:t>
                </a:r>
                <a14:m>
                  <m:oMath xmlns:m="http://schemas.openxmlformats.org/officeDocument/2006/math"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sz="1700" dirty="0"/>
                  <a:t> называется </a:t>
                </a:r>
                <a:r>
                  <a:rPr lang="ru-RU" sz="1700" u="sng" dirty="0"/>
                  <a:t>отношением эквивалентности</a:t>
                </a:r>
                <a:r>
                  <a:rPr lang="ru-RU" sz="1700" dirty="0"/>
                  <a:t>, если выполняются три свойства: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dirty="0" err="1"/>
                  <a:t>рефлексивность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dirty="0"/>
                  <a:t>симметричность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; 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dirty="0"/>
                  <a:t>транзитивность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. 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700" dirty="0"/>
                  <a:t>Множество </a:t>
                </a:r>
                <a14:m>
                  <m:oMath xmlns:m="http://schemas.openxmlformats.org/officeDocument/2006/math">
                    <m:r>
                      <a:rPr lang="en-US" sz="1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700" dirty="0"/>
                  <a:t> </a:t>
                </a:r>
                <a:r>
                  <a:rPr lang="ru-RU" sz="1700" dirty="0"/>
                  <a:t>с заданным на нем отношением эквивалентности </a:t>
                </a:r>
                <a14:m>
                  <m:oMath xmlns:m="http://schemas.openxmlformats.org/officeDocument/2006/math">
                    <m:r>
                      <a:rPr lang="ru-RU" sz="1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ru-RU" sz="1700" dirty="0"/>
                  <a:t> разбивается на попарно непересекающиеся классы эквивалентности, где </a:t>
                </a:r>
                <a:r>
                  <a:rPr lang="ru-RU" sz="1700" u="sng" dirty="0"/>
                  <a:t>классом эквивалентности </a:t>
                </a:r>
                <a:r>
                  <a:rPr lang="ru-RU" sz="1700" dirty="0"/>
                  <a:t>элемента </a:t>
                </a:r>
                <a14:m>
                  <m:oMath xmlns:m="http://schemas.openxmlformats.org/officeDocument/2006/math">
                    <m:r>
                      <a:rPr lang="en-US" sz="1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700" dirty="0"/>
                  <a:t>называется множество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7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7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7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7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17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17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7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7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sz="17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ru-RU" sz="1700" dirty="0"/>
                  <a:t>.</a:t>
                </a:r>
                <a:endParaRPr lang="en-US" sz="1700" dirty="0"/>
              </a:p>
              <a:p>
                <a:pPr>
                  <a:spcBef>
                    <a:spcPts val="600"/>
                  </a:spcBef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AF52F874-F4C8-4BBE-9149-F8AC37CEA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4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12FFBD-3823-4522-BCC8-FC4FBA4F64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24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562090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3797D6-F54C-4384-900F-DB611FA20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Множества вычетов по модулю </a:t>
            </a:r>
            <a:r>
              <a:rPr lang="ru-RU" i="1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F1204E8-1ED5-4226-A945-D0CFFFBD35C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Зададим на </a:t>
                </a:r>
                <a14:m>
                  <m:oMath xmlns:m="http://schemas.openxmlformats.org/officeDocument/2006/math">
                    <m:r>
                      <a:rPr lang="ru-R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ru-RU" sz="1600" dirty="0"/>
                  <a:t> отношение эквивалентности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для некоторого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u-RU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1600" dirty="0"/>
                  <a:t>:</a:t>
                </a:r>
                <a:br>
                  <a:rPr lang="en-US" sz="1600" dirty="0"/>
                </a:b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⇔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600" dirty="0"/>
                  <a:t>, </a:t>
                </a:r>
                <a:r>
                  <a:rPr lang="ru-RU" sz="1600" dirty="0"/>
                  <a:t>то есть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и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sz="1600" dirty="0"/>
                  <a:t> имеют одинаковый остаток от деления на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ru-RU" sz="1600" dirty="0"/>
                  <a:t>Отношение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разбивает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ru-RU" sz="1600" dirty="0"/>
                  <a:t> на классы эквивалентности, называемые классами вычетов:</a:t>
                </a: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sz="16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/>
                          </a:rPr>
                          <m:t>𝑘</m:t>
                        </m:r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ℤ</m:t>
                        </m:r>
                      </m:e>
                    </m:d>
                  </m:oMath>
                </a14:m>
                <a:r>
                  <a:rPr lang="en-US" sz="1600" dirty="0"/>
                  <a:t> — </a:t>
                </a:r>
                <a:r>
                  <a:rPr lang="ru-RU" sz="1600" dirty="0"/>
                  <a:t>класс вычетов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600" dirty="0"/>
                  <a:t> по модулю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.</a:t>
                </a:r>
                <a:endParaRPr lang="ru-RU" sz="1600" dirty="0"/>
              </a:p>
              <a:p>
                <a:pPr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/>
                            <a:ea typeface="Cambria Math"/>
                          </a:rPr>
                          <m:t>ℤ</m:t>
                        </m:r>
                      </m:e>
                      <m:sub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ru-RU" sz="1600" i="1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ru-RU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sz="16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e>
                        </m:acc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, </m:t>
                        </m:r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e>
                        </m:acc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, …, </m:t>
                        </m:r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  <m:r>
                              <a:rPr lang="en-US" sz="1600" i="1"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e>
                        </m:acc>
                      </m:e>
                    </m:d>
                  </m:oMath>
                </a14:m>
                <a:r>
                  <a:rPr lang="ru-RU" sz="1600" dirty="0"/>
                  <a:t> </a:t>
                </a:r>
                <a:r>
                  <a:rPr lang="en-US" sz="1600" dirty="0"/>
                  <a:t>— </a:t>
                </a:r>
                <a:r>
                  <a:rPr lang="ru-RU" sz="1600" dirty="0"/>
                  <a:t>множество вычетов по модулю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Пример для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ru-RU" sz="16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ru-RU" sz="1600" b="0" dirty="0"/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…, −8, −4, 0, 4, 8, 12, …</m:t>
                        </m:r>
                      </m:e>
                    </m:d>
                  </m:oMath>
                </a14:m>
                <a:r>
                  <a:rPr lang="en-US" dirty="0"/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…,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dirty="0"/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…,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14,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dirty="0"/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…,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algn="just">
                  <a:spcBef>
                    <a:spcPts val="600"/>
                  </a:spcBef>
                </a:pPr>
                <a:endParaRPr lang="en-US" dirty="0"/>
              </a:p>
              <a:p>
                <a:pPr>
                  <a:spcBef>
                    <a:spcPts val="600"/>
                  </a:spcBef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F1204E8-1ED5-4226-A945-D0CFFFBD35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343" b="-19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611635-6720-404D-9360-8079ABDC92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25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047DE179-A686-408E-83AE-BDCB50850D2E}"/>
                  </a:ext>
                </a:extLst>
              </p:cNvPr>
              <p:cNvSpPr/>
              <p:nvPr/>
            </p:nvSpPr>
            <p:spPr>
              <a:xfrm>
                <a:off x="1617037" y="2065786"/>
                <a:ext cx="55812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smtClean="0">
                          <a:latin typeface="Cambria Math"/>
                          <a:ea typeface="Cambria Math"/>
                        </a:rPr>
                        <m:t>ℤ</m:t>
                      </m:r>
                      <m:r>
                        <a:rPr lang="ru-RU" sz="1800" b="0" i="1" smtClean="0"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047DE179-A686-408E-83AE-BDCB50850D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037" y="2065786"/>
                <a:ext cx="55812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E76222BE-83DF-44D1-848C-21E968251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164" y="2031268"/>
            <a:ext cx="2909454" cy="444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5994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EC6FB9-D4C3-49EC-A6EE-B21F5738C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Кольца классов вычетов по модулю </a:t>
            </a:r>
            <a:r>
              <a:rPr lang="ru-RU" i="1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1668F68-63DD-4690-ABFB-F9C4D402736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Зададим 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две алгебраические операции: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>
                    <a:ea typeface="Cambria Math" panose="02040503050406030204" pitchFamily="18" charset="0"/>
                  </a:rPr>
                  <a:t>сложение: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ru-RU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/>
                  <a:t>;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dirty="0">
                    <a:ea typeface="Cambria Math" panose="02040503050406030204" pitchFamily="18" charset="0"/>
                  </a:rPr>
                  <a:t>умножение: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∀ 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>
                    <a:ea typeface="Cambria Math" panose="02040503050406030204" pitchFamily="18" charset="0"/>
                  </a:rPr>
                  <a:t>Структура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 +; ∙</m:t>
                        </m:r>
                      </m:e>
                    </m:d>
                  </m:oMath>
                </a14:m>
                <a:r>
                  <a:rPr lang="ru-RU" sz="1600" dirty="0"/>
                  <a:t> является коммутативным кольцом с единицей, называемым </a:t>
                </a:r>
                <a:r>
                  <a:rPr lang="ru-RU" sz="1600" u="sng" dirty="0"/>
                  <a:t>кольцом классов вычетов по модулю </a:t>
                </a:r>
                <a14:m>
                  <m:oMath xmlns:m="http://schemas.openxmlformats.org/officeDocument/2006/math">
                    <m:r>
                      <a:rPr lang="en-US" sz="16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.</a:t>
                </a:r>
                <a:endParaRPr lang="ru-RU" sz="1600" dirty="0"/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ru-RU" sz="1600" dirty="0"/>
                  <a:t> — нуль кольца;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— единица кольца.</a:t>
                </a:r>
                <a:endParaRPr lang="en-US" sz="1600" dirty="0"/>
              </a:p>
              <a:p>
                <a:pPr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1600" dirty="0"/>
                  <a:t> — группа обратимых элементов кольца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600" b="1" dirty="0"/>
                  <a:t>Теорема.</a:t>
                </a:r>
                <a:r>
                  <a:rPr lang="ru-RU" sz="1600" dirty="0"/>
                  <a:t> Ненулевой элемент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dirty="0"/>
                  <a:t>является обратимым тогда и только тогда, когда </a:t>
                </a:r>
                <a14:m>
                  <m:oMath xmlns:m="http://schemas.openxmlformats.org/officeDocument/2006/math"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НОД</m:t>
                    </m:r>
                    <m:d>
                      <m:dPr>
                        <m:ctrlP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1600" dirty="0"/>
                  <a:t>.</a:t>
                </a:r>
                <a:endParaRPr lang="en-US" sz="1600" dirty="0"/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Пример для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acc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e>
                        </m:acc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ru-RU" sz="16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1668F68-63DD-4690-ABFB-F9C4D40273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3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1DAEE7-2356-4B4D-ABC9-646A2DE779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078229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1364ECC-7636-4776-AEEF-18460D9062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Кольца многочленов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4542706D-FAE5-48DC-A090-6A14092755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B302BD-C5C0-4B29-9CB1-F8D557A2961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27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3699908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8C0AA-FCAC-4692-9E1A-1140D91D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Многочлены над кольцом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4605B9F-E0F3-439A-8A29-D8016B624D8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;+;∙</m:t>
                        </m:r>
                      </m:e>
                    </m:d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коммутативное кольцо с единицей.</a:t>
                </a:r>
                <a:endParaRPr lang="en-US" dirty="0"/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Любая конечная последовательность элементов кольца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 вида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называется многочленом над кольцом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 algn="just">
                  <a:spcBef>
                    <a:spcPts val="1200"/>
                  </a:spcBef>
                </a:pPr>
                <a:r>
                  <a:rPr lang="ru-RU" sz="1600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dirty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ru-RU" sz="160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1600" dirty="0"/>
                  <a:t>, то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является многочленом степени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,</a:t>
                </a:r>
                <a:r>
                  <a:rPr lang="ru-RU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deg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, </a:t>
                </a:r>
                <a:r>
                  <a:rPr lang="ru-RU" sz="1600" dirty="0"/>
                  <a:t>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600" dirty="0"/>
                  <a:t> называется старшим коэффициентом многочлена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600" dirty="0"/>
                  <a:t>;</a:t>
                </a:r>
              </a:p>
              <a:p>
                <a:pPr lvl="1" algn="just">
                  <a:spcBef>
                    <a:spcPts val="1200"/>
                  </a:spcBef>
                </a:pPr>
                <a:r>
                  <a:rPr lang="ru-RU" sz="1600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1600" b="0" i="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1600" dirty="0"/>
                  <a:t>, то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называет нормированным многочленом;</a:t>
                </a:r>
              </a:p>
              <a:p>
                <a:pPr lvl="1" algn="just">
                  <a:spcBef>
                    <a:spcPts val="1200"/>
                  </a:spcBef>
                </a:pPr>
                <a:r>
                  <a:rPr lang="ru-RU" sz="1600" dirty="0"/>
                  <a:t>многочлен вида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/>
                  <a:t> называется константой.</a:t>
                </a:r>
              </a:p>
              <a:p>
                <a:pPr>
                  <a:spcBef>
                    <a:spcPts val="600"/>
                  </a:spcBef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4605B9F-E0F3-439A-8A29-D8016B624D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274DB4-C3B9-4186-AC3A-AE4BE3B411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4989022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8C0AA-FCAC-4692-9E1A-1140D91D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многочленами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4605B9F-E0F3-439A-8A29-D8016B624D8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b="0" dirty="0">
                    <a:ea typeface="Cambria Math" panose="02040503050406030204" pitchFamily="18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,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b="1" dirty="0"/>
                  <a:t>Сложение:</a:t>
                </a:r>
                <a:r>
                  <a:rPr lang="ru-RU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.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b="1" dirty="0"/>
                  <a:t>Умножение:</a:t>
                </a:r>
                <a:r>
                  <a:rPr lang="ru-RU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</a:t>
                </a:r>
                <a:r>
                  <a:rPr lang="ru-RU" dirty="0"/>
                  <a:t>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bar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algn="just">
                  <a:spcBef>
                    <a:spcPts val="600"/>
                  </a:spcBef>
                </a:pPr>
                <a:r>
                  <a:rPr lang="ru-RU" sz="1700" dirty="0"/>
                  <a:t>Введем многочлен первой степени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ru-RU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ru-RU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ru-RU" sz="1700" dirty="0"/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0,0,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…,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0,…,0,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=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…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=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dirty="0"/>
                  <a:t>…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.</a:t>
                </a:r>
                <a:endParaRPr lang="en-US" dirty="0"/>
              </a:p>
              <a:p>
                <a:pPr algn="just">
                  <a:spcBef>
                    <a:spcPts val="600"/>
                  </a:spcBef>
                </a:pPr>
                <a:r>
                  <a:rPr lang="ru-RU" sz="1700" dirty="0"/>
                  <a:t>Множество всевозможных многочленов над кольцом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sz="1700" dirty="0"/>
                  <a:t> с заданными на нем операциями сложения и умножения многочленов является коммутативным кольцом с единицей и обозначается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700" b="0" dirty="0">
                  <a:ea typeface="Cambria Math" panose="02040503050406030204" pitchFamily="18" charset="0"/>
                </a:endParaRPr>
              </a:p>
              <a:p>
                <a:pPr algn="just">
                  <a:spcBef>
                    <a:spcPts val="600"/>
                  </a:spcBef>
                </a:pPr>
                <a:r>
                  <a:rPr lang="ru-RU" sz="1700" dirty="0"/>
                  <a:t>Пример: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dirty="0">
                    <a:ea typeface="Cambria Math" panose="02040503050406030204" pitchFamily="18" charset="0"/>
                  </a:rPr>
                  <a:t>Кольцо многочленов над кольцом целых чисел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4605B9F-E0F3-439A-8A29-D8016B624D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4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274DB4-C3B9-4186-AC3A-AE4BE3B411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29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098079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D9670-BC76-482F-8485-C931EA7D0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многочленов над кольцом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0F28F05-10CD-4901-8EA1-392881A83D4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ru-RU" sz="1800" u="sng" dirty="0"/>
                  <a:t>Собственным делителем многочлена</a:t>
                </a:r>
                <a:r>
                  <a:rPr lang="ru-RU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называется многочлен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800" dirty="0"/>
                  <a:t>, </a:t>
                </a:r>
                <a:r>
                  <a:rPr lang="ru-RU" sz="1800" dirty="0"/>
                  <a:t>такой, что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deg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deg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и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800" dirty="0"/>
                  <a:t>.</a:t>
                </a:r>
              </a:p>
              <a:p>
                <a:pPr algn="just"/>
                <a:r>
                  <a:rPr lang="ru-RU" sz="1800" dirty="0"/>
                  <a:t>Многочлен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называется </a:t>
                </a:r>
                <a:r>
                  <a:rPr lang="ru-RU" sz="1800" u="sng" dirty="0"/>
                  <a:t>неприводимым многочленом</a:t>
                </a:r>
                <a:r>
                  <a:rPr lang="ru-RU" sz="1800" dirty="0"/>
                  <a:t>, если</a:t>
                </a:r>
                <a:r>
                  <a:rPr lang="en-US" sz="1800" dirty="0"/>
                  <a:t> </a:t>
                </a:r>
                <a:r>
                  <a:rPr lang="ru-RU" sz="1800" dirty="0"/>
                  <a:t>он не имеет собственных делителей 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deg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800" dirty="0"/>
                  <a:t>.</a:t>
                </a:r>
                <a:endParaRPr lang="ru-RU" sz="1800" dirty="0"/>
              </a:p>
              <a:p>
                <a:pPr algn="just"/>
                <a:r>
                  <a:rPr lang="ru-RU" sz="1800" i="1" dirty="0">
                    <a:solidFill>
                      <a:srgbClr val="0070C0"/>
                    </a:solidFill>
                  </a:rPr>
                  <a:t>На основе бесконечного кольца многочленов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ru-RU" sz="1800" i="1" dirty="0">
                    <a:solidFill>
                      <a:srgbClr val="0070C0"/>
                    </a:solidFill>
                  </a:rPr>
                  <a:t> может быть построено </a:t>
                </a:r>
                <a:r>
                  <a:rPr lang="ru-RU" sz="1800" b="1" i="1" dirty="0">
                    <a:solidFill>
                      <a:srgbClr val="0070C0"/>
                    </a:solidFill>
                  </a:rPr>
                  <a:t>конечное кольцо многочленных вычетов </a:t>
                </a:r>
                <a:r>
                  <a:rPr lang="ru-RU" sz="1800" i="1" dirty="0">
                    <a:solidFill>
                      <a:srgbClr val="0070C0"/>
                    </a:solidFill>
                  </a:rPr>
                  <a:t>аналогично тому, как строится кольцо классов вычетов на основе кольца целых чисел.</a:t>
                </a:r>
                <a:endParaRPr lang="en-US" sz="1800" i="1" dirty="0"/>
              </a:p>
              <a:p>
                <a:pPr marL="11430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0F28F05-10CD-4901-8EA1-392881A83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EE90C8-6F56-47AE-8CA6-C86C832A88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30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4361611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11DAC82-C99B-492D-99CF-58CA80A66F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Конечные поля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80EF6262-630B-41C6-ACB9-B8B6C71CE1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6C8FB4-F6E7-49E4-A96A-750DAB52BB3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31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482419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8C0AA-FCAC-4692-9E1A-1140D91D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4605B9F-E0F3-439A-8A29-D8016B624D8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ru-RU" dirty="0"/>
                  <a:t>Кольцо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, в котором все ненулевые элементы образуют </a:t>
                </a:r>
                <a:r>
                  <a:rPr lang="ru-RU" dirty="0" err="1"/>
                  <a:t>абелеву</a:t>
                </a:r>
                <a:r>
                  <a:rPr lang="ru-RU" dirty="0"/>
                  <a:t> группу относительно умножения, называется </a:t>
                </a:r>
                <a:r>
                  <a:rPr lang="ru-RU" u="sng" dirty="0"/>
                  <a:t>полем</a:t>
                </a:r>
                <a:r>
                  <a:rPr lang="ru-RU" dirty="0"/>
                  <a:t>.</a:t>
                </a:r>
                <a:endParaRPr lang="en-US" dirty="0"/>
              </a:p>
              <a:p>
                <a:pPr algn="just"/>
                <a:r>
                  <a:rPr lang="ru-RU" dirty="0"/>
                  <a:t>Кольцо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является полем тогда и только тогда, когда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есть коммутативное кольцо с единицей, в котором каждый ненулевой элемент обратим.</a:t>
                </a:r>
              </a:p>
              <a:p>
                <a:pPr algn="just"/>
                <a:r>
                  <a:rPr lang="ru-RU" dirty="0"/>
                  <a:t>Группа обратимых элементов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dirty="0"/>
                  <a:t> поля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состоит из всех ненулевых элементов поля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и называется </a:t>
                </a:r>
                <a:r>
                  <a:rPr lang="ru-RU" u="sng" dirty="0"/>
                  <a:t>мультипликативной группой</a:t>
                </a:r>
                <a:r>
                  <a:rPr lang="ru-RU" dirty="0"/>
                  <a:t> данного </a:t>
                </a:r>
                <a:r>
                  <a:rPr lang="ru-RU" u="sng" dirty="0"/>
                  <a:t>поля</a:t>
                </a:r>
                <a:r>
                  <a:rPr lang="ru-RU" dirty="0"/>
                  <a:t>.</a:t>
                </a:r>
              </a:p>
              <a:p>
                <a:pPr algn="just"/>
                <a:r>
                  <a:rPr lang="ru-RU" dirty="0"/>
                  <a:t>Пример поля: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;+;∙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algn="just"/>
                <a:r>
                  <a:rPr lang="ru-RU" dirty="0"/>
                  <a:t>Поле, построенное на основе множества, состоящего из конечного числа элементов, называется </a:t>
                </a:r>
                <a:r>
                  <a:rPr lang="ru-RU" u="sng" dirty="0"/>
                  <a:t>конечным полем</a:t>
                </a:r>
                <a:r>
                  <a:rPr lang="ru-RU" dirty="0"/>
                  <a:t>.</a:t>
                </a:r>
              </a:p>
              <a:p>
                <a:pPr algn="just"/>
                <a:r>
                  <a:rPr lang="ru-RU" i="1" dirty="0">
                    <a:solidFill>
                      <a:srgbClr val="0070C0"/>
                    </a:solidFill>
                  </a:rPr>
                  <a:t>Конечные поля имеют криптографическое приложение.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4605B9F-E0F3-439A-8A29-D8016B624D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274DB4-C3B9-4186-AC3A-AE4BE3B411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32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011260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223E62-8AC0-4944-BB10-A30CE089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Простые конечные поля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9DE98D7-4933-4A4F-93C2-D59C89491FF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1600" b="1" dirty="0"/>
                  <a:t>Теорема</a:t>
                </a:r>
                <a:r>
                  <a:rPr lang="ru-RU" sz="1600" dirty="0"/>
                  <a:t>. Кольцо классов вычетов по модулю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600" dirty="0"/>
                  <a:t> является полем тогда и только тогда, когда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600" dirty="0"/>
                  <a:t> есть простое число.</a:t>
                </a:r>
                <a:endParaRPr lang="en-US" sz="1600" dirty="0"/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Кольцо классов вычетов по модулю простого числа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600" dirty="0"/>
                  <a:t> называется </a:t>
                </a:r>
                <a:r>
                  <a:rPr lang="ru-RU" sz="1600" u="sng" dirty="0"/>
                  <a:t>простым конечным полем</a:t>
                </a:r>
                <a:r>
                  <a:rPr lang="ru-RU" sz="1600" dirty="0"/>
                  <a:t> и обозначается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600" b="1" dirty="0"/>
                  <a:t>Теорема</a:t>
                </a:r>
                <a:r>
                  <a:rPr lang="ru-RU" sz="1600" dirty="0"/>
                  <a:t>. Мультипликативная группа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1600" dirty="0"/>
                  <a:t> поля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u-RU" sz="1600" dirty="0"/>
                  <a:t>, где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600" dirty="0"/>
                  <a:t> — простое число, является циклической группой порядка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Поле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u-RU" sz="1600" dirty="0"/>
                  <a:t> является полем ненулевой характеристики,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char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Пример для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=7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1600" b="0" dirty="0"/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1, 2, 3, 4, 5, 6</m:t>
                        </m:r>
                      </m:e>
                    </m:d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1, 2, 3, 4, 5, 6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7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7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7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7</m:t>
                        </m:r>
                      </m:e>
                    </m:d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7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;</a:t>
                </a:r>
                <a:endParaRPr lang="ru-RU" dirty="0"/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ru-RU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9DE98D7-4933-4A4F-93C2-D59C89491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343" b="-22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C068BA-AC61-4148-8E12-2474FFA0D0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14734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E696E-5AD4-4E64-BFF7-49EED563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Поля Галуа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D36496A-D666-49FD-978A-4A4AC40333A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ru-RU" sz="1800" u="sng" dirty="0"/>
                  <a:t>Полем Галуа</a:t>
                </a:r>
                <a:r>
                  <a:rPr lang="ru-RU" sz="1800" dirty="0"/>
                  <a:t> назовем поле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p>
                          <m:sSupPr>
                            <m:ctrlPr>
                              <a:rPr lang="ru-RU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</m:sSub>
                  </m:oMath>
                </a14:m>
                <a:r>
                  <a:rPr lang="ru-RU" sz="1800" dirty="0"/>
                  <a:t>, полученное расширением поля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u-RU" sz="1800" dirty="0"/>
                  <a:t>  посредством неприводимого многочлена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ru-RU" sz="1800" dirty="0"/>
                  <a:t> степени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800" dirty="0"/>
                  <a:t>.</a:t>
                </a:r>
                <a:endParaRPr lang="en-US" sz="1800" dirty="0"/>
              </a:p>
              <a:p>
                <a:pPr algn="just"/>
                <a:r>
                  <a:rPr lang="ru-RU" sz="1800" dirty="0"/>
                  <a:t>Элементами поля Галуа являются многочлены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ru-RU" sz="1800" dirty="0"/>
                  <a:t>, степень которых строго меньше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— </a:t>
                </a:r>
                <a:r>
                  <a:rPr lang="ru-RU" sz="1800" dirty="0"/>
                  <a:t>всевозможные остатки от деления многочленов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ru-RU" sz="1800" dirty="0"/>
                  <a:t> на неприводимый многочлен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ru-RU" sz="1800" dirty="0"/>
                  <a:t>.</a:t>
                </a:r>
                <a:endParaRPr lang="en-US" sz="1800" dirty="0"/>
              </a:p>
              <a:p>
                <a:pPr algn="just"/>
                <a:r>
                  <a:rPr lang="ru-RU" sz="1800" dirty="0"/>
                  <a:t>Мощность поля Галуа составляет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1800" dirty="0"/>
                  <a:t>.</a:t>
                </a:r>
                <a:endParaRPr lang="en-US" sz="1800" dirty="0"/>
              </a:p>
              <a:p>
                <a:pPr algn="just"/>
                <a:r>
                  <a:rPr lang="ru-RU" sz="1800" dirty="0"/>
                  <a:t>Характеристика поля Галуа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p>
                          <m:sSupPr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</m:sSub>
                  </m:oMath>
                </a14:m>
                <a:r>
                  <a:rPr lang="ru-RU" sz="1800" dirty="0"/>
                  <a:t> совпадает с характеристикой простого конечного поля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char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</m:sSub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char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D36496A-D666-49FD-978A-4A4AC40333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336B89-569B-40EC-A8C1-7E408471F5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34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929875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5C407-65E4-470C-A2C1-A53E902E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построения поля Галуа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225A67B-B464-4936-B496-943203B6C94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37250" y="766572"/>
                <a:ext cx="8895300" cy="3982800"/>
              </a:xfrm>
            </p:spPr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Простое конечное поле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0, 1, 2</m:t>
                        </m:r>
                      </m:e>
                    </m:d>
                  </m:oMath>
                </a14:m>
                <a:r>
                  <a:rPr lang="ru-RU" sz="16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Неприводимый многочлен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600" dirty="0"/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ru-RU" dirty="0"/>
              </a:p>
              <a:p>
                <a:pPr algn="just">
                  <a:spcBef>
                    <a:spcPts val="600"/>
                  </a:spcBef>
                </a:pPr>
                <a:r>
                  <a:rPr lang="ru-RU" sz="1600" dirty="0"/>
                  <a:t>Поле Галуа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p>
                          <m:sSupPr>
                            <m:ctrlPr>
                              <a:rPr lang="ru-RU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0, 1, 2, 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+2, 2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 2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+1, 2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/>
              </a:p>
              <a:p>
                <a:pPr>
                  <a:spcBef>
                    <a:spcPts val="600"/>
                  </a:spcBef>
                </a:pPr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225A67B-B464-4936-B496-943203B6C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7250" y="766572"/>
                <a:ext cx="8895300" cy="39828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6A9E2A-A920-4D50-8898-D14FDD6A07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35</a:t>
            </a:fld>
            <a:endParaRPr lang="ru"/>
          </a:p>
        </p:txBody>
      </p:sp>
      <p:graphicFrame>
        <p:nvGraphicFramePr>
          <p:cNvPr id="9" name="Таблица 7">
            <a:extLst>
              <a:ext uri="{FF2B5EF4-FFF2-40B4-BE49-F238E27FC236}">
                <a16:creationId xmlns:a16="http://schemas.microsoft.com/office/drawing/2014/main" id="{A88B47E3-D45B-4D45-9A54-11AF3D887D6C}"/>
              </a:ext>
            </a:extLst>
          </p:cNvPr>
          <p:cNvGraphicFramePr>
            <a:graphicFrameLocks noGrp="1"/>
          </p:cNvGraphicFramePr>
          <p:nvPr/>
        </p:nvGraphicFramePr>
        <p:xfrm>
          <a:off x="667781" y="2306671"/>
          <a:ext cx="741635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635">
                  <a:extLst>
                    <a:ext uri="{9D8B030D-6E8A-4147-A177-3AD203B41FA5}">
                      <a16:colId xmlns:a16="http://schemas.microsoft.com/office/drawing/2014/main" val="1610020380"/>
                    </a:ext>
                  </a:extLst>
                </a:gridCol>
                <a:gridCol w="741635">
                  <a:extLst>
                    <a:ext uri="{9D8B030D-6E8A-4147-A177-3AD203B41FA5}">
                      <a16:colId xmlns:a16="http://schemas.microsoft.com/office/drawing/2014/main" val="2383068850"/>
                    </a:ext>
                  </a:extLst>
                </a:gridCol>
                <a:gridCol w="741635">
                  <a:extLst>
                    <a:ext uri="{9D8B030D-6E8A-4147-A177-3AD203B41FA5}">
                      <a16:colId xmlns:a16="http://schemas.microsoft.com/office/drawing/2014/main" val="1121097281"/>
                    </a:ext>
                  </a:extLst>
                </a:gridCol>
                <a:gridCol w="741635">
                  <a:extLst>
                    <a:ext uri="{9D8B030D-6E8A-4147-A177-3AD203B41FA5}">
                      <a16:colId xmlns:a16="http://schemas.microsoft.com/office/drawing/2014/main" val="839774093"/>
                    </a:ext>
                  </a:extLst>
                </a:gridCol>
                <a:gridCol w="741635">
                  <a:extLst>
                    <a:ext uri="{9D8B030D-6E8A-4147-A177-3AD203B41FA5}">
                      <a16:colId xmlns:a16="http://schemas.microsoft.com/office/drawing/2014/main" val="4062519021"/>
                    </a:ext>
                  </a:extLst>
                </a:gridCol>
                <a:gridCol w="741635">
                  <a:extLst>
                    <a:ext uri="{9D8B030D-6E8A-4147-A177-3AD203B41FA5}">
                      <a16:colId xmlns:a16="http://schemas.microsoft.com/office/drawing/2014/main" val="3962936931"/>
                    </a:ext>
                  </a:extLst>
                </a:gridCol>
                <a:gridCol w="741635">
                  <a:extLst>
                    <a:ext uri="{9D8B030D-6E8A-4147-A177-3AD203B41FA5}">
                      <a16:colId xmlns:a16="http://schemas.microsoft.com/office/drawing/2014/main" val="4030928516"/>
                    </a:ext>
                  </a:extLst>
                </a:gridCol>
                <a:gridCol w="741635">
                  <a:extLst>
                    <a:ext uri="{9D8B030D-6E8A-4147-A177-3AD203B41FA5}">
                      <a16:colId xmlns:a16="http://schemas.microsoft.com/office/drawing/2014/main" val="3416434165"/>
                    </a:ext>
                  </a:extLst>
                </a:gridCol>
                <a:gridCol w="741635">
                  <a:extLst>
                    <a:ext uri="{9D8B030D-6E8A-4147-A177-3AD203B41FA5}">
                      <a16:colId xmlns:a16="http://schemas.microsoft.com/office/drawing/2014/main" val="3935487313"/>
                    </a:ext>
                  </a:extLst>
                </a:gridCol>
                <a:gridCol w="741635">
                  <a:extLst>
                    <a:ext uri="{9D8B030D-6E8A-4147-A177-3AD203B41FA5}">
                      <a16:colId xmlns:a16="http://schemas.microsoft.com/office/drawing/2014/main" val="604246885"/>
                    </a:ext>
                  </a:extLst>
                </a:gridCol>
              </a:tblGrid>
              <a:tr h="23144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+</a:t>
                      </a:r>
                      <a:endParaRPr lang="ru-RU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+ 1</a:t>
                      </a:r>
                      <a:endParaRPr lang="ru-RU" sz="12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+ 2</a:t>
                      </a:r>
                      <a:endParaRPr lang="ru-RU" sz="12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+ 1</a:t>
                      </a:r>
                      <a:endParaRPr lang="ru-RU" sz="12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+ 2</a:t>
                      </a:r>
                      <a:endParaRPr lang="ru-RU" sz="1200" i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8233571"/>
                  </a:ext>
                </a:extLst>
              </a:tr>
              <a:tr h="2314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914728"/>
                  </a:ext>
                </a:extLst>
              </a:tr>
              <a:tr h="2314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433312"/>
                  </a:ext>
                </a:extLst>
              </a:tr>
              <a:tr h="2314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284828"/>
                  </a:ext>
                </a:extLst>
              </a:tr>
              <a:tr h="231443"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640994"/>
                  </a:ext>
                </a:extLst>
              </a:tr>
              <a:tr h="231443"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+ 2</a:t>
                      </a:r>
                      <a:endParaRPr lang="ru-RU" sz="12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672924"/>
                  </a:ext>
                </a:extLst>
              </a:tr>
              <a:tr h="2314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+ 1</a:t>
                      </a:r>
                      <a:endParaRPr lang="ru-RU" sz="12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876786"/>
                  </a:ext>
                </a:extLst>
              </a:tr>
              <a:tr h="2314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127727"/>
                  </a:ext>
                </a:extLst>
              </a:tr>
              <a:tr h="2314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+ 1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+ 1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+ 2</a:t>
                      </a:r>
                      <a:endParaRPr lang="ru-RU" sz="12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5033109"/>
                  </a:ext>
                </a:extLst>
              </a:tr>
              <a:tr h="2314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+ 2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+ 2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+ 1</a:t>
                      </a:r>
                      <a:endParaRPr lang="ru-R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250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6944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5C407-65E4-470C-A2C1-A53E902E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построения поля Галуа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225A67B-B464-4936-B496-943203B6C94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endParaRPr lang="ru-RU" sz="1600" dirty="0"/>
              </a:p>
              <a:p>
                <a:pPr algn="just"/>
                <a:endParaRPr lang="ru-RU" sz="1600" dirty="0"/>
              </a:p>
              <a:p>
                <a:pPr algn="just"/>
                <a:endParaRPr lang="ru-RU" sz="1600" dirty="0"/>
              </a:p>
              <a:p>
                <a:pPr algn="just"/>
                <a:endParaRPr lang="ru-RU" sz="1600" dirty="0"/>
              </a:p>
              <a:p>
                <a:pPr algn="just"/>
                <a:endParaRPr lang="ru-RU" sz="1600" dirty="0"/>
              </a:p>
              <a:p>
                <a:pPr algn="just"/>
                <a:endParaRPr lang="ru-RU" sz="1600" dirty="0"/>
              </a:p>
              <a:p>
                <a:pPr algn="just"/>
                <a:endParaRPr lang="ru-RU" sz="1600" dirty="0"/>
              </a:p>
              <a:p>
                <a:pPr algn="just"/>
                <a:endParaRPr lang="ru-RU" sz="1600" dirty="0"/>
              </a:p>
              <a:p>
                <a:pPr algn="just"/>
                <a:endParaRPr lang="ru-RU" sz="1600" dirty="0"/>
              </a:p>
              <a:p>
                <a:pPr algn="just"/>
                <a:endParaRPr lang="ru-RU" sz="1600" dirty="0"/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225A67B-B464-4936-B496-943203B6C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6A9E2A-A920-4D50-8898-D14FDD6A07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36</a:t>
            </a:fld>
            <a:endParaRPr lang="ru"/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30AFB9A1-3F5B-4513-8893-E34F457E7EE1}"/>
              </a:ext>
            </a:extLst>
          </p:cNvPr>
          <p:cNvGraphicFramePr>
            <a:graphicFrameLocks noGrp="1"/>
          </p:cNvGraphicFramePr>
          <p:nvPr/>
        </p:nvGraphicFramePr>
        <p:xfrm>
          <a:off x="717104" y="1092551"/>
          <a:ext cx="6487263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807">
                  <a:extLst>
                    <a:ext uri="{9D8B030D-6E8A-4147-A177-3AD203B41FA5}">
                      <a16:colId xmlns:a16="http://schemas.microsoft.com/office/drawing/2014/main" val="1610020380"/>
                    </a:ext>
                  </a:extLst>
                </a:gridCol>
                <a:gridCol w="720807">
                  <a:extLst>
                    <a:ext uri="{9D8B030D-6E8A-4147-A177-3AD203B41FA5}">
                      <a16:colId xmlns:a16="http://schemas.microsoft.com/office/drawing/2014/main" val="1121097281"/>
                    </a:ext>
                  </a:extLst>
                </a:gridCol>
                <a:gridCol w="720807">
                  <a:extLst>
                    <a:ext uri="{9D8B030D-6E8A-4147-A177-3AD203B41FA5}">
                      <a16:colId xmlns:a16="http://schemas.microsoft.com/office/drawing/2014/main" val="839774093"/>
                    </a:ext>
                  </a:extLst>
                </a:gridCol>
                <a:gridCol w="720807">
                  <a:extLst>
                    <a:ext uri="{9D8B030D-6E8A-4147-A177-3AD203B41FA5}">
                      <a16:colId xmlns:a16="http://schemas.microsoft.com/office/drawing/2014/main" val="4062519021"/>
                    </a:ext>
                  </a:extLst>
                </a:gridCol>
                <a:gridCol w="720807">
                  <a:extLst>
                    <a:ext uri="{9D8B030D-6E8A-4147-A177-3AD203B41FA5}">
                      <a16:colId xmlns:a16="http://schemas.microsoft.com/office/drawing/2014/main" val="3962936931"/>
                    </a:ext>
                  </a:extLst>
                </a:gridCol>
                <a:gridCol w="720807">
                  <a:extLst>
                    <a:ext uri="{9D8B030D-6E8A-4147-A177-3AD203B41FA5}">
                      <a16:colId xmlns:a16="http://schemas.microsoft.com/office/drawing/2014/main" val="4030928516"/>
                    </a:ext>
                  </a:extLst>
                </a:gridCol>
                <a:gridCol w="720807">
                  <a:extLst>
                    <a:ext uri="{9D8B030D-6E8A-4147-A177-3AD203B41FA5}">
                      <a16:colId xmlns:a16="http://schemas.microsoft.com/office/drawing/2014/main" val="3416434165"/>
                    </a:ext>
                  </a:extLst>
                </a:gridCol>
                <a:gridCol w="720807">
                  <a:extLst>
                    <a:ext uri="{9D8B030D-6E8A-4147-A177-3AD203B41FA5}">
                      <a16:colId xmlns:a16="http://schemas.microsoft.com/office/drawing/2014/main" val="3935487313"/>
                    </a:ext>
                  </a:extLst>
                </a:gridCol>
                <a:gridCol w="720807">
                  <a:extLst>
                    <a:ext uri="{9D8B030D-6E8A-4147-A177-3AD203B41FA5}">
                      <a16:colId xmlns:a16="http://schemas.microsoft.com/office/drawing/2014/main" val="604246885"/>
                    </a:ext>
                  </a:extLst>
                </a:gridCol>
              </a:tblGrid>
              <a:tr h="24100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∙</a:t>
                      </a:r>
                      <a:endParaRPr lang="ru-RU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+ 1</a:t>
                      </a:r>
                      <a:endParaRPr lang="ru-RU" sz="12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+ 2</a:t>
                      </a:r>
                      <a:endParaRPr lang="ru-RU" sz="12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+ 1</a:t>
                      </a:r>
                      <a:endParaRPr lang="ru-RU" sz="12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+ 2</a:t>
                      </a:r>
                      <a:endParaRPr lang="ru-RU" sz="1200" i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8233571"/>
                  </a:ext>
                </a:extLst>
              </a:tr>
              <a:tr h="2410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433312"/>
                  </a:ext>
                </a:extLst>
              </a:tr>
              <a:tr h="2410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284828"/>
                  </a:ext>
                </a:extLst>
              </a:tr>
              <a:tr h="241006"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+ 1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640994"/>
                  </a:ext>
                </a:extLst>
              </a:tr>
              <a:tr h="241006"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</a:t>
                      </a:r>
                      <a:r>
                        <a:rPr lang="ru-RU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</a:t>
                      </a:r>
                      <a:r>
                        <a:rPr lang="ru-RU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i="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672924"/>
                  </a:ext>
                </a:extLst>
              </a:tr>
              <a:tr h="241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</a:t>
                      </a:r>
                      <a:r>
                        <a:rPr lang="ru-RU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+ 2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876786"/>
                  </a:ext>
                </a:extLst>
              </a:tr>
              <a:tr h="2410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</a:t>
                      </a:r>
                      <a:r>
                        <a:rPr lang="ru-RU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</a:t>
                      </a:r>
                      <a:r>
                        <a:rPr lang="ru-RU" sz="1200" i="0" dirty="0"/>
                        <a:t>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+ 1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127727"/>
                  </a:ext>
                </a:extLst>
              </a:tr>
              <a:tr h="241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+ 1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+ 1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</a:t>
                      </a:r>
                      <a:r>
                        <a:rPr lang="ru-RU" sz="1200" i="0" dirty="0"/>
                        <a:t>2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</a:t>
                      </a:r>
                      <a:r>
                        <a:rPr lang="ru-RU" sz="1200" i="0" dirty="0"/>
                        <a:t>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+ 2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5033109"/>
                  </a:ext>
                </a:extLst>
              </a:tr>
              <a:tr h="241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+ 2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+ 2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</a:t>
                      </a:r>
                      <a:r>
                        <a:rPr lang="ru-RU" sz="1200" i="0" dirty="0"/>
                        <a:t>1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x</a:t>
                      </a:r>
                      <a:r>
                        <a:rPr lang="en-US" sz="1200" i="0" dirty="0"/>
                        <a:t> + </a:t>
                      </a:r>
                      <a:r>
                        <a:rPr lang="ru-RU" sz="1200" i="0" dirty="0"/>
                        <a:t>2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</a:t>
                      </a:r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i="0" dirty="0"/>
                        <a:t>2</a:t>
                      </a:r>
                      <a:r>
                        <a:rPr lang="en-US" sz="1200" i="1" dirty="0"/>
                        <a:t>x</a:t>
                      </a:r>
                      <a:r>
                        <a:rPr lang="en-US" sz="1200" dirty="0"/>
                        <a:t> + </a:t>
                      </a:r>
                      <a:r>
                        <a:rPr lang="ru-RU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x</a:t>
                      </a:r>
                      <a:endParaRPr lang="ru-RU" sz="1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250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15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431B8A2-B061-4A0E-9010-6DA4E704B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Эллиптические кривые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C7AF5FA7-3D2B-45FF-9C2B-853B101A1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9E9583-CD45-4692-B3D7-8781F38CA70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37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08447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04F44-140D-4FF3-98D4-7857ED10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Уравнение эллиптической кривой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– произвольное поле. </a:t>
                </a:r>
                <a:r>
                  <a:rPr lang="ru-RU" u="sng" dirty="0"/>
                  <a:t>Эллиптической кривой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над полем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называется гладкая кривая, задаваемая уравнением вида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algn="just"/>
                <a:r>
                  <a:rPr lang="ru-RU" u="sng" dirty="0"/>
                  <a:t>Множество точек эллиптической кривой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включает все точки, удовлетворяющие данному уравнению, и «бесконечно удаленную» точку 0.</a:t>
                </a:r>
                <a:endParaRPr lang="en-US" dirty="0"/>
              </a:p>
              <a:p>
                <a:pPr algn="just"/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char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≠2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char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ru-RU" dirty="0"/>
                  <a:t>, то уравнение эллиптической кривой над полем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имеет вид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ru-RU" dirty="0"/>
                  <a:t>Условие гладкости эллиптической кривой: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algn="just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+1−2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+1+2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BFE8E81-F3CE-4735-A70F-BA92301DE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D2F1F4-5D5C-40D0-AEE6-56CA54682E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080330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02D0C-1FE6-43EF-A20E-1FAFB32BA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000" dirty="0"/>
              <a:t>График эллиптической кривой для непрерывного случая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2314B9-EAA9-4105-89D8-70163DCDCE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39</a:t>
            </a:fld>
            <a:endParaRPr lang="ru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72AEAFEF-302B-480A-9FB3-8152C1903922}"/>
              </a:ext>
            </a:extLst>
          </p:cNvPr>
          <p:cNvCxnSpPr/>
          <p:nvPr/>
        </p:nvCxnSpPr>
        <p:spPr>
          <a:xfrm>
            <a:off x="5013700" y="2847109"/>
            <a:ext cx="331634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D57FCBD-DF1B-4C9D-97AE-07C56BE9EF52}"/>
              </a:ext>
            </a:extLst>
          </p:cNvPr>
          <p:cNvCxnSpPr>
            <a:cxnSpLocks/>
          </p:cNvCxnSpPr>
          <p:nvPr/>
        </p:nvCxnSpPr>
        <p:spPr>
          <a:xfrm flipV="1">
            <a:off x="6606973" y="1309254"/>
            <a:ext cx="0" cy="27847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0AC244-F789-432E-B011-7EBFCBF47922}"/>
                  </a:ext>
                </a:extLst>
              </p:cNvPr>
              <p:cNvSpPr txBox="1"/>
              <p:nvPr/>
            </p:nvSpPr>
            <p:spPr>
              <a:xfrm>
                <a:off x="7991016" y="2865681"/>
                <a:ext cx="335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0AC244-F789-432E-B011-7EBFCBF47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016" y="2865681"/>
                <a:ext cx="335989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C3AD9A4-B618-484A-899A-AA2CFB929CBD}"/>
                  </a:ext>
                </a:extLst>
              </p:cNvPr>
              <p:cNvSpPr txBox="1"/>
              <p:nvPr/>
            </p:nvSpPr>
            <p:spPr>
              <a:xfrm>
                <a:off x="6629348" y="1261617"/>
                <a:ext cx="3384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C3AD9A4-B618-484A-899A-AA2CFB929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348" y="1261617"/>
                <a:ext cx="338426" cy="307777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Овал 32">
            <a:extLst>
              <a:ext uri="{FF2B5EF4-FFF2-40B4-BE49-F238E27FC236}">
                <a16:creationId xmlns:a16="http://schemas.microsoft.com/office/drawing/2014/main" id="{90CBB72F-D15D-40F3-9003-0CBEDA4FFE37}"/>
              </a:ext>
            </a:extLst>
          </p:cNvPr>
          <p:cNvSpPr/>
          <p:nvPr/>
        </p:nvSpPr>
        <p:spPr>
          <a:xfrm>
            <a:off x="6585941" y="2824249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C24E5C9D-F263-4CDC-96BA-9C6C4844404E}"/>
              </a:ext>
            </a:extLst>
          </p:cNvPr>
          <p:cNvSpPr/>
          <p:nvPr/>
        </p:nvSpPr>
        <p:spPr>
          <a:xfrm>
            <a:off x="5430181" y="1988820"/>
            <a:ext cx="754718" cy="1711961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AB6DCEB5-8656-4C80-A8B5-C9C25643427A}"/>
              </a:ext>
            </a:extLst>
          </p:cNvPr>
          <p:cNvSpPr/>
          <p:nvPr/>
        </p:nvSpPr>
        <p:spPr>
          <a:xfrm>
            <a:off x="6965950" y="1536700"/>
            <a:ext cx="1479550" cy="1320800"/>
          </a:xfrm>
          <a:custGeom>
            <a:avLst/>
            <a:gdLst>
              <a:gd name="connsiteX0" fmla="*/ 0 w 1479550"/>
              <a:gd name="connsiteY0" fmla="*/ 1320800 h 1320800"/>
              <a:gd name="connsiteX1" fmla="*/ 234950 w 1479550"/>
              <a:gd name="connsiteY1" fmla="*/ 584200 h 1320800"/>
              <a:gd name="connsiteX2" fmla="*/ 939800 w 1479550"/>
              <a:gd name="connsiteY2" fmla="*/ 222250 h 1320800"/>
              <a:gd name="connsiteX3" fmla="*/ 1479550 w 1479550"/>
              <a:gd name="connsiteY3" fmla="*/ 0 h 1320800"/>
              <a:gd name="connsiteX4" fmla="*/ 1479550 w 1479550"/>
              <a:gd name="connsiteY4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9550" h="1320800">
                <a:moveTo>
                  <a:pt x="0" y="1320800"/>
                </a:moveTo>
                <a:cubicBezTo>
                  <a:pt x="39158" y="1044046"/>
                  <a:pt x="78317" y="767292"/>
                  <a:pt x="234950" y="584200"/>
                </a:cubicBezTo>
                <a:cubicBezTo>
                  <a:pt x="391583" y="401108"/>
                  <a:pt x="732367" y="319617"/>
                  <a:pt x="939800" y="222250"/>
                </a:cubicBezTo>
                <a:cubicBezTo>
                  <a:pt x="1147233" y="124883"/>
                  <a:pt x="1479550" y="0"/>
                  <a:pt x="1479550" y="0"/>
                </a:cubicBezTo>
                <a:lnTo>
                  <a:pt x="1479550" y="0"/>
                </a:ln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олилиния: фигура 41">
            <a:extLst>
              <a:ext uri="{FF2B5EF4-FFF2-40B4-BE49-F238E27FC236}">
                <a16:creationId xmlns:a16="http://schemas.microsoft.com/office/drawing/2014/main" id="{402D6E6A-0780-4F05-A0A1-9741178C4E59}"/>
              </a:ext>
            </a:extLst>
          </p:cNvPr>
          <p:cNvSpPr/>
          <p:nvPr/>
        </p:nvSpPr>
        <p:spPr>
          <a:xfrm flipV="1">
            <a:off x="6965950" y="2844800"/>
            <a:ext cx="1479550" cy="1320800"/>
          </a:xfrm>
          <a:custGeom>
            <a:avLst/>
            <a:gdLst>
              <a:gd name="connsiteX0" fmla="*/ 0 w 1479550"/>
              <a:gd name="connsiteY0" fmla="*/ 1320800 h 1320800"/>
              <a:gd name="connsiteX1" fmla="*/ 234950 w 1479550"/>
              <a:gd name="connsiteY1" fmla="*/ 584200 h 1320800"/>
              <a:gd name="connsiteX2" fmla="*/ 939800 w 1479550"/>
              <a:gd name="connsiteY2" fmla="*/ 222250 h 1320800"/>
              <a:gd name="connsiteX3" fmla="*/ 1479550 w 1479550"/>
              <a:gd name="connsiteY3" fmla="*/ 0 h 1320800"/>
              <a:gd name="connsiteX4" fmla="*/ 1479550 w 1479550"/>
              <a:gd name="connsiteY4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9550" h="1320800">
                <a:moveTo>
                  <a:pt x="0" y="1320800"/>
                </a:moveTo>
                <a:cubicBezTo>
                  <a:pt x="39158" y="1044046"/>
                  <a:pt x="78317" y="767292"/>
                  <a:pt x="234950" y="584200"/>
                </a:cubicBezTo>
                <a:cubicBezTo>
                  <a:pt x="391583" y="401108"/>
                  <a:pt x="732367" y="319617"/>
                  <a:pt x="939800" y="222250"/>
                </a:cubicBezTo>
                <a:cubicBezTo>
                  <a:pt x="1147233" y="124883"/>
                  <a:pt x="1479550" y="0"/>
                  <a:pt x="1479550" y="0"/>
                </a:cubicBezTo>
                <a:lnTo>
                  <a:pt x="1479550" y="0"/>
                </a:ln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5CFC504B-BCB7-47CC-A307-DED923EF7C28}"/>
              </a:ext>
            </a:extLst>
          </p:cNvPr>
          <p:cNvGrpSpPr/>
          <p:nvPr/>
        </p:nvGrpSpPr>
        <p:grpSpPr>
          <a:xfrm>
            <a:off x="1089400" y="1261617"/>
            <a:ext cx="3464560" cy="2832401"/>
            <a:chOff x="1089400" y="1261617"/>
            <a:chExt cx="3464560" cy="2832401"/>
          </a:xfrm>
        </p:grpSpPr>
        <p:cxnSp>
          <p:nvCxnSpPr>
            <p:cNvPr id="6" name="Прямая со стрелкой 5">
              <a:extLst>
                <a:ext uri="{FF2B5EF4-FFF2-40B4-BE49-F238E27FC236}">
                  <a16:creationId xmlns:a16="http://schemas.microsoft.com/office/drawing/2014/main" id="{E2686D93-688C-490E-902B-FDE7DBA82E49}"/>
                </a:ext>
              </a:extLst>
            </p:cNvPr>
            <p:cNvCxnSpPr/>
            <p:nvPr/>
          </p:nvCxnSpPr>
          <p:spPr>
            <a:xfrm>
              <a:off x="1089400" y="2847109"/>
              <a:ext cx="331634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 стрелкой 6">
              <a:extLst>
                <a:ext uri="{FF2B5EF4-FFF2-40B4-BE49-F238E27FC236}">
                  <a16:creationId xmlns:a16="http://schemas.microsoft.com/office/drawing/2014/main" id="{19B0E043-9005-42DD-8FA1-057010E7E8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673" y="1309254"/>
              <a:ext cx="0" cy="2784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7A2A0A7A-88E4-4CD1-82E6-0BA684FC5608}"/>
                </a:ext>
              </a:extLst>
            </p:cNvPr>
            <p:cNvSpPr/>
            <p:nvPr/>
          </p:nvSpPr>
          <p:spPr>
            <a:xfrm rot="224111">
              <a:off x="1387901" y="1659565"/>
              <a:ext cx="2376055" cy="1267271"/>
            </a:xfrm>
            <a:custGeom>
              <a:avLst/>
              <a:gdLst>
                <a:gd name="connsiteX0" fmla="*/ 0 w 2376055"/>
                <a:gd name="connsiteY0" fmla="*/ 1420091 h 1420091"/>
                <a:gd name="connsiteX1" fmla="*/ 304800 w 2376055"/>
                <a:gd name="connsiteY1" fmla="*/ 464127 h 1420091"/>
                <a:gd name="connsiteX2" fmla="*/ 1357746 w 2376055"/>
                <a:gd name="connsiteY2" fmla="*/ 755072 h 1420091"/>
                <a:gd name="connsiteX3" fmla="*/ 2376055 w 2376055"/>
                <a:gd name="connsiteY3" fmla="*/ 0 h 1420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6055" h="1420091">
                  <a:moveTo>
                    <a:pt x="0" y="1420091"/>
                  </a:moveTo>
                  <a:cubicBezTo>
                    <a:pt x="39254" y="997527"/>
                    <a:pt x="78509" y="574963"/>
                    <a:pt x="304800" y="464127"/>
                  </a:cubicBezTo>
                  <a:cubicBezTo>
                    <a:pt x="531091" y="353291"/>
                    <a:pt x="1012537" y="832426"/>
                    <a:pt x="1357746" y="755072"/>
                  </a:cubicBezTo>
                  <a:cubicBezTo>
                    <a:pt x="1702955" y="677718"/>
                    <a:pt x="2200564" y="111991"/>
                    <a:pt x="2376055" y="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360AA1B3-8AB8-4301-9970-776DFAFC1D5A}"/>
                </a:ext>
              </a:extLst>
            </p:cNvPr>
            <p:cNvSpPr/>
            <p:nvPr/>
          </p:nvSpPr>
          <p:spPr>
            <a:xfrm rot="21375889" flipV="1">
              <a:off x="1387901" y="2750698"/>
              <a:ext cx="2376055" cy="1267271"/>
            </a:xfrm>
            <a:custGeom>
              <a:avLst/>
              <a:gdLst>
                <a:gd name="connsiteX0" fmla="*/ 0 w 2376055"/>
                <a:gd name="connsiteY0" fmla="*/ 1420091 h 1420091"/>
                <a:gd name="connsiteX1" fmla="*/ 304800 w 2376055"/>
                <a:gd name="connsiteY1" fmla="*/ 464127 h 1420091"/>
                <a:gd name="connsiteX2" fmla="*/ 1357746 w 2376055"/>
                <a:gd name="connsiteY2" fmla="*/ 755072 h 1420091"/>
                <a:gd name="connsiteX3" fmla="*/ 2376055 w 2376055"/>
                <a:gd name="connsiteY3" fmla="*/ 0 h 1420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6055" h="1420091">
                  <a:moveTo>
                    <a:pt x="0" y="1420091"/>
                  </a:moveTo>
                  <a:cubicBezTo>
                    <a:pt x="39254" y="997527"/>
                    <a:pt x="78509" y="574963"/>
                    <a:pt x="304800" y="464127"/>
                  </a:cubicBezTo>
                  <a:cubicBezTo>
                    <a:pt x="531091" y="353291"/>
                    <a:pt x="1012537" y="832426"/>
                    <a:pt x="1357746" y="755072"/>
                  </a:cubicBezTo>
                  <a:cubicBezTo>
                    <a:pt x="1702955" y="677718"/>
                    <a:pt x="2200564" y="111991"/>
                    <a:pt x="2376055" y="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8743D6C-A6BF-4A3E-89E6-0795F14A7525}"/>
                    </a:ext>
                  </a:extLst>
                </p:cNvPr>
                <p:cNvSpPr txBox="1"/>
                <p:nvPr/>
              </p:nvSpPr>
              <p:spPr>
                <a:xfrm>
                  <a:off x="4062457" y="2865681"/>
                  <a:ext cx="33598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8743D6C-A6BF-4A3E-89E6-0795F14A7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2457" y="2865681"/>
                  <a:ext cx="335989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DDA2BE-4106-4263-BFEA-F289D14FFE49}"/>
                    </a:ext>
                  </a:extLst>
                </p:cNvPr>
                <p:cNvSpPr txBox="1"/>
                <p:nvPr/>
              </p:nvSpPr>
              <p:spPr>
                <a:xfrm>
                  <a:off x="2700789" y="1261617"/>
                  <a:ext cx="33842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DDA2BE-4106-4263-BFEA-F289D14FFE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0789" y="1261617"/>
                  <a:ext cx="338426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F6B5FADB-6100-42DA-90E1-3EF853155A93}"/>
                </a:ext>
              </a:extLst>
            </p:cNvPr>
            <p:cNvSpPr/>
            <p:nvPr/>
          </p:nvSpPr>
          <p:spPr>
            <a:xfrm>
              <a:off x="2657382" y="2824249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A6DC0AE-6ACD-4BFB-AB31-3510244EBCC7}"/>
                    </a:ext>
                  </a:extLst>
                </p:cNvPr>
                <p:cNvSpPr txBox="1"/>
                <p:nvPr/>
              </p:nvSpPr>
              <p:spPr>
                <a:xfrm>
                  <a:off x="3537335" y="1888964"/>
                  <a:ext cx="101662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A6DC0AE-6ACD-4BFB-AB31-3510244EBC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7335" y="1888964"/>
                  <a:ext cx="1016625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E9A7617-C2D3-4C70-8FB3-3581B3122CA7}"/>
                  </a:ext>
                </a:extLst>
              </p:cNvPr>
              <p:cNvSpPr txBox="1"/>
              <p:nvPr/>
            </p:nvSpPr>
            <p:spPr>
              <a:xfrm>
                <a:off x="7791887" y="1887800"/>
                <a:ext cx="10166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E9A7617-C2D3-4C70-8FB3-3581B3122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887" y="1887800"/>
                <a:ext cx="1016625" cy="307777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09458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01421-967C-4906-8863-745C6BAE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Операция сложения точек эллиптической кривой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8A8367-7537-4186-A5E0-0004164058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40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Объект 5">
                <a:extLst>
                  <a:ext uri="{FF2B5EF4-FFF2-40B4-BE49-F238E27FC236}">
                    <a16:creationId xmlns:a16="http://schemas.microsoft.com/office/drawing/2014/main" id="{4C988610-A69D-4DED-8A09-A525A4D0E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4196" y="831593"/>
                <a:ext cx="4657470" cy="10281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800"/>
                  <a:buFont typeface="Ubuntu"/>
                  <a:buChar char="●"/>
                  <a:defRPr sz="18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1pPr>
                <a:lvl2pPr marL="914400" marR="0" lvl="1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2pPr>
                <a:lvl3pPr marL="1371600" marR="0" lvl="2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3pPr>
                <a:lvl4pPr marL="1828800" marR="0" lvl="3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4pPr>
                <a:lvl5pPr marL="2286000" marR="0" lvl="4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5pPr>
                <a:lvl6pPr marL="2743200" marR="0" lvl="5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6pPr>
                <a:lvl7pPr marL="3200400" marR="0" lvl="6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7pPr>
                <a:lvl8pPr marL="3657600" marR="0" lvl="7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Ubuntu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8pPr>
                <a:lvl9pPr marL="4114800" marR="0" lvl="8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dk2"/>
                  </a:buClr>
                  <a:buSzPts val="1400"/>
                  <a:buFont typeface="Ubuntu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Ubuntu"/>
                    <a:ea typeface="Ubuntu"/>
                    <a:cs typeface="Ubuntu"/>
                    <a:sym typeface="Ubuntu"/>
                  </a:defRPr>
                </a:lvl9pPr>
              </a:lstStyle>
              <a:p>
                <a:r>
                  <a:rPr lang="ru-RU" dirty="0"/>
                  <a:t>Даны точки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ru-RU" dirty="0"/>
                  <a:t>Нужно найти точку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" name="Объект 5">
                <a:extLst>
                  <a:ext uri="{FF2B5EF4-FFF2-40B4-BE49-F238E27FC236}">
                    <a16:creationId xmlns:a16="http://schemas.microsoft.com/office/drawing/2014/main" id="{4C988610-A69D-4DED-8A09-A525A4D0E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96" y="831593"/>
                <a:ext cx="4657470" cy="10281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Объект 4">
                <a:extLst>
                  <a:ext uri="{FF2B5EF4-FFF2-40B4-BE49-F238E27FC236}">
                    <a16:creationId xmlns:a16="http://schemas.microsoft.com/office/drawing/2014/main" id="{E3958745-8A21-4AA8-872A-5B5A4A4B2B9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06576" y="831593"/>
                <a:ext cx="3816424" cy="38694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spcBef>
                    <a:spcPts val="1200"/>
                  </a:spcBef>
                </a:pPr>
                <a:r>
                  <a:rPr lang="ru-RU" sz="1800" u="sng" dirty="0"/>
                  <a:t>Случай </a:t>
                </a:r>
                <a14:m>
                  <m:oMath xmlns:m="http://schemas.openxmlformats.org/officeDocument/2006/math">
                    <m:r>
                      <a:rPr lang="en-US" sz="1800" b="0" i="1" u="sng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b="0" i="1" u="sng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sz="1800" u="sng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u="sng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sng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u="sng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u="sng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1800" i="1" u="sng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sng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u="sng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u="sng" dirty="0"/>
              </a:p>
              <a:p>
                <a:pPr marL="0" indent="0" algn="just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algn="just">
                  <a:spcBef>
                    <a:spcPts val="1200"/>
                  </a:spcBef>
                </a:pPr>
                <a:r>
                  <a:rPr lang="ru-RU" sz="1800" u="sng" dirty="0"/>
                  <a:t>Случай </a:t>
                </a:r>
                <a14:m>
                  <m:oMath xmlns:m="http://schemas.openxmlformats.org/officeDocument/2006/math">
                    <m:r>
                      <a:rPr lang="en-US" sz="1800" i="1" u="sng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i="1" u="sng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i="1" u="sng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sz="1800" u="sng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u="sng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u="sng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u="sng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u="sng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u="sng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u="sng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i="1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46088" indent="-446088" algn="just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1200"/>
                  </a:spcBef>
                </a:pPr>
                <a:r>
                  <a:rPr lang="ru-RU" sz="1800" u="sng" dirty="0"/>
                  <a:t>Случай </a:t>
                </a:r>
                <a14:m>
                  <m:oMath xmlns:m="http://schemas.openxmlformats.org/officeDocument/2006/math">
                    <m:r>
                      <a:rPr lang="en-US" sz="1800" i="1" u="sng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1" u="sng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u="sng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800" u="sng" dirty="0"/>
                  <a:t>, </a:t>
                </a:r>
                <a14:m>
                  <m:oMath xmlns:m="http://schemas.openxmlformats.org/officeDocument/2006/math">
                    <m:r>
                      <a:rPr lang="en-US" sz="1800" i="1" u="sng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1" u="sng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u="sng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00" i="1" u="sng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u="sng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u="sng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1800" u="sng" dirty="0"/>
              </a:p>
              <a:p>
                <a:pPr marL="0" indent="0" algn="just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num>
                                        <m:den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sSubSup>
                                        <m:sSubSup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Объект 4">
                <a:extLst>
                  <a:ext uri="{FF2B5EF4-FFF2-40B4-BE49-F238E27FC236}">
                    <a16:creationId xmlns:a16="http://schemas.microsoft.com/office/drawing/2014/main" id="{E3958745-8A21-4AA8-872A-5B5A4A4B2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6576" y="831593"/>
                <a:ext cx="3816424" cy="3869412"/>
              </a:xfrm>
              <a:prstGeom prst="rect">
                <a:avLst/>
              </a:prstGeom>
              <a:blipFill>
                <a:blip r:embed="rId3"/>
                <a:stretch>
                  <a:fillRect l="-958" t="-787" b="-14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AE3FEC12-D7AF-4F56-AC1A-B6B73AF41D84}"/>
              </a:ext>
            </a:extLst>
          </p:cNvPr>
          <p:cNvGrpSpPr/>
          <p:nvPr/>
        </p:nvGrpSpPr>
        <p:grpSpPr>
          <a:xfrm>
            <a:off x="975100" y="1764537"/>
            <a:ext cx="3464560" cy="2832401"/>
            <a:chOff x="1089400" y="1261617"/>
            <a:chExt cx="3464560" cy="2832401"/>
          </a:xfrm>
        </p:grpSpPr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FDF273F7-8485-4516-98B8-273635F1E712}"/>
                </a:ext>
              </a:extLst>
            </p:cNvPr>
            <p:cNvCxnSpPr/>
            <p:nvPr/>
          </p:nvCxnSpPr>
          <p:spPr>
            <a:xfrm>
              <a:off x="1089400" y="2847109"/>
              <a:ext cx="331634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 стрелкой 12">
              <a:extLst>
                <a:ext uri="{FF2B5EF4-FFF2-40B4-BE49-F238E27FC236}">
                  <a16:creationId xmlns:a16="http://schemas.microsoft.com/office/drawing/2014/main" id="{01440014-B9C2-471B-98C4-D3C8052581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673" y="1309254"/>
              <a:ext cx="0" cy="2784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13387D5C-167A-4F17-B2AF-C6ABEB2EFC41}"/>
                </a:ext>
              </a:extLst>
            </p:cNvPr>
            <p:cNvSpPr/>
            <p:nvPr/>
          </p:nvSpPr>
          <p:spPr>
            <a:xfrm rot="224111">
              <a:off x="1387901" y="1659565"/>
              <a:ext cx="2376055" cy="1267271"/>
            </a:xfrm>
            <a:custGeom>
              <a:avLst/>
              <a:gdLst>
                <a:gd name="connsiteX0" fmla="*/ 0 w 2376055"/>
                <a:gd name="connsiteY0" fmla="*/ 1420091 h 1420091"/>
                <a:gd name="connsiteX1" fmla="*/ 304800 w 2376055"/>
                <a:gd name="connsiteY1" fmla="*/ 464127 h 1420091"/>
                <a:gd name="connsiteX2" fmla="*/ 1357746 w 2376055"/>
                <a:gd name="connsiteY2" fmla="*/ 755072 h 1420091"/>
                <a:gd name="connsiteX3" fmla="*/ 2376055 w 2376055"/>
                <a:gd name="connsiteY3" fmla="*/ 0 h 1420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6055" h="1420091">
                  <a:moveTo>
                    <a:pt x="0" y="1420091"/>
                  </a:moveTo>
                  <a:cubicBezTo>
                    <a:pt x="39254" y="997527"/>
                    <a:pt x="78509" y="574963"/>
                    <a:pt x="304800" y="464127"/>
                  </a:cubicBezTo>
                  <a:cubicBezTo>
                    <a:pt x="531091" y="353291"/>
                    <a:pt x="1012537" y="832426"/>
                    <a:pt x="1357746" y="755072"/>
                  </a:cubicBezTo>
                  <a:cubicBezTo>
                    <a:pt x="1702955" y="677718"/>
                    <a:pt x="2200564" y="111991"/>
                    <a:pt x="2376055" y="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7476B182-E1B5-4E16-8F76-DED532773075}"/>
                </a:ext>
              </a:extLst>
            </p:cNvPr>
            <p:cNvSpPr/>
            <p:nvPr/>
          </p:nvSpPr>
          <p:spPr>
            <a:xfrm rot="21375889" flipV="1">
              <a:off x="1387901" y="2750698"/>
              <a:ext cx="2376055" cy="1267271"/>
            </a:xfrm>
            <a:custGeom>
              <a:avLst/>
              <a:gdLst>
                <a:gd name="connsiteX0" fmla="*/ 0 w 2376055"/>
                <a:gd name="connsiteY0" fmla="*/ 1420091 h 1420091"/>
                <a:gd name="connsiteX1" fmla="*/ 304800 w 2376055"/>
                <a:gd name="connsiteY1" fmla="*/ 464127 h 1420091"/>
                <a:gd name="connsiteX2" fmla="*/ 1357746 w 2376055"/>
                <a:gd name="connsiteY2" fmla="*/ 755072 h 1420091"/>
                <a:gd name="connsiteX3" fmla="*/ 2376055 w 2376055"/>
                <a:gd name="connsiteY3" fmla="*/ 0 h 1420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6055" h="1420091">
                  <a:moveTo>
                    <a:pt x="0" y="1420091"/>
                  </a:moveTo>
                  <a:cubicBezTo>
                    <a:pt x="39254" y="997527"/>
                    <a:pt x="78509" y="574963"/>
                    <a:pt x="304800" y="464127"/>
                  </a:cubicBezTo>
                  <a:cubicBezTo>
                    <a:pt x="531091" y="353291"/>
                    <a:pt x="1012537" y="832426"/>
                    <a:pt x="1357746" y="755072"/>
                  </a:cubicBezTo>
                  <a:cubicBezTo>
                    <a:pt x="1702955" y="677718"/>
                    <a:pt x="2200564" y="111991"/>
                    <a:pt x="2376055" y="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8D44476-D162-4BC8-815E-5A1DAECD525F}"/>
                    </a:ext>
                  </a:extLst>
                </p:cNvPr>
                <p:cNvSpPr txBox="1"/>
                <p:nvPr/>
              </p:nvSpPr>
              <p:spPr>
                <a:xfrm>
                  <a:off x="4062457" y="2865681"/>
                  <a:ext cx="33598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8D44476-D162-4BC8-815E-5A1DAECD5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2457" y="2865681"/>
                  <a:ext cx="335989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DB2E91C-CFB8-48E2-A753-2551A36FFFF5}"/>
                    </a:ext>
                  </a:extLst>
                </p:cNvPr>
                <p:cNvSpPr txBox="1"/>
                <p:nvPr/>
              </p:nvSpPr>
              <p:spPr>
                <a:xfrm>
                  <a:off x="2700789" y="1261617"/>
                  <a:ext cx="33842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DB2E91C-CFB8-48E2-A753-2551A36FFF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0789" y="1261617"/>
                  <a:ext cx="338426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AB45BCE3-C09D-4ED6-8424-A88BF990BA6C}"/>
                </a:ext>
              </a:extLst>
            </p:cNvPr>
            <p:cNvSpPr/>
            <p:nvPr/>
          </p:nvSpPr>
          <p:spPr>
            <a:xfrm>
              <a:off x="2657382" y="2824249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A1ACB00-38E2-4879-B8F6-716D526F81BD}"/>
                    </a:ext>
                  </a:extLst>
                </p:cNvPr>
                <p:cNvSpPr txBox="1"/>
                <p:nvPr/>
              </p:nvSpPr>
              <p:spPr>
                <a:xfrm>
                  <a:off x="3537335" y="1888964"/>
                  <a:ext cx="101662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A1ACB00-38E2-4879-B8F6-716D526F8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7335" y="1888964"/>
                  <a:ext cx="1016625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Овал 19">
            <a:extLst>
              <a:ext uri="{FF2B5EF4-FFF2-40B4-BE49-F238E27FC236}">
                <a16:creationId xmlns:a16="http://schemas.microsoft.com/office/drawing/2014/main" id="{92089EFE-35E5-493E-9B49-EBEB6DFEEB45}"/>
              </a:ext>
            </a:extLst>
          </p:cNvPr>
          <p:cNvSpPr/>
          <p:nvPr/>
        </p:nvSpPr>
        <p:spPr>
          <a:xfrm>
            <a:off x="1294388" y="2842808"/>
            <a:ext cx="76185" cy="7725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2F9D5FDF-986F-4437-A44B-3F91D84389B5}"/>
              </a:ext>
            </a:extLst>
          </p:cNvPr>
          <p:cNvCxnSpPr/>
          <p:nvPr/>
        </p:nvCxnSpPr>
        <p:spPr>
          <a:xfrm flipV="1">
            <a:off x="1089400" y="2300288"/>
            <a:ext cx="3061119" cy="63579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8B208895-0A6A-4578-9AA9-A583571E2A1E}"/>
              </a:ext>
            </a:extLst>
          </p:cNvPr>
          <p:cNvSpPr/>
          <p:nvPr/>
        </p:nvSpPr>
        <p:spPr>
          <a:xfrm>
            <a:off x="2120089" y="2677700"/>
            <a:ext cx="76185" cy="7725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27A043A8-FEBE-48C8-8DBD-CE39DF7E3CAE}"/>
              </a:ext>
            </a:extLst>
          </p:cNvPr>
          <p:cNvSpPr/>
          <p:nvPr/>
        </p:nvSpPr>
        <p:spPr>
          <a:xfrm>
            <a:off x="3334869" y="2420209"/>
            <a:ext cx="76185" cy="7725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1571A594-2162-48EC-96C3-2D5A2F762454}"/>
              </a:ext>
            </a:extLst>
          </p:cNvPr>
          <p:cNvCxnSpPr/>
          <p:nvPr/>
        </p:nvCxnSpPr>
        <p:spPr>
          <a:xfrm>
            <a:off x="3372969" y="1859725"/>
            <a:ext cx="0" cy="2629725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Овал 26">
            <a:extLst>
              <a:ext uri="{FF2B5EF4-FFF2-40B4-BE49-F238E27FC236}">
                <a16:creationId xmlns:a16="http://schemas.microsoft.com/office/drawing/2014/main" id="{F3ABFFCD-07AF-4894-8681-4434A23C297A}"/>
              </a:ext>
            </a:extLst>
          </p:cNvPr>
          <p:cNvSpPr/>
          <p:nvPr/>
        </p:nvSpPr>
        <p:spPr>
          <a:xfrm>
            <a:off x="3334868" y="4197260"/>
            <a:ext cx="76185" cy="7725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A2700C-48C6-4A89-AFD7-103B442CF938}"/>
                  </a:ext>
                </a:extLst>
              </p:cNvPr>
              <p:cNvSpPr txBox="1"/>
              <p:nvPr/>
            </p:nvSpPr>
            <p:spPr>
              <a:xfrm>
                <a:off x="1004268" y="2535031"/>
                <a:ext cx="3493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A2700C-48C6-4A89-AFD7-103B442CF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268" y="2535031"/>
                <a:ext cx="34932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7AA3079-8769-457C-B5B0-FD1DB0962263}"/>
                  </a:ext>
                </a:extLst>
              </p:cNvPr>
              <p:cNvSpPr txBox="1"/>
              <p:nvPr/>
            </p:nvSpPr>
            <p:spPr>
              <a:xfrm>
                <a:off x="2089174" y="2296807"/>
                <a:ext cx="3614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7AA3079-8769-457C-B5B0-FD1DB0962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174" y="2296807"/>
                <a:ext cx="361445" cy="307777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BECA7B-B222-4AB3-AFD3-13887724386C}"/>
                  </a:ext>
                </a:extLst>
              </p:cNvPr>
              <p:cNvSpPr txBox="1"/>
              <p:nvPr/>
            </p:nvSpPr>
            <p:spPr>
              <a:xfrm>
                <a:off x="3438149" y="3947355"/>
                <a:ext cx="6908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BECA7B-B222-4AB3-AFD3-138877243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149" y="3947355"/>
                <a:ext cx="690830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8318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F6A77-760D-4F77-AA73-B5A7BDD78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200" dirty="0"/>
              <a:t>Пример построения группы точек эллиптической кривой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EACD5B3-69C7-47F1-BD7D-A382EE9FFA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ru-RU" sz="1800" dirty="0">
                    <a:solidFill>
                      <a:srgbClr val="0070C0"/>
                    </a:solidFill>
                  </a:rPr>
                  <a:t>Множество точек эллиптической кривой вместе с бесконечно удаленной точкой ноль образует </a:t>
                </a:r>
                <a:r>
                  <a:rPr lang="ru-RU" sz="1800" b="1" dirty="0">
                    <a:solidFill>
                      <a:srgbClr val="0070C0"/>
                    </a:solidFill>
                  </a:rPr>
                  <a:t>абелеву группу </a:t>
                </a:r>
                <a:r>
                  <a:rPr lang="ru-RU" sz="1800" dirty="0">
                    <a:solidFill>
                      <a:srgbClr val="0070C0"/>
                    </a:solidFill>
                  </a:rPr>
                  <a:t>относительно операции сложения.</a:t>
                </a:r>
                <a:endParaRPr lang="en-US" sz="1800" dirty="0">
                  <a:solidFill>
                    <a:srgbClr val="0070C0"/>
                  </a:solidFill>
                </a:endParaRPr>
              </a:p>
              <a:p>
                <a:pPr algn="just"/>
                <a:r>
                  <a:rPr lang="ru-RU" sz="1800" dirty="0"/>
                  <a:t>Конечное поле: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0,1,2,3,4,5,6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−3,−2,−1,0,1,2,3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={0,±1,±2,±3}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algn="just"/>
                <a:r>
                  <a:rPr lang="ru-RU" sz="1800" dirty="0"/>
                  <a:t>Уравнение: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algn="just"/>
                <a:r>
                  <a:rPr lang="ru-RU" sz="1800" dirty="0"/>
                  <a:t>Условие гладкости: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=−135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 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7</m:t>
                        </m:r>
                      </m:e>
                    </m:d>
                  </m:oMath>
                </a14:m>
                <a:r>
                  <a:rPr lang="ru-RU" sz="1800" dirty="0"/>
                  <a:t>.</a:t>
                </a:r>
                <a:endParaRPr lang="en-US" sz="1800" dirty="0"/>
              </a:p>
              <a:p>
                <a:pPr algn="just"/>
                <a:endParaRPr lang="en-US" sz="1800" dirty="0"/>
              </a:p>
              <a:p>
                <a:pPr algn="just"/>
                <a:endParaRPr lang="en-US" sz="1800" dirty="0"/>
              </a:p>
              <a:p>
                <a:pPr algn="just"/>
                <a:endParaRPr lang="en-US" sz="1800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/>
                <a:endParaRPr lang="en-US" sz="1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/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1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EACD5B3-69C7-47F1-BD7D-A382EE9FFA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FE3F6F-E736-42E8-8052-4DD9DC1E14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41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DE0FB5C6-842E-4C8B-84D3-3AC25623663B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724332" y="2662159"/>
              <a:ext cx="4099128" cy="670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239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180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ru-RU" sz="16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2</a:t>
                          </a:r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3</a:t>
                          </a:r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180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6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DE0FB5C6-842E-4C8B-84D3-3AC2562366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0679349"/>
                  </p:ext>
                </p:extLst>
              </p:nvPr>
            </p:nvGraphicFramePr>
            <p:xfrm>
              <a:off x="724332" y="2662159"/>
              <a:ext cx="4099128" cy="670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239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1239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190" t="-3571" r="-704762" b="-1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3571" r="-596471" b="-1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02381" t="-3571" r="-503571" b="-1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302381" t="-3571" r="-403571" b="-1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2</a:t>
                          </a:r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3</a:t>
                          </a:r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190" t="-105455" r="-704762" b="-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9">
                <a:extLst>
                  <a:ext uri="{FF2B5EF4-FFF2-40B4-BE49-F238E27FC236}">
                    <a16:creationId xmlns:a16="http://schemas.microsoft.com/office/drawing/2014/main" id="{A4D7EF93-0B90-4F8A-98AE-EC22F42D8F54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70992" y="3909110"/>
              <a:ext cx="80649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2048">
                      <a:extLst>
                        <a:ext uri="{9D8B030D-6E8A-4147-A177-3AD203B41FA5}">
                          <a16:colId xmlns:a16="http://schemas.microsoft.com/office/drawing/2014/main" val="1000767599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701350319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39979692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3997587892"/>
                        </a:ext>
                      </a:extLst>
                    </a:gridCol>
                    <a:gridCol w="768087">
                      <a:extLst>
                        <a:ext uri="{9D8B030D-6E8A-4147-A177-3AD203B41FA5}">
                          <a16:colId xmlns:a16="http://schemas.microsoft.com/office/drawing/2014/main" val="3650933105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4193750152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3530377342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1657434421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2894798913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1848911923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1924300315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33314078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50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50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5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63039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−3, 0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 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−2, 1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−1, −2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0, 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0, 1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 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3, −3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3, 3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742519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9">
                <a:extLst>
                  <a:ext uri="{FF2B5EF4-FFF2-40B4-BE49-F238E27FC236}">
                    <a16:creationId xmlns:a16="http://schemas.microsoft.com/office/drawing/2014/main" id="{A4D7EF93-0B90-4F8A-98AE-EC22F42D8F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798402"/>
                  </p:ext>
                </p:extLst>
              </p:nvPr>
            </p:nvGraphicFramePr>
            <p:xfrm>
              <a:off x="670992" y="3909110"/>
              <a:ext cx="80649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2048">
                      <a:extLst>
                        <a:ext uri="{9D8B030D-6E8A-4147-A177-3AD203B41FA5}">
                          <a16:colId xmlns:a16="http://schemas.microsoft.com/office/drawing/2014/main" val="1000767599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701350319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39979692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3997587892"/>
                        </a:ext>
                      </a:extLst>
                    </a:gridCol>
                    <a:gridCol w="768087">
                      <a:extLst>
                        <a:ext uri="{9D8B030D-6E8A-4147-A177-3AD203B41FA5}">
                          <a16:colId xmlns:a16="http://schemas.microsoft.com/office/drawing/2014/main" val="3650933105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4193750152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3530377342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1657434421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2894798913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1848911923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1924300315"/>
                        </a:ext>
                      </a:extLst>
                    </a:gridCol>
                    <a:gridCol w="672075">
                      <a:extLst>
                        <a:ext uri="{9D8B030D-6E8A-4147-A177-3AD203B41FA5}">
                          <a16:colId xmlns:a16="http://schemas.microsoft.com/office/drawing/2014/main" val="33314078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08" t="-1639" r="-1767606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1017" t="-1639" r="-963559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1017" t="-1639" r="-863559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58824" t="-1639" r="-756303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38889" t="-1639" r="-614286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02727" t="-1639" r="-603636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02727" t="-1639" r="-503636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96396" t="-1639" r="-399099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803636" t="-1639" r="-302727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903636" t="-1639" r="-202727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994595" t="-1639" r="-100901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104545" t="-1639" r="-1818" b="-1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63039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08" t="-101639" r="-1767606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1017" t="-101639" r="-963559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1017" t="-101639" r="-863559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58824" t="-101639" r="-756303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38889" t="-101639" r="-614286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02727" t="-101639" r="-603636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02727" t="-101639" r="-503636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96396" t="-101639" r="-399099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803636" t="-101639" r="-302727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903636" t="-101639" r="-202727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994595" t="-101639" r="-100901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104545" t="-101639" r="-1818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2519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11332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D35BE-79E0-43E1-9114-121B4B59A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исследования точек эллиптической кривой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9C4AD8-9C3F-4702-970A-D947F79874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42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60634A14-1333-4119-A6C5-78095103E6E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03860" y="1028700"/>
                <a:ext cx="4474840" cy="38177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ru-RU" sz="2000" dirty="0"/>
                  <a:t>Точка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−3,0</m:t>
                        </m:r>
                      </m:e>
                    </m:d>
                  </m:oMath>
                </a14:m>
                <a:r>
                  <a:rPr lang="en-US" sz="2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</a:t>
                </a:r>
              </a:p>
              <a:p>
                <a:pPr lvl="1" algn="just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ru-RU" sz="16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sSup>
                                          <m:sSupPr>
                                            <m:ctrlPr>
                                              <a:rPr lang="ru-RU" sz="160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ru-RU" sz="16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ru-RU" sz="1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0=−3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sSup>
                                      <m:sSupPr>
                                        <m:ctrlP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n-US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  <m:d>
                              <m:d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ru-RU" sz="16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e>
                                </m:d>
                              </m:e>
                            </m:d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1=0</m:t>
                            </m:r>
                            <m:r>
                              <a:rPr lang="ru-RU" sz="1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en-US" sz="16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0,−1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</a:t>
                </a:r>
              </a:p>
              <a:p>
                <a:pPr lvl="1" algn="just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  <m: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ru-RU" sz="16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d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den>
                                </m:f>
                              </m:e>
                            </m:d>
                            <m:d>
                              <m:d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6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=−1</m:t>
                            </m:r>
                            <m:r>
                              <a:rPr lang="ru-RU" sz="1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60634A14-1333-4119-A6C5-78095103E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860" y="1028700"/>
                <a:ext cx="4474840" cy="3817798"/>
              </a:xfrm>
              <a:prstGeom prst="rect">
                <a:avLst/>
              </a:prstGeom>
              <a:blipFill>
                <a:blip r:embed="rId2"/>
                <a:stretch>
                  <a:fillRect l="-1226" t="-79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4">
                <a:extLst>
                  <a:ext uri="{FF2B5EF4-FFF2-40B4-BE49-F238E27FC236}">
                    <a16:creationId xmlns:a16="http://schemas.microsoft.com/office/drawing/2014/main" id="{20B6FC1B-3DFC-4559-9860-E9AC22B1A7F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3822" y="2527940"/>
                <a:ext cx="2987658" cy="7200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6" name="Объект 4">
                <a:extLst>
                  <a:ext uri="{FF2B5EF4-FFF2-40B4-BE49-F238E27FC236}">
                    <a16:creationId xmlns:a16="http://schemas.microsoft.com/office/drawing/2014/main" id="{20B6FC1B-3DFC-4559-9860-E9AC22B1A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43822" y="2527940"/>
                <a:ext cx="2987658" cy="720080"/>
              </a:xfrm>
              <a:prstGeom prst="rect">
                <a:avLst/>
              </a:prstGeom>
              <a:blipFill>
                <a:blip r:embed="rId3"/>
                <a:stretch>
                  <a:fillRect t="-3390" r="-6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авая фигурная скобка 6">
            <a:extLst>
              <a:ext uri="{FF2B5EF4-FFF2-40B4-BE49-F238E27FC236}">
                <a16:creationId xmlns:a16="http://schemas.microsoft.com/office/drawing/2014/main" id="{BECFCEA4-93EF-454C-8CCE-849D563A05B2}"/>
              </a:ext>
            </a:extLst>
          </p:cNvPr>
          <p:cNvSpPr/>
          <p:nvPr/>
        </p:nvSpPr>
        <p:spPr>
          <a:xfrm>
            <a:off x="4300995" y="1028700"/>
            <a:ext cx="576064" cy="3718560"/>
          </a:xfrm>
          <a:prstGeom prst="rightBrace">
            <a:avLst>
              <a:gd name="adj1" fmla="val 8333"/>
              <a:gd name="adj2" fmla="val 50208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42024255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27F8622-6038-43B3-AB60-9586B8449F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Алгоритмы вычисления наибольшего общего делителя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2A279AB0-B2DE-4F93-A5B4-89DC844EF6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349770-5855-4BC2-BF75-2F3D69C1056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1269190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B4520-A6FE-4EAE-8CCC-A9CA6A30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Наибольший общий делитель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E1C98C7-3D64-47DC-B92F-1EC0D415D04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u="sng" dirty="0"/>
                  <a:t>Наибольшим общим делителем</a:t>
                </a:r>
                <a:r>
                  <a:rPr lang="ru-RU" dirty="0"/>
                  <a:t> целых чисел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ru-RU" dirty="0"/>
                  <a:t> (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НОД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dirty="0"/>
                  <a:t>) называется такое целое число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ru-RU" dirty="0"/>
                  <a:t>, которое удовлетворяет следующим условиям: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dirty="0"/>
                  <a:t> есть общий делитель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; 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ru-RU" dirty="0"/>
                  <a:t> есть любой общий делитель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, то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dirty="0"/>
                  <a:t> делится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/>
                      <m:t>НОД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dirty="0"/>
                  <a:t>, то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 называются </a:t>
                </a:r>
                <a:r>
                  <a:rPr lang="ru-RU" u="sng" dirty="0"/>
                  <a:t>взаимно простыми числами</a:t>
                </a:r>
                <a:r>
                  <a:rPr lang="ru-RU" dirty="0"/>
                  <a:t>.</a:t>
                </a:r>
                <a:endParaRPr lang="en-US" dirty="0"/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Целое число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, делители которого исчерпываются числами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, называется </a:t>
                </a:r>
                <a:r>
                  <a:rPr lang="ru-RU" u="sng" dirty="0"/>
                  <a:t>простым числом</a:t>
                </a:r>
                <a:r>
                  <a:rPr lang="en-US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b="1" dirty="0"/>
                  <a:t>Основная теорема арифметики</a:t>
                </a:r>
                <a:r>
                  <a:rPr lang="ru-RU" dirty="0"/>
                  <a:t>. Каждое натуральное число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ru-RU" dirty="0"/>
                  <a:t> может быть записано в виде произведения простых чисел, не обязательно различных, а именно: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, причём эта запись единственна с точностью до порядка сомножителей.</a:t>
                </a:r>
                <a:endParaRPr lang="en-US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E1C98C7-3D64-47DC-B92F-1EC0D415D0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 b="-1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6EBFAF-399E-4E22-BB46-10B475F4D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44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5960590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AA25-237E-419B-8808-6DF9223FF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Деление с остатком в кольце целых чисел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058C332-8BE3-470E-93AB-53AFBB58599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b="1" dirty="0"/>
                  <a:t>Теорема</a:t>
                </a:r>
                <a:r>
                  <a:rPr lang="ru-RU" dirty="0"/>
                  <a:t>. Для заданных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существуют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ru-RU" dirty="0"/>
                  <a:t>, такие, что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algn="just">
                  <a:spcBef>
                    <a:spcPts val="600"/>
                  </a:spcBef>
                </a:pPr>
                <a:r>
                  <a:rPr lang="ru-RU" b="1" dirty="0"/>
                  <a:t>Теорема</a:t>
                </a:r>
                <a:r>
                  <a:rPr lang="ru-RU" dirty="0"/>
                  <a:t>. В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ru-RU" dirty="0"/>
                  <a:t> для любых двух целых чисел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 существует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</a:rPr>
                      <m:t>НОД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dirty="0"/>
                  <a:t>. Более того, существуют целые числа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ru-RU" dirty="0"/>
                  <a:t>, такие, что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Запись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dirty="0"/>
                  <a:t> будем называть </a:t>
                </a:r>
                <a:r>
                  <a:rPr lang="ru-RU" u="sng" dirty="0"/>
                  <a:t>целочисленной линейной комбинацией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Алгоритмы нахождения наибольшего общего делителя целых чисел: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алгоритм Евклида.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расширенный алгоритм Евклида.</a:t>
                </a:r>
                <a:endParaRPr lang="en-US" sz="1600" dirty="0"/>
              </a:p>
              <a:p>
                <a:pPr>
                  <a:spcBef>
                    <a:spcPts val="600"/>
                  </a:spcBef>
                </a:pPr>
                <a:endParaRPr lang="ru-RU" sz="16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058C332-8BE3-470E-93AB-53AFBB5859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3873C7-2E5D-4CE8-B17F-0D94E1FCD9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45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098381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9D58C2-92C7-49F2-8281-4C70ACB4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Евклида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353D211-D145-4CAE-B36F-94D1959110D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b="1" dirty="0"/>
                  <a:t>Вход</a:t>
                </a:r>
                <a:r>
                  <a:rPr lang="ru-RU" dirty="0"/>
                  <a:t>:	целые числа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dirty="0"/>
                  <a:t>. </a:t>
                </a:r>
              </a:p>
              <a:p>
                <a:r>
                  <a:rPr lang="ru-RU" b="1" dirty="0"/>
                  <a:t>Выход</a:t>
                </a:r>
                <a:r>
                  <a:rPr lang="ru-RU" dirty="0"/>
                  <a:t>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=НОД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dirty="0"/>
                  <a:t>. </a:t>
                </a:r>
              </a:p>
              <a:p>
                <a:pPr lvl="1"/>
                <a:r>
                  <a:rPr lang="ru-RU" sz="1800" dirty="0"/>
                  <a:t>Шаг 1. Пока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ru-RU" sz="1800" dirty="0"/>
                  <a:t>, выполнять следующее: </a:t>
                </a:r>
              </a:p>
              <a:p>
                <a:pPr lvl="2"/>
                <a:r>
                  <a:rPr lang="ru-RU" sz="1800" dirty="0"/>
                  <a:t>Шаг 1.1. Вычислить </a:t>
                </a:r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sz="1800" dirty="0"/>
                  <a:t>.</a:t>
                </a:r>
                <a:endParaRPr lang="en-US" sz="1800" dirty="0"/>
              </a:p>
              <a:p>
                <a:pPr lvl="2"/>
                <a:r>
                  <a:rPr lang="ru-RU" sz="1800" dirty="0"/>
                  <a:t>Шаг 1.2 Присвоить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ru-RU" sz="1800" dirty="0"/>
                  <a:t>. </a:t>
                </a:r>
              </a:p>
              <a:p>
                <a:pPr lvl="1"/>
                <a:r>
                  <a:rPr lang="ru-RU" sz="1800" dirty="0"/>
                  <a:t>Шаг 2. Возврат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800" dirty="0"/>
                  <a:t>).</a:t>
                </a:r>
              </a:p>
              <a:p>
                <a:pPr marL="11430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353D211-D145-4CAE-B36F-94D195911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6AE48C-DDBC-4916-A4C7-AEEF7D49BB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9739758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652D78-1984-4770-B30A-171FC94BC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Расширенный алгоритм Евклида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EE9273C-A4E7-4C97-833C-22C4CA0A895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b="1" dirty="0"/>
                  <a:t>Вход</a:t>
                </a:r>
                <a:r>
                  <a:rPr lang="ru-RU" dirty="0"/>
                  <a:t>:	целые числа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dirty="0"/>
                  <a:t>. </a:t>
                </a:r>
              </a:p>
              <a:p>
                <a:r>
                  <a:rPr lang="ru-RU" b="1" dirty="0"/>
                  <a:t>Выход</a:t>
                </a:r>
                <a:r>
                  <a:rPr lang="ru-RU" dirty="0"/>
                  <a:t>: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=НОД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dirty="0"/>
                  <a:t> и целые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dirty="0"/>
                  <a:t>, такие,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dirty="0"/>
                  <a:t>. </a:t>
                </a:r>
              </a:p>
              <a:p>
                <a:pPr lvl="1"/>
                <a:r>
                  <a:rPr lang="ru-RU" sz="1800" dirty="0"/>
                  <a:t>Шаг 1. Полагаем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800" i="1">
                        <a:latin typeface="Cambria Math" panose="02040503050406030204" pitchFamily="18" charset="0"/>
                      </a:rPr>
                      <m:t>←1</m:t>
                    </m:r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800" i="1">
                        <a:latin typeface="Cambria Math" panose="02040503050406030204" pitchFamily="18" charset="0"/>
                      </a:rPr>
                      <m:t>←0</m:t>
                    </m:r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800" i="1">
                        <a:latin typeface="Cambria Math" panose="02040503050406030204" pitchFamily="18" charset="0"/>
                      </a:rPr>
                      <m:t>←0</m:t>
                    </m:r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800" i="1">
                        <a:latin typeface="Cambria Math" panose="02040503050406030204" pitchFamily="18" charset="0"/>
                      </a:rPr>
                      <m:t>←1</m:t>
                    </m:r>
                  </m:oMath>
                </a14:m>
                <a:r>
                  <a:rPr lang="ru-RU" sz="1800" dirty="0"/>
                  <a:t>. </a:t>
                </a:r>
              </a:p>
              <a:p>
                <a:pPr lvl="1"/>
                <a:r>
                  <a:rPr lang="ru-RU" sz="1800" dirty="0"/>
                  <a:t>Шаг 2. Пока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sz="1800" dirty="0"/>
                  <a:t>, выполнять следующее: </a:t>
                </a:r>
              </a:p>
              <a:p>
                <a:pPr lvl="2"/>
                <a:r>
                  <a:rPr lang="ru-RU" sz="1800" dirty="0"/>
                  <a:t>Шаг 2.1.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←[</m:t>
                    </m:r>
                    <m:f>
                      <m:fPr>
                        <m:type m:val="skw"/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ru-RU" sz="18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𝑞𝑏</m:t>
                    </m:r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𝑞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𝑞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800" dirty="0"/>
                  <a:t>.</a:t>
                </a:r>
              </a:p>
              <a:p>
                <a:pPr lvl="2"/>
                <a:r>
                  <a:rPr lang="ru-RU" sz="1800" dirty="0"/>
                  <a:t>Шаг 2.2.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800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8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800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8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1800" dirty="0"/>
                  <a:t>. </a:t>
                </a:r>
              </a:p>
              <a:p>
                <a:pPr lvl="1"/>
                <a:r>
                  <a:rPr lang="ru-RU" sz="1800" dirty="0"/>
                  <a:t>Шаг 3.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и возврат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800" dirty="0"/>
                  <a:t>.</a:t>
                </a:r>
              </a:p>
              <a:p>
                <a:endParaRPr lang="ru-RU" sz="14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EE9273C-A4E7-4C97-833C-22C4CA0A89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A45CD3-E187-40F6-A026-1A78DF1BE6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47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926502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CA177-8829-476F-A14F-6500BF9C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расширенного алгоритма Евклида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3AD6E3B5-4CDD-47C6-8644-15BEB622EF5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sz="1800" b="1" dirty="0"/>
                  <a:t>Вход</a:t>
                </a:r>
                <a:r>
                  <a:rPr lang="ru-RU" sz="1800" dirty="0"/>
                  <a:t>:	целые числа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1120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sz="1800" dirty="0"/>
                  <a:t>.</a:t>
                </a:r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ru-RU" sz="1800" b="1" dirty="0"/>
              </a:p>
              <a:p>
                <a:r>
                  <a:rPr lang="ru-RU" sz="1800" b="1" dirty="0"/>
                  <a:t>Выход</a:t>
                </a:r>
                <a:r>
                  <a:rPr lang="ru-RU" sz="1800" dirty="0"/>
                  <a:t>:	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1120−373∙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НОД</m:t>
                    </m:r>
                    <m:d>
                      <m:dPr>
                        <m:ctrlPr>
                          <a:rPr lang="ru-RU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b="0" i="1" smtClean="0">
                            <a:latin typeface="Cambria Math" panose="02040503050406030204" pitchFamily="18" charset="0"/>
                          </a:rPr>
                          <m:t>1120, 3</m:t>
                        </m:r>
                      </m:e>
                    </m:d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ru-RU" sz="18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3AD6E3B5-4CDD-47C6-8644-15BEB622EF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509D41-9952-47B7-BD12-7FFB01FEAC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48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Объект 3">
                <a:extLst>
                  <a:ext uri="{FF2B5EF4-FFF2-40B4-BE49-F238E27FC236}">
                    <a16:creationId xmlns:a16="http://schemas.microsoft.com/office/drawing/2014/main" id="{7E73A7B0-C3BE-4E23-B3A1-F38D068CC547}"/>
                  </a:ext>
                </a:extLst>
              </p:cNvPr>
              <p:cNvGraphicFramePr>
                <a:graphicFrameLocks/>
              </p:cNvGraphicFramePr>
              <p:nvPr>
                <p:extLst/>
              </p:nvPr>
            </p:nvGraphicFramePr>
            <p:xfrm>
              <a:off x="708224" y="1545265"/>
              <a:ext cx="7727552" cy="184910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733112">
                      <a:extLst>
                        <a:ext uri="{9D8B030D-6E8A-4147-A177-3AD203B41FA5}">
                          <a16:colId xmlns:a16="http://schemas.microsoft.com/office/drawing/2014/main" val="3007874786"/>
                        </a:ext>
                      </a:extLst>
                    </a:gridCol>
                    <a:gridCol w="721001">
                      <a:extLst>
                        <a:ext uri="{9D8B030D-6E8A-4147-A177-3AD203B41FA5}">
                          <a16:colId xmlns:a16="http://schemas.microsoft.com/office/drawing/2014/main" val="6151276"/>
                        </a:ext>
                      </a:extLst>
                    </a:gridCol>
                    <a:gridCol w="721001">
                      <a:extLst>
                        <a:ext uri="{9D8B030D-6E8A-4147-A177-3AD203B41FA5}">
                          <a16:colId xmlns:a16="http://schemas.microsoft.com/office/drawing/2014/main" val="1034221106"/>
                        </a:ext>
                      </a:extLst>
                    </a:gridCol>
                    <a:gridCol w="885710">
                      <a:extLst>
                        <a:ext uri="{9D8B030D-6E8A-4147-A177-3AD203B41FA5}">
                          <a16:colId xmlns:a16="http://schemas.microsoft.com/office/drawing/2014/main" val="2850697501"/>
                        </a:ext>
                      </a:extLst>
                    </a:gridCol>
                    <a:gridCol w="885710">
                      <a:extLst>
                        <a:ext uri="{9D8B030D-6E8A-4147-A177-3AD203B41FA5}">
                          <a16:colId xmlns:a16="http://schemas.microsoft.com/office/drawing/2014/main" val="1616808370"/>
                        </a:ext>
                      </a:extLst>
                    </a:gridCol>
                    <a:gridCol w="721001">
                      <a:extLst>
                        <a:ext uri="{9D8B030D-6E8A-4147-A177-3AD203B41FA5}">
                          <a16:colId xmlns:a16="http://schemas.microsoft.com/office/drawing/2014/main" val="2978430645"/>
                        </a:ext>
                      </a:extLst>
                    </a:gridCol>
                    <a:gridCol w="721001">
                      <a:extLst>
                        <a:ext uri="{9D8B030D-6E8A-4147-A177-3AD203B41FA5}">
                          <a16:colId xmlns:a16="http://schemas.microsoft.com/office/drawing/2014/main" val="1755565580"/>
                        </a:ext>
                      </a:extLst>
                    </a:gridCol>
                    <a:gridCol w="721001">
                      <a:extLst>
                        <a:ext uri="{9D8B030D-6E8A-4147-A177-3AD203B41FA5}">
                          <a16:colId xmlns:a16="http://schemas.microsoft.com/office/drawing/2014/main" val="2377766332"/>
                        </a:ext>
                      </a:extLst>
                    </a:gridCol>
                    <a:gridCol w="732305">
                      <a:extLst>
                        <a:ext uri="{9D8B030D-6E8A-4147-A177-3AD203B41FA5}">
                          <a16:colId xmlns:a16="http://schemas.microsoft.com/office/drawing/2014/main" val="1245729060"/>
                        </a:ext>
                      </a:extLst>
                    </a:gridCol>
                    <a:gridCol w="885710">
                      <a:extLst>
                        <a:ext uri="{9D8B030D-6E8A-4147-A177-3AD203B41FA5}">
                          <a16:colId xmlns:a16="http://schemas.microsoft.com/office/drawing/2014/main" val="3462043172"/>
                        </a:ext>
                      </a:extLst>
                    </a:gridCol>
                  </a:tblGrid>
                  <a:tr h="46227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q</a:t>
                          </a:r>
                          <a:endParaRPr lang="ru-RU" sz="18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r</a:t>
                          </a:r>
                          <a:endParaRPr lang="ru-RU" sz="18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x</a:t>
                          </a:r>
                          <a:endParaRPr lang="ru-RU" sz="18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y</a:t>
                          </a:r>
                          <a:endParaRPr lang="ru-RU" sz="18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a</a:t>
                          </a:r>
                          <a:endParaRPr lang="ru-RU" sz="18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b</a:t>
                          </a:r>
                          <a:endParaRPr lang="ru-RU" sz="18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x</a:t>
                          </a:r>
                          <a:r>
                            <a:rPr lang="ru-RU" sz="1800" b="1" baseline="-25000" dirty="0">
                              <a:effectLst/>
                            </a:rPr>
                            <a:t>2</a:t>
                          </a:r>
                          <a:endParaRPr lang="ru-RU" sz="1800" b="1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x</a:t>
                          </a:r>
                          <a:r>
                            <a:rPr lang="ru-RU" sz="1800" b="1" baseline="-25000" dirty="0">
                              <a:effectLst/>
                            </a:rPr>
                            <a:t>1</a:t>
                          </a:r>
                          <a:endParaRPr lang="ru-RU" sz="1800" b="1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y</a:t>
                          </a:r>
                          <a:r>
                            <a:rPr lang="ru-RU" sz="1800" b="1" baseline="-25000" dirty="0">
                              <a:effectLst/>
                            </a:rPr>
                            <a:t>2</a:t>
                          </a:r>
                          <a:endParaRPr lang="ru-RU" sz="1800" b="1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y</a:t>
                          </a:r>
                          <a:r>
                            <a:rPr lang="ru-RU" sz="1800" b="1" baseline="-25000" dirty="0">
                              <a:effectLst/>
                            </a:rPr>
                            <a:t>1</a:t>
                          </a:r>
                          <a:endParaRPr lang="ru-RU" sz="1800" b="1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87797952"/>
                      </a:ext>
                    </a:extLst>
                  </a:tr>
                  <a:tr h="46227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1120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3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0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0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1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754354004"/>
                      </a:ext>
                    </a:extLst>
                  </a:tr>
                  <a:tr h="46227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373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ru-RU" sz="1800" dirty="0">
                              <a:effectLst/>
                            </a:rPr>
                            <a:t>373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3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1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0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1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ru-RU" sz="1800" dirty="0">
                              <a:effectLst/>
                            </a:rPr>
                            <a:t>373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4005942"/>
                      </a:ext>
                    </a:extLst>
                  </a:tr>
                  <a:tr h="46227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3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0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-3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1120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1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0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ru-RU" sz="1800" dirty="0">
                              <a:effectLst/>
                            </a:rPr>
                            <a:t>3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ru-RU" sz="1800" dirty="0">
                              <a:effectLst/>
                            </a:rPr>
                            <a:t>373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1120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911082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Объект 3">
                <a:extLst>
                  <a:ext uri="{FF2B5EF4-FFF2-40B4-BE49-F238E27FC236}">
                    <a16:creationId xmlns:a16="http://schemas.microsoft.com/office/drawing/2014/main" id="{7E73A7B0-C3BE-4E23-B3A1-F38D068CC54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97014468"/>
                  </p:ext>
                </p:extLst>
              </p:nvPr>
            </p:nvGraphicFramePr>
            <p:xfrm>
              <a:off x="708224" y="1545265"/>
              <a:ext cx="7727552" cy="184910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733112">
                      <a:extLst>
                        <a:ext uri="{9D8B030D-6E8A-4147-A177-3AD203B41FA5}">
                          <a16:colId xmlns:a16="http://schemas.microsoft.com/office/drawing/2014/main" val="3007874786"/>
                        </a:ext>
                      </a:extLst>
                    </a:gridCol>
                    <a:gridCol w="721001">
                      <a:extLst>
                        <a:ext uri="{9D8B030D-6E8A-4147-A177-3AD203B41FA5}">
                          <a16:colId xmlns:a16="http://schemas.microsoft.com/office/drawing/2014/main" val="6151276"/>
                        </a:ext>
                      </a:extLst>
                    </a:gridCol>
                    <a:gridCol w="721001">
                      <a:extLst>
                        <a:ext uri="{9D8B030D-6E8A-4147-A177-3AD203B41FA5}">
                          <a16:colId xmlns:a16="http://schemas.microsoft.com/office/drawing/2014/main" val="1034221106"/>
                        </a:ext>
                      </a:extLst>
                    </a:gridCol>
                    <a:gridCol w="885710">
                      <a:extLst>
                        <a:ext uri="{9D8B030D-6E8A-4147-A177-3AD203B41FA5}">
                          <a16:colId xmlns:a16="http://schemas.microsoft.com/office/drawing/2014/main" val="2850697501"/>
                        </a:ext>
                      </a:extLst>
                    </a:gridCol>
                    <a:gridCol w="885710">
                      <a:extLst>
                        <a:ext uri="{9D8B030D-6E8A-4147-A177-3AD203B41FA5}">
                          <a16:colId xmlns:a16="http://schemas.microsoft.com/office/drawing/2014/main" val="1616808370"/>
                        </a:ext>
                      </a:extLst>
                    </a:gridCol>
                    <a:gridCol w="721001">
                      <a:extLst>
                        <a:ext uri="{9D8B030D-6E8A-4147-A177-3AD203B41FA5}">
                          <a16:colId xmlns:a16="http://schemas.microsoft.com/office/drawing/2014/main" val="2978430645"/>
                        </a:ext>
                      </a:extLst>
                    </a:gridCol>
                    <a:gridCol w="721001">
                      <a:extLst>
                        <a:ext uri="{9D8B030D-6E8A-4147-A177-3AD203B41FA5}">
                          <a16:colId xmlns:a16="http://schemas.microsoft.com/office/drawing/2014/main" val="1755565580"/>
                        </a:ext>
                      </a:extLst>
                    </a:gridCol>
                    <a:gridCol w="721001">
                      <a:extLst>
                        <a:ext uri="{9D8B030D-6E8A-4147-A177-3AD203B41FA5}">
                          <a16:colId xmlns:a16="http://schemas.microsoft.com/office/drawing/2014/main" val="2377766332"/>
                        </a:ext>
                      </a:extLst>
                    </a:gridCol>
                    <a:gridCol w="732305">
                      <a:extLst>
                        <a:ext uri="{9D8B030D-6E8A-4147-A177-3AD203B41FA5}">
                          <a16:colId xmlns:a16="http://schemas.microsoft.com/office/drawing/2014/main" val="1245729060"/>
                        </a:ext>
                      </a:extLst>
                    </a:gridCol>
                    <a:gridCol w="885710">
                      <a:extLst>
                        <a:ext uri="{9D8B030D-6E8A-4147-A177-3AD203B41FA5}">
                          <a16:colId xmlns:a16="http://schemas.microsoft.com/office/drawing/2014/main" val="3462043172"/>
                        </a:ext>
                      </a:extLst>
                    </a:gridCol>
                  </a:tblGrid>
                  <a:tr h="46227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q</a:t>
                          </a:r>
                          <a:endParaRPr lang="ru-RU" sz="18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r</a:t>
                          </a:r>
                          <a:endParaRPr lang="ru-RU" sz="18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x</a:t>
                          </a:r>
                          <a:endParaRPr lang="ru-RU" sz="18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y</a:t>
                          </a:r>
                          <a:endParaRPr lang="ru-RU" sz="18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a</a:t>
                          </a:r>
                          <a:endParaRPr lang="ru-RU" sz="18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b</a:t>
                          </a:r>
                          <a:endParaRPr lang="ru-RU" sz="18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x</a:t>
                          </a:r>
                          <a:r>
                            <a:rPr lang="ru-RU" sz="1800" b="1" baseline="-25000" dirty="0">
                              <a:effectLst/>
                            </a:rPr>
                            <a:t>2</a:t>
                          </a:r>
                          <a:endParaRPr lang="ru-RU" sz="1800" b="1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x</a:t>
                          </a:r>
                          <a:r>
                            <a:rPr lang="ru-RU" sz="1800" b="1" baseline="-25000" dirty="0">
                              <a:effectLst/>
                            </a:rPr>
                            <a:t>1</a:t>
                          </a:r>
                          <a:endParaRPr lang="ru-RU" sz="1800" b="1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y</a:t>
                          </a:r>
                          <a:r>
                            <a:rPr lang="ru-RU" sz="1800" b="1" baseline="-25000" dirty="0">
                              <a:effectLst/>
                            </a:rPr>
                            <a:t>2</a:t>
                          </a:r>
                          <a:endParaRPr lang="ru-RU" sz="1800" b="1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effectLst/>
                            </a:rPr>
                            <a:t>y</a:t>
                          </a:r>
                          <a:r>
                            <a:rPr lang="ru-RU" sz="1800" b="1" baseline="-25000" dirty="0">
                              <a:effectLst/>
                            </a:rPr>
                            <a:t>1</a:t>
                          </a:r>
                          <a:endParaRPr lang="ru-RU" sz="1800" b="1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87797952"/>
                      </a:ext>
                    </a:extLst>
                  </a:tr>
                  <a:tr h="46227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33" t="-101316" r="-958333" b="-2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1681" t="-101316" r="-866387" b="-2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3390" t="-101316" r="-773729" b="-2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46897" t="-101316" r="-529655" b="-2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1120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3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0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0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1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754354004"/>
                      </a:ext>
                    </a:extLst>
                  </a:tr>
                  <a:tr h="46227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373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46897" t="-201316" r="-529655" b="-1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3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1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0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1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75172" t="-201316" r="-1379" b="-1118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005942"/>
                      </a:ext>
                    </a:extLst>
                  </a:tr>
                  <a:tr h="46227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3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0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-3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1120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1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0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>
                              <a:effectLst/>
                            </a:rPr>
                            <a:t>1</a:t>
                          </a:r>
                          <a:endParaRPr lang="ru-RU" sz="18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43697" t="-301316" r="-224370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36667" t="-301316" r="-122500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</a:rPr>
                            <a:t>1120</a:t>
                          </a:r>
                          <a:endParaRPr lang="ru-RU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911082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97251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D7582C47-2B3F-4D6C-898F-0B4DCC6D54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Некоторые теоретико-числовые свойства колец классов вычетов</a:t>
            </a:r>
          </a:p>
        </p:txBody>
      </p:sp>
      <p:sp>
        <p:nvSpPr>
          <p:cNvPr id="9" name="Подзаголовок 8">
            <a:extLst>
              <a:ext uri="{FF2B5EF4-FFF2-40B4-BE49-F238E27FC236}">
                <a16:creationId xmlns:a16="http://schemas.microsoft.com/office/drawing/2014/main" id="{4F280777-A25C-47BA-9B3D-4FC0EAD31B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3380A9-7A1C-4F15-A27F-97BD48AAAAD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lvl="0"/>
            <a:fld id="{00000000-1234-1234-1234-123412341234}" type="slidenum">
              <a:rPr lang="ru" smtClean="0"/>
              <a:pPr lvl="0"/>
              <a:t>49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6923546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422ED-978F-4F52-A4D2-F2B536D4C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Эйлера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22D4CB0-384C-48EF-98F4-D864F0AFB58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u="sng" dirty="0"/>
                  <a:t>Функцией Эйлера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ru-RU" dirty="0"/>
                  <a:t> называется число натуральных чисел, не превосходящих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 и взаимно простых с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b="1" dirty="0"/>
                  <a:t>Теорема</a:t>
                </a:r>
                <a:r>
                  <a:rPr lang="ru-RU" dirty="0"/>
                  <a:t>. Пусть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НОД(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 = 1</m:t>
                    </m:r>
                  </m:oMath>
                </a14:m>
                <a:r>
                  <a:rPr lang="ru-RU" dirty="0"/>
                  <a:t>, тогда: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ru-RU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b="1" dirty="0"/>
                  <a:t>Теорема</a:t>
                </a:r>
                <a:r>
                  <a:rPr lang="ru-RU" dirty="0"/>
                  <a:t>. Пусть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— простое число, тогда: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b="1" dirty="0"/>
                  <a:t>Теорема</a:t>
                </a:r>
                <a:r>
                  <a:rPr lang="ru-RU" dirty="0"/>
                  <a:t>. Пусть число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имеет каноническое разложение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ru-RU" dirty="0"/>
                  <a:t>, тогда: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ru-RU" i="1" dirty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…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22D4CB0-384C-48EF-98F4-D864F0AFB5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E8B93D-D07C-4173-8B02-7AFC8261C2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50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840430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B1EF77B1-CAF7-4675-94AB-B6E8BCFF8B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sz="2400" dirty="0">
                    <a:solidFill>
                      <a:schemeClr val="bg1"/>
                    </a:solidFill>
                  </a:rPr>
                  <a:t>Примеры нахождения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ru-RU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lang="ru-R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B1EF77B1-CAF7-4675-94AB-B6E8BCFF8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11" t="-17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704FF42-E3E4-4D39-9F5D-205A327192A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55</m:t>
                        </m:r>
                      </m:sub>
                      <m:sup>
                        <m:r>
                          <a:rPr lang="ru-RU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2000" dirty="0"/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5=5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∙11, ⇒</m:t>
                    </m:r>
                    <m:d>
                      <m:dPr>
                        <m:begChr m:val="|"/>
                        <m:endChr m:val="|"/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55</m:t>
                            </m:r>
                          </m:sub>
                          <m:sup>
                            <m:r>
                              <a:rPr lang="ru-RU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1800" dirty="0"/>
                  <a:t> </a:t>
                </a:r>
                <a14:m>
                  <m:oMath xmlns:m="http://schemas.openxmlformats.org/officeDocument/2006/math">
                    <m:r>
                      <a:rPr lang="ru-RU" sz="1800" i="1" dirty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ru-RU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∙10=40</m:t>
                    </m:r>
                    <m:r>
                      <a:rPr lang="en-US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b="0" dirty="0">
                  <a:ea typeface="Cambria Math" panose="02040503050406030204" pitchFamily="18" charset="0"/>
                </a:endParaRPr>
              </a:p>
              <a:p>
                <a:pPr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1024</m:t>
                        </m:r>
                      </m:sub>
                      <m:sup>
                        <m: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2000" dirty="0"/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1024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⇒</m:t>
                    </m:r>
                    <m:d>
                      <m:dPr>
                        <m:begChr m:val="|"/>
                        <m:endChr m:val="|"/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1024</m:t>
                            </m:r>
                          </m:sub>
                          <m:sup>
                            <m:r>
                              <a:rPr lang="ru-RU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1800" dirty="0"/>
                  <a:t> </a:t>
                </a:r>
                <a14:m>
                  <m:oMath xmlns:m="http://schemas.openxmlformats.org/officeDocument/2006/math">
                    <m:r>
                      <a:rPr lang="ru-RU" sz="1800" i="1" dirty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ru-RU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2−1</m:t>
                        </m:r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512</m:t>
                    </m:r>
                    <m:r>
                      <a:rPr 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243000</m:t>
                        </m:r>
                      </m:sub>
                      <m:sup>
                        <m: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2000" dirty="0"/>
                  <a:t>: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243000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⇒</m:t>
                    </m:r>
                    <m:d>
                      <m:dPr>
                        <m:begChr m:val="|"/>
                        <m:endChr m:val="|"/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243000</m:t>
                            </m:r>
                          </m:sub>
                          <m:sup>
                            <m:r>
                              <a:rPr lang="ru-RU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1800" dirty="0"/>
                  <a:t> </a:t>
                </a:r>
                <a14:m>
                  <m:oMath xmlns:m="http://schemas.openxmlformats.org/officeDocument/2006/math">
                    <m:r>
                      <a:rPr lang="ru-RU" sz="1800" i="1" dirty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ru-RU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1674000" lvl="1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2−1</m:t>
                          </m:r>
                        </m:e>
                      </m:d>
                      <m:r>
                        <a:rPr lang="en-US" sz="1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64800</m:t>
                      </m:r>
                      <m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704FF42-E3E4-4D39-9F5D-205A327192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ED7286-46B6-4013-8569-A2CC906747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51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9385770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8F8A9-A9EC-4D6F-BE07-C2BFBE7D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Теорема Эйлера и малая теорема Ферма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53490D35-0098-4620-8700-1CCD5A0A8A0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>
                  <a:spcBef>
                    <a:spcPts val="600"/>
                  </a:spcBef>
                </a:pPr>
                <a:r>
                  <a:rPr lang="ru-RU" b="1" dirty="0"/>
                  <a:t>Теорема Эйлера</a:t>
                </a:r>
                <a:r>
                  <a:rPr lang="ru-RU" dirty="0"/>
                  <a:t>. Пусть натуральное число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. Если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НОД(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) = 1</m:t>
                    </m:r>
                  </m:oMath>
                </a14:m>
                <a:r>
                  <a:rPr lang="ru-RU" dirty="0"/>
                  <a:t>, то верно следующее сравнение: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ru-RU" sz="18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ru-RU" sz="1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ru-RU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ru-RU" sz="1800" i="1" dirty="0">
                        <a:latin typeface="Cambria Math" panose="02040503050406030204" pitchFamily="18" charset="0"/>
                      </a:rPr>
                      <m:t> 1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b="0" i="0" dirty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u-RU" sz="18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dirty="0"/>
                  <a:t>Следствием из теоремы Эйлера является малая теорема Ферма.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ru-RU" b="1" dirty="0"/>
                  <a:t>Малая теорема Ферма</a:t>
                </a:r>
                <a:r>
                  <a:rPr lang="ru-RU" dirty="0"/>
                  <a:t>. Если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— простое число, то для любого ненулевого числа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u-RU" dirty="0"/>
                  <a:t> верно</a:t>
                </a:r>
                <a:r>
                  <a:rPr lang="en-US" dirty="0"/>
                  <a:t>:</a:t>
                </a:r>
              </a:p>
              <a:p>
                <a:pPr lvl="1" algn="just">
                  <a:spcBef>
                    <a:spcPts val="6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ru-RU" sz="1800" i="1" dirty="0">
                        <a:latin typeface="Cambria Math" panose="02040503050406030204" pitchFamily="18" charset="0"/>
                      </a:rPr>
                      <m:t> 1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dirty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ru-RU" sz="1800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53490D35-0098-4620-8700-1CCD5A0A8A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CBA879-F0DA-4534-B56F-0ACBC482B1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52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2452982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C5D0BF-324F-41A8-9326-7E070959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обратных элементов по модулю </a:t>
            </a:r>
            <a:r>
              <a:rPr lang="ru-RU" i="1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3A4A0E35-7D9B-4792-BFEA-1FD349CAA40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ru-RU" sz="1600" dirty="0"/>
                  <a:t>При проведении криптографических преобразований возникает </a:t>
                </a:r>
                <a:r>
                  <a:rPr lang="ru-RU" sz="1600" u="sng" dirty="0"/>
                  <a:t>задача нахождения обратных элементов в кольце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600" dirty="0"/>
                  <a:t>, а именно: по данному элементу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найти</a:t>
                </a:r>
                <a:br>
                  <a:rPr lang="ru-RU" sz="16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или же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u-RU" sz="1600" dirty="0"/>
                  <a:t>.</a:t>
                </a:r>
                <a:endParaRPr lang="en-US" sz="1600" dirty="0"/>
              </a:p>
              <a:p>
                <a:pPr algn="just"/>
                <a:r>
                  <a:rPr lang="ru-RU" sz="1600" dirty="0">
                    <a:ea typeface="Cambria Math" panose="02040503050406030204" pitchFamily="18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𝑥𝑛</m:t>
                    </m:r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𝑦𝑎</m:t>
                    </m:r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=НОД</m:t>
                    </m:r>
                    <m:d>
                      <m:dPr>
                        <m:ctrlP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ru-RU" sz="1600" dirty="0"/>
                  <a:t>. Если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𝑦𝑎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</m:t>
                    </m:r>
                    <m:d>
                      <m:dPr>
                        <m:ctrlP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600" dirty="0"/>
                  <a:t>, </a:t>
                </a:r>
                <a:r>
                  <a:rPr lang="ru-RU" sz="1600" dirty="0"/>
                  <a:t>следовательно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600" dirty="0"/>
                  <a:t>.</a:t>
                </a:r>
              </a:p>
              <a:p>
                <a:pPr algn="just"/>
                <a:r>
                  <a:rPr lang="ru-RU" sz="1600" b="1" dirty="0"/>
                  <a:t>Алгоритм вычисления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u-RU" sz="1600" b="1" dirty="0"/>
                  <a:t>.</a:t>
                </a:r>
                <a:endParaRPr lang="ru-RU" sz="1600" dirty="0"/>
              </a:p>
              <a:p>
                <a:pPr algn="just"/>
                <a:r>
                  <a:rPr lang="ru-RU" sz="1600" b="1" dirty="0"/>
                  <a:t>Вход:</a:t>
                </a:r>
                <a:r>
                  <a:rPr lang="ru-RU" sz="1600" dirty="0"/>
                  <a:t>	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1600" dirty="0"/>
                  <a:t>.</a:t>
                </a:r>
                <a:endParaRPr lang="ru-RU" sz="1600" dirty="0"/>
              </a:p>
              <a:p>
                <a:pPr algn="just"/>
                <a:r>
                  <a:rPr lang="ru-RU" sz="1600" b="1" dirty="0"/>
                  <a:t>Выход:</a:t>
                </a:r>
                <a:r>
                  <a:rPr lang="ru-RU" sz="16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u-RU" sz="1600" dirty="0"/>
                  <a:t>.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Шаг 1. Используя расширенный алгоритм Евклида, найти целые числа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1600" dirty="0"/>
                  <a:t>, такие, что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𝑦𝑎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=НОД</m:t>
                    </m:r>
                    <m:d>
                      <m:dPr>
                        <m:ctrlPr>
                          <a:rPr lang="ru-RU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ru-RU" sz="1600" dirty="0"/>
                  <a:t>. 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Шаг 2. Если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ru-RU" sz="1600" dirty="0"/>
                  <a:t>, 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u-RU" sz="1600" dirty="0"/>
                  <a:t> не существует. 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ru-RU" sz="1600" dirty="0"/>
                  <a:t>Шаг 3. Если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sz="1600" dirty="0"/>
                  <a:t>,  то возврат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ru-RU" sz="1600" dirty="0"/>
                  <a:t>.</a:t>
                </a:r>
              </a:p>
              <a:p>
                <a:pPr algn="just"/>
                <a:endParaRPr lang="ru-RU" sz="1600" dirty="0"/>
              </a:p>
              <a:p>
                <a:endParaRPr lang="ru-RU" sz="120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3A4A0E35-7D9B-4792-BFEA-1FD349CAA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3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D4C2F1-F12D-4249-901B-977CAF537D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53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07656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B857C-FF12-4275-92EA-6356C41E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300" dirty="0"/>
              <a:t>Пример нахождения обратного элемента по модулю </a:t>
            </a:r>
            <a:r>
              <a:rPr lang="ru-RU" sz="2300" i="1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92D845C-2DFE-472E-803A-5D88470D572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sz="1800" dirty="0"/>
                  <a:t>Найти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267</m:t>
                        </m:r>
                      </m:e>
                    </m:d>
                  </m:oMath>
                </a14:m>
                <a:r>
                  <a:rPr lang="ru-RU" sz="1800" dirty="0"/>
                  <a:t>.</a:t>
                </a:r>
              </a:p>
              <a:p>
                <a:r>
                  <a:rPr lang="ru-RU" sz="1800" b="1" dirty="0"/>
                  <a:t>Вход</a:t>
                </a:r>
                <a:r>
                  <a:rPr lang="ru-RU" sz="1800" dirty="0"/>
                  <a:t>:	целые числа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267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13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sz="1800" dirty="0"/>
                  <a:t>.</a:t>
                </a:r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ru-RU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r>
                  <a:rPr lang="ru-RU" sz="1800" b="1" dirty="0"/>
                  <a:t>Выход</a:t>
                </a:r>
                <a:r>
                  <a:rPr lang="ru-RU" sz="1800" dirty="0"/>
                  <a:t>: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267</m:t>
                        </m:r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=−41=226</m:t>
                    </m:r>
                  </m:oMath>
                </a14:m>
                <a:endParaRPr lang="ru-RU" sz="18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92D845C-2DFE-472E-803A-5D88470D57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18E647-10C3-4C18-99C4-27E350CAC7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54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Объект 3">
                <a:extLst>
                  <a:ext uri="{FF2B5EF4-FFF2-40B4-BE49-F238E27FC236}">
                    <a16:creationId xmlns:a16="http://schemas.microsoft.com/office/drawing/2014/main" id="{54552D09-C310-404B-8BA3-58081482B675}"/>
                  </a:ext>
                </a:extLst>
              </p:cNvPr>
              <p:cNvGraphicFramePr>
                <a:graphicFrameLocks/>
              </p:cNvGraphicFramePr>
              <p:nvPr>
                <p:extLst/>
              </p:nvPr>
            </p:nvGraphicFramePr>
            <p:xfrm>
              <a:off x="754119" y="1678772"/>
              <a:ext cx="5556627" cy="1940843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732068">
                      <a:extLst>
                        <a:ext uri="{9D8B030D-6E8A-4147-A177-3AD203B41FA5}">
                          <a16:colId xmlns:a16="http://schemas.microsoft.com/office/drawing/2014/main" val="3007874786"/>
                        </a:ext>
                      </a:extLst>
                    </a:gridCol>
                    <a:gridCol w="719975">
                      <a:extLst>
                        <a:ext uri="{9D8B030D-6E8A-4147-A177-3AD203B41FA5}">
                          <a16:colId xmlns:a16="http://schemas.microsoft.com/office/drawing/2014/main" val="6151276"/>
                        </a:ext>
                      </a:extLst>
                    </a:gridCol>
                    <a:gridCol w="884449">
                      <a:extLst>
                        <a:ext uri="{9D8B030D-6E8A-4147-A177-3AD203B41FA5}">
                          <a16:colId xmlns:a16="http://schemas.microsoft.com/office/drawing/2014/main" val="2850697501"/>
                        </a:ext>
                      </a:extLst>
                    </a:gridCol>
                    <a:gridCol w="884449">
                      <a:extLst>
                        <a:ext uri="{9D8B030D-6E8A-4147-A177-3AD203B41FA5}">
                          <a16:colId xmlns:a16="http://schemas.microsoft.com/office/drawing/2014/main" val="1616808370"/>
                        </a:ext>
                      </a:extLst>
                    </a:gridCol>
                    <a:gridCol w="719975">
                      <a:extLst>
                        <a:ext uri="{9D8B030D-6E8A-4147-A177-3AD203B41FA5}">
                          <a16:colId xmlns:a16="http://schemas.microsoft.com/office/drawing/2014/main" val="2978430645"/>
                        </a:ext>
                      </a:extLst>
                    </a:gridCol>
                    <a:gridCol w="731262">
                      <a:extLst>
                        <a:ext uri="{9D8B030D-6E8A-4147-A177-3AD203B41FA5}">
                          <a16:colId xmlns:a16="http://schemas.microsoft.com/office/drawing/2014/main" val="1245729060"/>
                        </a:ext>
                      </a:extLst>
                    </a:gridCol>
                    <a:gridCol w="884449">
                      <a:extLst>
                        <a:ext uri="{9D8B030D-6E8A-4147-A177-3AD203B41FA5}">
                          <a16:colId xmlns:a16="http://schemas.microsoft.com/office/drawing/2014/main" val="3462043172"/>
                        </a:ext>
                      </a:extLst>
                    </a:gridCol>
                  </a:tblGrid>
                  <a:tr h="44389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q</a:t>
                          </a:r>
                          <a:endParaRPr lang="ru-RU" sz="20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r</a:t>
                          </a:r>
                          <a:endParaRPr lang="ru-RU" sz="20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y</a:t>
                          </a:r>
                          <a:endParaRPr lang="ru-RU" sz="20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n</a:t>
                          </a:r>
                          <a:endParaRPr lang="ru-RU" sz="20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a</a:t>
                          </a:r>
                          <a:endParaRPr lang="ru-RU" sz="20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y</a:t>
                          </a:r>
                          <a:r>
                            <a:rPr lang="ru-RU" sz="2000" b="1" baseline="-25000" dirty="0">
                              <a:effectLst/>
                            </a:rPr>
                            <a:t>2</a:t>
                          </a:r>
                          <a:endParaRPr lang="ru-RU" sz="2000" b="1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y</a:t>
                          </a:r>
                          <a:r>
                            <a:rPr lang="ru-RU" sz="2000" b="1" baseline="-25000" dirty="0">
                              <a:effectLst/>
                            </a:rPr>
                            <a:t>1</a:t>
                          </a:r>
                          <a:endParaRPr lang="ru-RU" sz="2000" b="1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87797952"/>
                      </a:ext>
                    </a:extLst>
                  </a:tr>
                  <a:tr h="2357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267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  <a:latin typeface="+mn-lt"/>
                            </a:rPr>
                            <a:t>0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  <a:latin typeface="+mn-lt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754354004"/>
                      </a:ext>
                    </a:extLst>
                  </a:tr>
                  <a:tr h="2156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4005942"/>
                      </a:ext>
                    </a:extLst>
                  </a:tr>
                  <a:tr h="2156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91108227"/>
                      </a:ext>
                    </a:extLst>
                  </a:tr>
                  <a:tr h="2156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2833513"/>
                      </a:ext>
                    </a:extLst>
                  </a:tr>
                  <a:tr h="2156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622656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Объект 3">
                <a:extLst>
                  <a:ext uri="{FF2B5EF4-FFF2-40B4-BE49-F238E27FC236}">
                    <a16:creationId xmlns:a16="http://schemas.microsoft.com/office/drawing/2014/main" id="{54552D09-C310-404B-8BA3-58081482B67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0591"/>
                  </p:ext>
                </p:extLst>
              </p:nvPr>
            </p:nvGraphicFramePr>
            <p:xfrm>
              <a:off x="754119" y="1678772"/>
              <a:ext cx="5556627" cy="1914046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732068">
                      <a:extLst>
                        <a:ext uri="{9D8B030D-6E8A-4147-A177-3AD203B41FA5}">
                          <a16:colId xmlns:a16="http://schemas.microsoft.com/office/drawing/2014/main" val="3007874786"/>
                        </a:ext>
                      </a:extLst>
                    </a:gridCol>
                    <a:gridCol w="719975">
                      <a:extLst>
                        <a:ext uri="{9D8B030D-6E8A-4147-A177-3AD203B41FA5}">
                          <a16:colId xmlns:a16="http://schemas.microsoft.com/office/drawing/2014/main" val="6151276"/>
                        </a:ext>
                      </a:extLst>
                    </a:gridCol>
                    <a:gridCol w="884449">
                      <a:extLst>
                        <a:ext uri="{9D8B030D-6E8A-4147-A177-3AD203B41FA5}">
                          <a16:colId xmlns:a16="http://schemas.microsoft.com/office/drawing/2014/main" val="2850697501"/>
                        </a:ext>
                      </a:extLst>
                    </a:gridCol>
                    <a:gridCol w="884449">
                      <a:extLst>
                        <a:ext uri="{9D8B030D-6E8A-4147-A177-3AD203B41FA5}">
                          <a16:colId xmlns:a16="http://schemas.microsoft.com/office/drawing/2014/main" val="1616808370"/>
                        </a:ext>
                      </a:extLst>
                    </a:gridCol>
                    <a:gridCol w="719975">
                      <a:extLst>
                        <a:ext uri="{9D8B030D-6E8A-4147-A177-3AD203B41FA5}">
                          <a16:colId xmlns:a16="http://schemas.microsoft.com/office/drawing/2014/main" val="2978430645"/>
                        </a:ext>
                      </a:extLst>
                    </a:gridCol>
                    <a:gridCol w="731262">
                      <a:extLst>
                        <a:ext uri="{9D8B030D-6E8A-4147-A177-3AD203B41FA5}">
                          <a16:colId xmlns:a16="http://schemas.microsoft.com/office/drawing/2014/main" val="1245729060"/>
                        </a:ext>
                      </a:extLst>
                    </a:gridCol>
                    <a:gridCol w="884449">
                      <a:extLst>
                        <a:ext uri="{9D8B030D-6E8A-4147-A177-3AD203B41FA5}">
                          <a16:colId xmlns:a16="http://schemas.microsoft.com/office/drawing/2014/main" val="3462043172"/>
                        </a:ext>
                      </a:extLst>
                    </a:gridCol>
                  </a:tblGrid>
                  <a:tr h="44389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q</a:t>
                          </a:r>
                          <a:endParaRPr lang="ru-RU" sz="20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r</a:t>
                          </a:r>
                          <a:endParaRPr lang="ru-RU" sz="20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y</a:t>
                          </a:r>
                          <a:endParaRPr lang="ru-RU" sz="20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n</a:t>
                          </a:r>
                          <a:endParaRPr lang="ru-RU" sz="20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a</a:t>
                          </a:r>
                          <a:endParaRPr lang="ru-RU" sz="2000" b="1" i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y</a:t>
                          </a:r>
                          <a:r>
                            <a:rPr lang="ru-RU" sz="2000" b="1" baseline="-25000" dirty="0">
                              <a:effectLst/>
                            </a:rPr>
                            <a:t>2</a:t>
                          </a:r>
                          <a:endParaRPr lang="ru-RU" sz="2000" b="1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</a:rPr>
                            <a:t>y</a:t>
                          </a:r>
                          <a:r>
                            <a:rPr lang="ru-RU" sz="2000" b="1" baseline="-25000" dirty="0">
                              <a:effectLst/>
                            </a:rPr>
                            <a:t>1</a:t>
                          </a:r>
                          <a:endParaRPr lang="ru-RU" sz="2000" b="1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87797952"/>
                      </a:ext>
                    </a:extLst>
                  </a:tr>
                  <a:tr h="31546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33" t="-142308" r="-662500" b="-4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1681" t="-142308" r="-568067" b="-4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5517" t="-142308" r="-366207" b="-4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267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  <a:latin typeface="+mn-lt"/>
                            </a:rPr>
                            <a:t>0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dirty="0">
                              <a:effectLst/>
                              <a:latin typeface="+mn-lt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754354004"/>
                      </a:ext>
                    </a:extLst>
                  </a:tr>
                  <a:tr h="28867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5517" t="-268085" r="-366207" b="-3553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30345" t="-268085" r="-1379" b="-3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005942"/>
                      </a:ext>
                    </a:extLst>
                  </a:tr>
                  <a:tr h="28867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40833" t="-360417" r="-122500" b="-247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91108227"/>
                      </a:ext>
                    </a:extLst>
                  </a:tr>
                  <a:tr h="28867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65517" t="-470213" r="-366207" b="-15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30345" t="-470213" r="-1379" b="-1531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833513"/>
                      </a:ext>
                    </a:extLst>
                  </a:tr>
                  <a:tr h="28867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40833" t="-558333" r="-122500" b="-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ru-RU" sz="18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622656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02325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внимание.</a:t>
            </a:r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4294967295"/>
          </p:nvPr>
        </p:nvSpPr>
        <p:spPr>
          <a:xfrm>
            <a:off x="8594725" y="4846638"/>
            <a:ext cx="549275" cy="2857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55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63629913"/>
      </p:ext>
    </p:extLst>
  </p:cSld>
  <p:clrMapOvr>
    <a:masterClrMapping/>
  </p:clrMapOvr>
</p:sld>
</file>

<file path=ppt/theme/theme1.xml><?xml version="1.0" encoding="utf-8"?>
<a:theme xmlns:a="http://schemas.openxmlformats.org/drawingml/2006/main" name="HS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1357</Words>
  <Application>Microsoft Office PowerPoint</Application>
  <PresentationFormat>Экран (16:9)</PresentationFormat>
  <Paragraphs>694</Paragraphs>
  <Slides>55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61" baseType="lpstr">
      <vt:lpstr>Arial</vt:lpstr>
      <vt:lpstr>Cambria Math</vt:lpstr>
      <vt:lpstr>Calibri</vt:lpstr>
      <vt:lpstr>Times New Roman</vt:lpstr>
      <vt:lpstr>Ubuntu</vt:lpstr>
      <vt:lpstr>HSE Template</vt:lpstr>
      <vt:lpstr>Московский городской педагогический университет Департамент информатики, управления и технологий  Криптографические методы защиты информации  </vt:lpstr>
      <vt:lpstr>Содержание курса</vt:lpstr>
      <vt:lpstr>Алгебраические структуры</vt:lpstr>
      <vt:lpstr>Множества</vt:lpstr>
      <vt:lpstr>Алгебраические операции</vt:lpstr>
      <vt:lpstr>Свойства алгебраических операций</vt:lpstr>
      <vt:lpstr>Типы алгебраических структур</vt:lpstr>
      <vt:lpstr>Группы и подгруппы</vt:lpstr>
      <vt:lpstr>Группы</vt:lpstr>
      <vt:lpstr>Подгруппы</vt:lpstr>
      <vt:lpstr>Целочисленные степени элементов группы</vt:lpstr>
      <vt:lpstr>Циклические группы</vt:lpstr>
      <vt:lpstr>Свойства конечных циклических групп и подгрупп</vt:lpstr>
      <vt:lpstr>Группы подстановок</vt:lpstr>
      <vt:lpstr>Подстановки</vt:lpstr>
      <vt:lpstr>Группы подстановок</vt:lpstr>
      <vt:lpstr>Вычисление порядка подстановки</vt:lpstr>
      <vt:lpstr>Общие сведения о кольцах</vt:lpstr>
      <vt:lpstr>Кольца</vt:lpstr>
      <vt:lpstr>Свойства колец</vt:lpstr>
      <vt:lpstr>Свойства колец</vt:lpstr>
      <vt:lpstr>Классы колец</vt:lpstr>
      <vt:lpstr>Кольца классов вычетов</vt:lpstr>
      <vt:lpstr>Бинарные отношения</vt:lpstr>
      <vt:lpstr>Множества вычетов по модулю n</vt:lpstr>
      <vt:lpstr>Кольца классов вычетов по модулю n</vt:lpstr>
      <vt:lpstr>Кольца многочленов</vt:lpstr>
      <vt:lpstr>Многочлены над кольцом</vt:lpstr>
      <vt:lpstr>Операции над многочленами</vt:lpstr>
      <vt:lpstr>Свойства многочленов над кольцом</vt:lpstr>
      <vt:lpstr>Конечные поля</vt:lpstr>
      <vt:lpstr>Поля</vt:lpstr>
      <vt:lpstr>Простые конечные поля</vt:lpstr>
      <vt:lpstr>Поля Галуа</vt:lpstr>
      <vt:lpstr>Пример построения поля Галуа</vt:lpstr>
      <vt:lpstr>Пример построения поля Галуа</vt:lpstr>
      <vt:lpstr>Эллиптические кривые</vt:lpstr>
      <vt:lpstr>Уравнение эллиптической кривой</vt:lpstr>
      <vt:lpstr>График эллиптической кривой для непрерывного случая</vt:lpstr>
      <vt:lpstr>Операция сложения точек эллиптической кривой</vt:lpstr>
      <vt:lpstr>Пример построения группы точек эллиптической кривой</vt:lpstr>
      <vt:lpstr>Пример исследования точек эллиптической кривой</vt:lpstr>
      <vt:lpstr>Алгоритмы вычисления наибольшего общего делителя</vt:lpstr>
      <vt:lpstr>Наибольший общий делитель</vt:lpstr>
      <vt:lpstr>Деление с остатком в кольце целых чисел</vt:lpstr>
      <vt:lpstr>Алгоритм Евклида</vt:lpstr>
      <vt:lpstr>Расширенный алгоритм Евклида</vt:lpstr>
      <vt:lpstr>Пример работы расширенного алгоритма Евклида</vt:lpstr>
      <vt:lpstr>Некоторые теоретико-числовые свойства колец классов вычетов</vt:lpstr>
      <vt:lpstr>Функция Эйлера</vt:lpstr>
      <vt:lpstr>Примеры нахождения |Z_n^∗ |</vt:lpstr>
      <vt:lpstr>Теорема Эйлера и малая теорема Ферма </vt:lpstr>
      <vt:lpstr>Нахождение обратных элементов по модулю n</vt:lpstr>
      <vt:lpstr>Пример нахождения обратного элемента по модулю n</vt:lpstr>
      <vt:lpstr>Спасибо за внимание.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Организация проектной работы</dc:title>
  <dc:creator>Олег</dc:creator>
  <cp:lastModifiedBy>bossua</cp:lastModifiedBy>
  <cp:revision>100</cp:revision>
  <cp:lastPrinted>2020-01-14T10:27:06Z</cp:lastPrinted>
  <dcterms:modified xsi:type="dcterms:W3CDTF">2021-08-11T15:00:28Z</dcterms:modified>
</cp:coreProperties>
</file>